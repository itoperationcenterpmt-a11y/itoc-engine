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5" r:id="rId21"/>
    <p:sldId id="276" r:id="rId20"/>
    <p:sldId id="277" r:id="rId19"/>
    <p:sldId id="278" r:id="rId18"/>
    <p:sldId id="279" r:id="rId17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72" r:id="rId11"/>
  </p:sldIdLst>
  <p:sldSz cx="18288000" cy="10287000"/>
  <p:notesSz cx="6858000" cy="9144000"/>
  <p:embeddedFontLs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0MzjfnR98qwBSfw9Js9uMyno1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828" y="3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slide" Target="slides/slide15.xml"/><Relationship Id="rId18" Type="http://schemas.openxmlformats.org/officeDocument/2006/relationships/slide" Target="slides/slide14.xml"/><Relationship Id="rId19" Type="http://schemas.openxmlformats.org/officeDocument/2006/relationships/slide" Target="slides/slide13.xml"/><Relationship Id="rId20" Type="http://schemas.openxmlformats.org/officeDocument/2006/relationships/slide" Target="slides/slide12.xml"/><Relationship Id="rId21" Type="http://schemas.openxmlformats.org/officeDocument/2006/relationships/slide" Target="slides/slide11.xml"/><Relationship Id="rId22" Type="http://customschemas.google.com/relationships/presentationmetadata" Target="meta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"/>
          <p:cNvPicPr preferRelativeResize="0"/>
          <p:nvPr/>
        </p:nvPicPr>
        <p:blipFill rotWithShape="1">
          <a:blip r:embed="rId3">
            <a:alphaModFix/>
          </a:blip>
          <a:srcRect t="7812" b="7812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"/>
          <p:cNvSpPr/>
          <p:nvPr/>
        </p:nvSpPr>
        <p:spPr>
          <a:xfrm>
            <a:off x="826964" y="5815525"/>
            <a:ext cx="16687724" cy="3628044"/>
          </a:xfrm>
          <a:custGeom>
            <a:avLst/>
            <a:gdLst/>
            <a:ahLst/>
            <a:cxnLst/>
            <a:rect l="l" t="t" r="r" b="b"/>
            <a:pathLst>
              <a:path w="4365657" h="955377" extrusionOk="0">
                <a:moveTo>
                  <a:pt x="4365657" y="23353"/>
                </a:moveTo>
                <a:lnTo>
                  <a:pt x="4365657" y="932024"/>
                </a:lnTo>
                <a:cubicBezTo>
                  <a:pt x="4365657" y="938218"/>
                  <a:pt x="4363196" y="944158"/>
                  <a:pt x="4358817" y="948537"/>
                </a:cubicBezTo>
                <a:cubicBezTo>
                  <a:pt x="4354437" y="952917"/>
                  <a:pt x="4348497" y="955377"/>
                  <a:pt x="4342304" y="955377"/>
                </a:cubicBezTo>
                <a:lnTo>
                  <a:pt x="23353" y="955377"/>
                </a:lnTo>
                <a:cubicBezTo>
                  <a:pt x="17159" y="955377"/>
                  <a:pt x="11219" y="952917"/>
                  <a:pt x="6840" y="948537"/>
                </a:cubicBezTo>
                <a:cubicBezTo>
                  <a:pt x="2460" y="944158"/>
                  <a:pt x="0" y="938218"/>
                  <a:pt x="0" y="932024"/>
                </a:cubicBezTo>
                <a:lnTo>
                  <a:pt x="0" y="23353"/>
                </a:lnTo>
                <a:cubicBezTo>
                  <a:pt x="0" y="17159"/>
                  <a:pt x="2460" y="11219"/>
                  <a:pt x="6840" y="6840"/>
                </a:cubicBezTo>
                <a:cubicBezTo>
                  <a:pt x="11219" y="2460"/>
                  <a:pt x="17159" y="0"/>
                  <a:pt x="23353" y="0"/>
                </a:cubicBezTo>
                <a:lnTo>
                  <a:pt x="4342304" y="0"/>
                </a:lnTo>
                <a:cubicBezTo>
                  <a:pt x="4348497" y="0"/>
                  <a:pt x="4354437" y="2460"/>
                  <a:pt x="4358817" y="6840"/>
                </a:cubicBezTo>
                <a:cubicBezTo>
                  <a:pt x="4363196" y="11219"/>
                  <a:pt x="4365657" y="17159"/>
                  <a:pt x="4365657" y="23353"/>
                </a:cubicBezTo>
                <a:close/>
              </a:path>
            </a:pathLst>
          </a:custGeom>
          <a:solidFill>
            <a:srgbClr val="FFFFFF">
              <a:alpha val="94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-3336150" y="7831835"/>
            <a:ext cx="21624153" cy="1625991"/>
          </a:xfrm>
          <a:custGeom>
            <a:avLst/>
            <a:gdLst/>
            <a:ahLst/>
            <a:cxnLst/>
            <a:rect l="l" t="t" r="r" b="b"/>
            <a:pathLst>
              <a:path w="20994323" h="1578632" extrusionOk="0">
                <a:moveTo>
                  <a:pt x="0" y="0"/>
                </a:moveTo>
                <a:lnTo>
                  <a:pt x="20994323" y="0"/>
                </a:lnTo>
                <a:lnTo>
                  <a:pt x="20994323" y="1578632"/>
                </a:lnTo>
                <a:lnTo>
                  <a:pt x="0" y="1578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39889"/>
            </a:stretch>
          </a:blipFill>
          <a:ln>
            <a:noFill/>
          </a:ln>
        </p:spPr>
      </p:sp>
      <p:sp>
        <p:nvSpPr>
          <p:cNvPr id="162" name="Google Shape;162;p1"/>
          <p:cNvSpPr txBox="1"/>
          <p:nvPr/>
        </p:nvSpPr>
        <p:spPr>
          <a:xfrm>
            <a:off x="11353986" y="9069732"/>
            <a:ext cx="621300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FEFDFF"/>
                </a:solidFill>
                <a:latin typeface="Arial"/>
                <a:ea typeface="Arial"/>
                <a:cs typeface="Arial"/>
                <a:sym typeface="Arial"/>
              </a:rPr>
              <a:t>www.pelindomultiterminal.co.id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17863952" y="9824852"/>
            <a:ext cx="1524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66" name="Google Shape;166;p1"/>
          <p:cNvSpPr txBox="1"/>
          <p:nvPr/>
        </p:nvSpPr>
        <p:spPr>
          <a:xfrm>
            <a:off x="1590707" y="6270898"/>
            <a:ext cx="14511023" cy="1538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9" b="1" i="0" u="none" strike="noStrike" cap="none" dirty="0">
                <a:solidFill>
                  <a:srgbClr val="106DB5"/>
                </a:solidFill>
                <a:latin typeface="Arial"/>
                <a:ea typeface="Arial"/>
                <a:cs typeface="Arial"/>
                <a:sym typeface="Arial"/>
              </a:rPr>
              <a:t>Paparan Dashboard IT Pelindo Multi Terminal</a:t>
            </a:r>
            <a:br>
              <a:rPr lang="en-US" sz="4999" b="1" i="0" u="none" strike="noStrike" cap="none" dirty="0">
                <a:solidFill>
                  <a:srgbClr val="106DB5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167" name="Google Shape;167;p1"/>
          <p:cNvSpPr txBox="1"/>
          <p:nvPr/>
        </p:nvSpPr>
        <p:spPr>
          <a:xfrm>
            <a:off x="1603452" y="7776223"/>
            <a:ext cx="14726539" cy="646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b="1" i="0" u="none" strike="noStrike" cap="none" dirty="0" err="1">
                <a:solidFill>
                  <a:srgbClr val="073E88"/>
                </a:solidFill>
                <a:latin typeface="Arial"/>
                <a:ea typeface="Arial"/>
                <a:cs typeface="Arial"/>
                <a:sym typeface="Arial"/>
              </a:rPr>
              <a:t>Mekanisme dan Teknis Sistem</a:t>
            </a:r>
          </a:p>
        </p:txBody>
      </p:sp>
      <p:sp>
        <p:nvSpPr>
          <p:cNvPr id="168" name="Google Shape;168;p1"/>
          <p:cNvSpPr txBox="1"/>
          <p:nvPr/>
        </p:nvSpPr>
        <p:spPr>
          <a:xfrm>
            <a:off x="1590707" y="8424682"/>
            <a:ext cx="348148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73E88"/>
                </a:solidFill>
                <a:latin typeface="Arial"/>
                <a:ea typeface="Arial"/>
                <a:cs typeface="Arial"/>
                <a:sym typeface="Arial"/>
              </a:rPr>
              <a:t>Oktober 2026</a:t>
            </a:r>
          </a:p>
        </p:txBody>
      </p:sp>
      <p:sp>
        <p:nvSpPr>
          <p:cNvPr id="169" name="Google Shape;169;p1"/>
          <p:cNvSpPr/>
          <p:nvPr/>
        </p:nvSpPr>
        <p:spPr>
          <a:xfrm>
            <a:off x="14119030" y="578428"/>
            <a:ext cx="3448721" cy="987645"/>
          </a:xfrm>
          <a:custGeom>
            <a:avLst/>
            <a:gdLst/>
            <a:ahLst/>
            <a:cxnLst/>
            <a:rect l="l" t="t" r="r" b="b"/>
            <a:pathLst>
              <a:path w="3448721" h="987645" extrusionOk="0">
                <a:moveTo>
                  <a:pt x="0" y="0"/>
                </a:moveTo>
                <a:lnTo>
                  <a:pt x="3448721" y="0"/>
                </a:lnTo>
                <a:lnTo>
                  <a:pt x="3448721" y="987644"/>
                </a:lnTo>
                <a:lnTo>
                  <a:pt x="0" y="987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30951" r="-6104" b="-23251"/>
            </a:stretch>
          </a:blipFill>
          <a:ln>
            <a:noFill/>
          </a:ln>
        </p:spPr>
      </p:sp>
      <p:sp>
        <p:nvSpPr>
          <p:cNvPr id="170" name="Google Shape;170;p1"/>
          <p:cNvSpPr/>
          <p:nvPr/>
        </p:nvSpPr>
        <p:spPr>
          <a:xfrm>
            <a:off x="1086389" y="660493"/>
            <a:ext cx="2423402" cy="727021"/>
          </a:xfrm>
          <a:custGeom>
            <a:avLst/>
            <a:gdLst/>
            <a:ahLst/>
            <a:cxnLst/>
            <a:rect l="l" t="t" r="r" b="b"/>
            <a:pathLst>
              <a:path w="2423402" h="727021" extrusionOk="0">
                <a:moveTo>
                  <a:pt x="0" y="0"/>
                </a:moveTo>
                <a:lnTo>
                  <a:pt x="2423402" y="0"/>
                </a:lnTo>
                <a:lnTo>
                  <a:pt x="2423402" y="727021"/>
                </a:lnTo>
                <a:lnTo>
                  <a:pt x="0" y="727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59" b="-9259"/>
            </a:stretch>
          </a:blipFill>
          <a:ln>
            <a:noFill/>
          </a:ln>
        </p:spPr>
      </p:sp>
      <p:grpSp>
        <p:nvGrpSpPr>
          <p:cNvPr id="443" name="Google Shape;443;p7"/>
          <p:cNvGrpSpPr/>
          <p:nvPr/>
        </p:nvGrpSpPr>
        <p:grpSpPr>
          <a:xfrm rot="10800000">
            <a:off x="1733817" y="4849217"/>
            <a:ext cx="10925827" cy="4110777"/>
            <a:chOff x="0" y="-66675"/>
            <a:chExt cx="5583383" cy="2100714"/>
          </a:xfrm>
        </p:grpSpPr>
        <p:sp>
          <p:nvSpPr>
            <p:cNvPr id="444" name="Google Shape;444;p7"/>
            <p:cNvSpPr/>
            <p:nvPr/>
          </p:nvSpPr>
          <p:spPr>
            <a:xfrm>
              <a:off x="0" y="0"/>
              <a:ext cx="5583383" cy="2034039"/>
            </a:xfrm>
            <a:custGeom>
              <a:avLst/>
              <a:gdLst/>
              <a:ahLst/>
              <a:cxnLst/>
              <a:rect l="l" t="t" r="r" b="b"/>
              <a:pathLst>
                <a:path w="5583383" h="2034039" extrusionOk="0">
                  <a:moveTo>
                    <a:pt x="18423" y="0"/>
                  </a:moveTo>
                  <a:lnTo>
                    <a:pt x="5564960" y="0"/>
                  </a:lnTo>
                  <a:cubicBezTo>
                    <a:pt x="5569846" y="0"/>
                    <a:pt x="5574532" y="1941"/>
                    <a:pt x="5577987" y="5396"/>
                  </a:cubicBezTo>
                  <a:cubicBezTo>
                    <a:pt x="5581442" y="8851"/>
                    <a:pt x="5583383" y="13537"/>
                    <a:pt x="5583383" y="18423"/>
                  </a:cubicBezTo>
                  <a:lnTo>
                    <a:pt x="5583383" y="2015616"/>
                  </a:lnTo>
                  <a:cubicBezTo>
                    <a:pt x="5583383" y="2020502"/>
                    <a:pt x="5581442" y="2025188"/>
                    <a:pt x="5577987" y="2028643"/>
                  </a:cubicBezTo>
                  <a:cubicBezTo>
                    <a:pt x="5574532" y="2032098"/>
                    <a:pt x="5569846" y="2034039"/>
                    <a:pt x="5564960" y="2034039"/>
                  </a:cubicBezTo>
                  <a:lnTo>
                    <a:pt x="18423" y="2034039"/>
                  </a:lnTo>
                  <a:cubicBezTo>
                    <a:pt x="13537" y="2034039"/>
                    <a:pt x="8851" y="2032098"/>
                    <a:pt x="5396" y="2028643"/>
                  </a:cubicBezTo>
                  <a:cubicBezTo>
                    <a:pt x="1941" y="2025188"/>
                    <a:pt x="0" y="2020502"/>
                    <a:pt x="0" y="2015616"/>
                  </a:cubicBezTo>
                  <a:lnTo>
                    <a:pt x="0" y="18423"/>
                  </a:lnTo>
                  <a:cubicBezTo>
                    <a:pt x="0" y="13537"/>
                    <a:pt x="1941" y="8851"/>
                    <a:pt x="5396" y="5396"/>
                  </a:cubicBezTo>
                  <a:cubicBezTo>
                    <a:pt x="8851" y="1941"/>
                    <a:pt x="13537" y="0"/>
                    <a:pt x="18423" y="0"/>
                  </a:cubicBezTo>
                  <a:close/>
                </a:path>
              </a:pathLst>
            </a:custGeom>
            <a:solidFill>
              <a:srgbClr val="001E51">
                <a:alpha val="3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7"/>
            <p:cNvSpPr txBox="1"/>
            <p:nvPr/>
          </p:nvSpPr>
          <p:spPr>
            <a:xfrm>
              <a:off x="0" y="-66675"/>
              <a:ext cx="5583383" cy="21007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7"/>
          <p:cNvSpPr/>
          <p:nvPr/>
        </p:nvSpPr>
        <p:spPr>
          <a:xfrm>
            <a:off x="2248327" y="5438735"/>
            <a:ext cx="475063" cy="554009"/>
          </a:xfrm>
          <a:custGeom>
            <a:avLst/>
            <a:gdLst/>
            <a:ahLst/>
            <a:cxnLst/>
            <a:rect l="l" t="t" r="r" b="b"/>
            <a:pathLst>
              <a:path w="475063" h="554009" extrusionOk="0">
                <a:moveTo>
                  <a:pt x="0" y="0"/>
                </a:moveTo>
                <a:lnTo>
                  <a:pt x="475063" y="0"/>
                </a:lnTo>
                <a:lnTo>
                  <a:pt x="475063" y="554010"/>
                </a:lnTo>
                <a:lnTo>
                  <a:pt x="0" y="554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7"/>
          <p:cNvSpPr/>
          <p:nvPr/>
        </p:nvSpPr>
        <p:spPr>
          <a:xfrm>
            <a:off x="2219724" y="6246966"/>
            <a:ext cx="532270" cy="341318"/>
          </a:xfrm>
          <a:custGeom>
            <a:avLst/>
            <a:gdLst/>
            <a:ahLst/>
            <a:cxnLst/>
            <a:rect l="l" t="t" r="r" b="b"/>
            <a:pathLst>
              <a:path w="532270" h="341318" extrusionOk="0">
                <a:moveTo>
                  <a:pt x="0" y="0"/>
                </a:moveTo>
                <a:lnTo>
                  <a:pt x="532270" y="0"/>
                </a:lnTo>
                <a:lnTo>
                  <a:pt x="532270" y="341318"/>
                </a:lnTo>
                <a:lnTo>
                  <a:pt x="0" y="34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9" name="Google Shape;449;p7"/>
          <p:cNvSpPr/>
          <p:nvPr/>
        </p:nvSpPr>
        <p:spPr>
          <a:xfrm>
            <a:off x="2292845" y="7038595"/>
            <a:ext cx="386027" cy="588232"/>
          </a:xfrm>
          <a:custGeom>
            <a:avLst/>
            <a:gdLst/>
            <a:ahLst/>
            <a:cxnLst/>
            <a:rect l="l" t="t" r="r" b="b"/>
            <a:pathLst>
              <a:path w="386027" h="588232" extrusionOk="0">
                <a:moveTo>
                  <a:pt x="0" y="0"/>
                </a:moveTo>
                <a:lnTo>
                  <a:pt x="386027" y="0"/>
                </a:lnTo>
                <a:lnTo>
                  <a:pt x="386027" y="588232"/>
                </a:lnTo>
                <a:lnTo>
                  <a:pt x="0" y="5882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1" name="Google Shape;451;p7"/>
          <p:cNvSpPr txBox="1"/>
          <p:nvPr/>
        </p:nvSpPr>
        <p:spPr>
          <a:xfrm>
            <a:off x="2999804" y="5435481"/>
            <a:ext cx="3662471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6"/>
              </a:lnSpc>
            </a:pPr>
            <a:r>
              <a:rPr lang="en-US" sz="2499" dirty="0">
                <a:solidFill>
                  <a:srgbClr val="FFFFFF"/>
                </a:solidFill>
              </a:rPr>
              <a:t>+62 81262484858</a:t>
            </a:r>
            <a:endParaRPr dirty="0"/>
          </a:p>
        </p:txBody>
      </p:sp>
      <p:sp>
        <p:nvSpPr>
          <p:cNvPr id="452" name="Google Shape;452;p7"/>
          <p:cNvSpPr txBox="1"/>
          <p:nvPr/>
        </p:nvSpPr>
        <p:spPr>
          <a:xfrm>
            <a:off x="1897809" y="3340710"/>
            <a:ext cx="10321028" cy="1138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78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453" name="Google Shape;453;p7"/>
          <p:cNvSpPr txBox="1"/>
          <p:nvPr/>
        </p:nvSpPr>
        <p:spPr>
          <a:xfrm>
            <a:off x="2999804" y="6180073"/>
            <a:ext cx="4245822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dirty="0">
                <a:solidFill>
                  <a:srgbClr val="FFFFFF"/>
                </a:solidFill>
              </a:rPr>
              <a:t>it.care_spmt@pelindo.co.id</a:t>
            </a:r>
            <a:endParaRPr dirty="0"/>
          </a:p>
        </p:txBody>
      </p:sp>
      <p:sp>
        <p:nvSpPr>
          <p:cNvPr id="456" name="Google Shape;456;p7"/>
          <p:cNvSpPr txBox="1"/>
          <p:nvPr/>
        </p:nvSpPr>
        <p:spPr>
          <a:xfrm>
            <a:off x="2999804" y="6933820"/>
            <a:ext cx="9007891" cy="1529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GRHA PELINDO</a:t>
            </a:r>
            <a:endParaRPr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Jl. Lingkar Pelabuhan No. 1, Belawan II, Kecamatan Medan Belawan, Kota Medan, Sumatera Utara 20411</a:t>
            </a:r>
            <a:endParaRPr dirty="0"/>
          </a:p>
        </p:txBody>
      </p:sp>
      <p:sp>
        <p:nvSpPr>
          <p:cNvPr id="457" name="Google Shape;457;p7"/>
          <p:cNvSpPr txBox="1"/>
          <p:nvPr/>
        </p:nvSpPr>
        <p:spPr>
          <a:xfrm>
            <a:off x="17406752" y="9663760"/>
            <a:ext cx="61264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16</a:t>
            </a:r>
            <a:endParaRPr/>
          </a:p>
        </p:txBody>
      </p:sp>
      <p:sp>
        <p:nvSpPr>
          <p:cNvPr id="458" name="Google Shape;458;p7"/>
          <p:cNvSpPr/>
          <p:nvPr/>
        </p:nvSpPr>
        <p:spPr>
          <a:xfrm>
            <a:off x="14119030" y="578428"/>
            <a:ext cx="3448721" cy="987645"/>
          </a:xfrm>
          <a:custGeom>
            <a:avLst/>
            <a:gdLst/>
            <a:ahLst/>
            <a:cxnLst/>
            <a:rect l="l" t="t" r="r" b="b"/>
            <a:pathLst>
              <a:path w="3448721" h="987645" extrusionOk="0">
                <a:moveTo>
                  <a:pt x="0" y="0"/>
                </a:moveTo>
                <a:lnTo>
                  <a:pt x="3448721" y="0"/>
                </a:lnTo>
                <a:lnTo>
                  <a:pt x="3448721" y="987644"/>
                </a:lnTo>
                <a:lnTo>
                  <a:pt x="0" y="987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30951" r="-6104" b="-23251"/>
            </a:stretch>
          </a:blipFill>
          <a:ln>
            <a:noFill/>
          </a:ln>
        </p:spPr>
      </p:sp>
      <p:sp>
        <p:nvSpPr>
          <p:cNvPr id="459" name="Google Shape;459;p7"/>
          <p:cNvSpPr/>
          <p:nvPr/>
        </p:nvSpPr>
        <p:spPr>
          <a:xfrm>
            <a:off x="1086389" y="660493"/>
            <a:ext cx="2423402" cy="727021"/>
          </a:xfrm>
          <a:custGeom>
            <a:avLst/>
            <a:gdLst/>
            <a:ahLst/>
            <a:cxnLst/>
            <a:rect l="l" t="t" r="r" b="b"/>
            <a:pathLst>
              <a:path w="2423402" h="727021" extrusionOk="0">
                <a:moveTo>
                  <a:pt x="0" y="0"/>
                </a:moveTo>
                <a:lnTo>
                  <a:pt x="2423402" y="0"/>
                </a:lnTo>
                <a:lnTo>
                  <a:pt x="2423402" y="727021"/>
                </a:lnTo>
                <a:lnTo>
                  <a:pt x="0" y="727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2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Latar Belakang dan Tujuan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Rounded Rectangle 201"/>
          <p:cNvSpPr/>
          <p:nvPr/>
        </p:nvSpPr>
        <p:spPr>
          <a:xfrm>
            <a:off x="508000" y="1358900"/>
            <a:ext cx="8128000" cy="5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20700" y="1371600"/>
            <a:ext cx="8102600" cy="8128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Sebelumnya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60400" y="2374900"/>
            <a:ext cx="7874000" cy="403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49250" indent="-349250">
              <a:spcAft>
                <a:spcPts val="700"/>
              </a:spcAft>
              <a:buFont typeface="Arial"/>
              <a:buChar char="•"/>
              <a:defRPr sz="2500" b="0">
                <a:solidFill>
                  <a:srgbClr val="10171E"/>
                </a:solidFill>
                <a:latin typeface="Arial"/>
              </a:defRPr>
            </a:pPr>
            <a:r>
              <a:rPr sz="2500" b="0">
                <a:solidFill>
                  <a:srgbClr val="10171E"/>
                </a:solidFill>
                <a:latin typeface="Arial"/>
              </a:rPr>
              <a:t>Data tersebar di tiga sumber: ManageEngine, PRTG, dan Panorama</a:t>
            </a:r>
          </a:p>
          <a:p>
            <a:pPr marL="349250" indent="-349250">
              <a:spcAft>
                <a:spcPts val="700"/>
              </a:spcAft>
              <a:buFont typeface="Arial"/>
              <a:buChar char="•"/>
              <a:defRPr sz="2500" b="0">
                <a:solidFill>
                  <a:srgbClr val="10171E"/>
                </a:solidFill>
                <a:latin typeface="Arial"/>
              </a:defRPr>
            </a:pPr>
            <a:r>
              <a:rPr sz="2500" b="0">
                <a:solidFill>
                  <a:srgbClr val="10171E"/>
                </a:solidFill>
                <a:latin typeface="Arial"/>
              </a:rPr>
              <a:t>Dashboard disusun dari Excel dan diperbarui manual</a:t>
            </a:r>
          </a:p>
          <a:p>
            <a:pPr marL="349250" indent="-349250">
              <a:spcAft>
                <a:spcPts val="700"/>
              </a:spcAft>
              <a:buFont typeface="Arial"/>
              <a:buChar char="•"/>
              <a:defRPr sz="2500" b="0">
                <a:solidFill>
                  <a:srgbClr val="10171E"/>
                </a:solidFill>
                <a:latin typeface="Arial"/>
              </a:defRPr>
            </a:pPr>
            <a:r>
              <a:rPr sz="2500" b="0">
                <a:solidFill>
                  <a:srgbClr val="10171E"/>
                </a:solidFill>
                <a:latin typeface="Arial"/>
              </a:rPr>
              <a:t>Validasi angka antar file memakan waktu</a:t>
            </a:r>
          </a:p>
          <a:p>
            <a:pPr marL="349250" indent="-349250">
              <a:spcAft>
                <a:spcPts val="700"/>
              </a:spcAft>
              <a:buFont typeface="Arial"/>
              <a:buChar char="•"/>
              <a:defRPr sz="2500" b="0">
                <a:solidFill>
                  <a:srgbClr val="10171E"/>
                </a:solidFill>
                <a:latin typeface="Arial"/>
              </a:defRPr>
            </a:pPr>
            <a:r>
              <a:rPr sz="2500" b="0">
                <a:solidFill>
                  <a:srgbClr val="10171E"/>
                </a:solidFill>
                <a:latin typeface="Arial"/>
              </a:rPr>
              <a:t>Laporan bulanan dibuat ulang setiap kali</a:t>
            </a:r>
          </a:p>
        </p:txBody>
      </p:sp>
      <p:sp>
        <p:nvSpPr>
          <p:cNvPr id="205" name="Right Arrow 204"/>
          <p:cNvSpPr/>
          <p:nvPr/>
        </p:nvSpPr>
        <p:spPr>
          <a:xfrm>
            <a:off x="8839200" y="3644900"/>
            <a:ext cx="609600" cy="508000"/>
          </a:xfrm>
          <a:prstGeom prst="rightArrow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9652000" y="1358900"/>
            <a:ext cx="8140700" cy="5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664700" y="1371600"/>
            <a:ext cx="8115300" cy="812800"/>
          </a:xfrm>
          <a:prstGeom prst="rect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Sekarang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804400" y="2374900"/>
            <a:ext cx="7886700" cy="403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49250" indent="-349250">
              <a:spcAft>
                <a:spcPts val="700"/>
              </a:spcAft>
              <a:buFont typeface="Arial"/>
              <a:buChar char="•"/>
              <a:defRPr sz="2500" b="0">
                <a:solidFill>
                  <a:srgbClr val="10171E"/>
                </a:solidFill>
                <a:latin typeface="Arial"/>
              </a:defRPr>
            </a:pPr>
            <a:r>
              <a:rPr sz="2500" b="0">
                <a:solidFill>
                  <a:srgbClr val="10171E"/>
                </a:solidFill>
                <a:latin typeface="Arial"/>
              </a:rPr>
              <a:t>Satu web untuk Ticketing, Networking, dan Cyber Security</a:t>
            </a:r>
          </a:p>
          <a:p>
            <a:pPr marL="349250" indent="-349250">
              <a:spcAft>
                <a:spcPts val="700"/>
              </a:spcAft>
              <a:buFont typeface="Arial"/>
              <a:buChar char="•"/>
              <a:defRPr sz="2500" b="0">
                <a:solidFill>
                  <a:srgbClr val="10171E"/>
                </a:solidFill>
                <a:latin typeface="Arial"/>
              </a:defRPr>
            </a:pPr>
            <a:r>
              <a:rPr sz="2500" b="0">
                <a:solidFill>
                  <a:srgbClr val="10171E"/>
                </a:solidFill>
                <a:latin typeface="Arial"/>
              </a:rPr>
              <a:t>Data masuk otomatis (API) atau unggah file RAW</a:t>
            </a:r>
          </a:p>
          <a:p>
            <a:pPr marL="349250" indent="-349250">
              <a:spcAft>
                <a:spcPts val="700"/>
              </a:spcAft>
              <a:buFont typeface="Arial"/>
              <a:buChar char="•"/>
              <a:defRPr sz="2500" b="0">
                <a:solidFill>
                  <a:srgbClr val="10171E"/>
                </a:solidFill>
                <a:latin typeface="Arial"/>
              </a:defRPr>
            </a:pPr>
            <a:r>
              <a:rPr sz="2500" b="0">
                <a:solidFill>
                  <a:srgbClr val="10171E"/>
                </a:solidFill>
                <a:latin typeface="Arial"/>
              </a:rPr>
              <a:t>Semua angka dihitung di server, rumus terbuka di Admin</a:t>
            </a:r>
          </a:p>
          <a:p>
            <a:pPr marL="349250" indent="-349250">
              <a:spcAft>
                <a:spcPts val="700"/>
              </a:spcAft>
              <a:buFont typeface="Arial"/>
              <a:buChar char="•"/>
              <a:defRPr sz="2500" b="0">
                <a:solidFill>
                  <a:srgbClr val="10171E"/>
                </a:solidFill>
                <a:latin typeface="Arial"/>
              </a:defRPr>
            </a:pPr>
            <a:r>
              <a:rPr sz="2500" b="0">
                <a:solidFill>
                  <a:srgbClr val="10171E"/>
                </a:solidFill>
                <a:latin typeface="Arial"/>
              </a:rPr>
              <a:t>Laporan Excel, PDF, dan PowerPoint dengan satu klik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508000" y="6769100"/>
            <a:ext cx="5549900" cy="22352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08000" y="6921500"/>
            <a:ext cx="5549900" cy="1016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defRPr sz="5400" b="1">
                <a:solidFill>
                  <a:srgbClr val="0B2F6B"/>
                </a:solidFill>
                <a:latin typeface="Arial"/>
              </a:defRPr>
            </a:pPr>
            <a:r>
              <a:rPr sz="5400" b="1">
                <a:solidFill>
                  <a:srgbClr val="0B2F6B"/>
                </a:solidFill>
                <a:latin typeface="Arial"/>
              </a:rPr>
              <a:t>1 layar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35000" y="8039100"/>
            <a:ext cx="5295900" cy="889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rPr sz="2400" b="0">
                <a:solidFill>
                  <a:srgbClr val="6B7280"/>
                </a:solidFill>
                <a:latin typeface="Arial"/>
              </a:rPr>
              <a:t>memantau layanan, jaringan, dan keamanan siber seluruh terminal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6375400" y="6769100"/>
            <a:ext cx="5549900" cy="22352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6375400" y="6921500"/>
            <a:ext cx="5549900" cy="1016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defRPr sz="5400" b="1">
                <a:solidFill>
                  <a:srgbClr val="0B2F6B"/>
                </a:solidFill>
                <a:latin typeface="Arial"/>
              </a:defRPr>
            </a:pPr>
            <a:r>
              <a:rPr sz="5400" b="1">
                <a:solidFill>
                  <a:srgbClr val="0B2F6B"/>
                </a:solidFill>
                <a:latin typeface="Arial"/>
              </a:rPr>
              <a:t>1 sumber angka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502400" y="8039100"/>
            <a:ext cx="5295900" cy="889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rPr sz="2400" b="0">
                <a:solidFill>
                  <a:srgbClr val="6B7280"/>
                </a:solidFill>
                <a:latin typeface="Arial"/>
              </a:rPr>
              <a:t>dashboard dan laporan memakai hitungan yang sama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12242800" y="6769100"/>
            <a:ext cx="5549900" cy="22352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2242800" y="6921500"/>
            <a:ext cx="5549900" cy="1016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defRPr sz="5400" b="1">
                <a:solidFill>
                  <a:srgbClr val="0B2F6B"/>
                </a:solidFill>
                <a:latin typeface="Arial"/>
              </a:defRPr>
            </a:pPr>
            <a:r>
              <a:rPr sz="5400" b="1">
                <a:solidFill>
                  <a:srgbClr val="0B2F6B"/>
                </a:solidFill>
                <a:latin typeface="Arial"/>
              </a:rPr>
              <a:t>Sesuai peran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2369800" y="8039100"/>
            <a:ext cx="5295900" cy="889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rPr sz="2400" b="0">
                <a:solidFill>
                  <a:srgbClr val="6B7280"/>
                </a:solidFill>
                <a:latin typeface="Arial"/>
              </a:rPr>
              <a:t>setiap pengguna hanya melihat modul dan lokasi yang menjadi haknya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3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Gambaran Fitur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Rounded Rectangle 201"/>
          <p:cNvSpPr/>
          <p:nvPr/>
        </p:nvSpPr>
        <p:spPr>
          <a:xfrm>
            <a:off x="508000" y="1536700"/>
            <a:ext cx="3314700" cy="596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20700" y="1549400"/>
            <a:ext cx="3289300" cy="812800"/>
          </a:xfrm>
          <a:prstGeom prst="rect">
            <a:avLst/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Ticketing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60400" y="2552700"/>
            <a:ext cx="3060700" cy="4927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Tiket masuk, SLA, durasi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Ranking teknisi dan grup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Tiket open dan kualitas input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4000500" y="1536700"/>
            <a:ext cx="3314700" cy="596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013200" y="1549400"/>
            <a:ext cx="3289300" cy="812800"/>
          </a:xfrm>
          <a:prstGeom prst="rect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Networking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152900" y="2552700"/>
            <a:ext cx="3060700" cy="4927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Availability dan downtime link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Traffic dan utilisasi ISP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Rekap per lokasi dan ISP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7493000" y="1536700"/>
            <a:ext cx="3314700" cy="596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505700" y="1549400"/>
            <a:ext cx="3289300" cy="812800"/>
          </a:xfrm>
          <a:prstGeom prst="rect">
            <a:avLst/>
          </a:prstGeom>
          <a:solidFill>
            <a:srgbClr val="25B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Cyber Security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645400" y="2552700"/>
            <a:ext cx="3060700" cy="4927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Event ancaman per severity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Tindakan firewall dan URL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Negara dan aplikasi teratas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10985500" y="1536700"/>
            <a:ext cx="3314700" cy="596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0998200" y="1549400"/>
            <a:ext cx="3289300" cy="8128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Personnel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1137900" y="2552700"/>
            <a:ext cx="3060700" cy="4927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Jadwal shift dan On Duty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Kontak IT Care dan EOS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Serah terima antar shift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14478000" y="1536700"/>
            <a:ext cx="3314700" cy="596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4490700" y="1549400"/>
            <a:ext cx="3289300" cy="812800"/>
          </a:xfrm>
          <a:prstGeom prst="rect">
            <a:avLst/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Report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4630400" y="2552700"/>
            <a:ext cx="3060700" cy="4927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Summary, Networking, Cyber Security, Ticketing, Full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Unduh Excel, PDF, PowerPoint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Format template Pelindo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08000" y="7886700"/>
            <a:ext cx="17284700" cy="762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400" b="0">
                <a:solidFill>
                  <a:srgbClr val="6B7280"/>
                </a:solidFill>
                <a:latin typeface="Arial"/>
              </a:defRPr>
            </a:pPr>
            <a:r>
              <a:rPr sz="2400" b="0">
                <a:solidFill>
                  <a:srgbClr val="6B7280"/>
                </a:solidFill>
                <a:latin typeface="Arial"/>
              </a:rPr>
              <a:t>Overview merangkum ketiga modul dalam satu halaman: KPI, perhatian utama (Attention), petugas On Duty, eskalasi, dan handover yang masih open.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4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Arsitektur Sistem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TextBox 201"/>
          <p:cNvSpPr txBox="1"/>
          <p:nvPr/>
        </p:nvSpPr>
        <p:spPr>
          <a:xfrm>
            <a:off x="508000" y="1358900"/>
            <a:ext cx="3683000" cy="431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1600" b="1">
                <a:solidFill>
                  <a:srgbClr val="6B7280"/>
                </a:solidFill>
                <a:latin typeface="Arial"/>
              </a:defRPr>
            </a:pPr>
            <a:r>
              <a:rPr sz="1600" b="1">
                <a:solidFill>
                  <a:srgbClr val="6B7280"/>
                </a:solidFill>
                <a:latin typeface="Arial"/>
              </a:rPr>
              <a:t>SUMBER DATA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508000" y="1917700"/>
            <a:ext cx="3683000" cy="1524000"/>
          </a:xfrm>
          <a:prstGeom prst="roundRect">
            <a:avLst>
              <a:gd name="adj" fmla="val 12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ManageEngine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tiket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508000" y="3822700"/>
            <a:ext cx="3683000" cy="1524000"/>
          </a:xfrm>
          <a:prstGeom prst="roundRect">
            <a:avLst>
              <a:gd name="adj" fmla="val 12000"/>
            </a:avLst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PRTG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link dan traffic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508000" y="5727700"/>
            <a:ext cx="3683000" cy="1524000"/>
          </a:xfrm>
          <a:prstGeom prst="roundRect">
            <a:avLst>
              <a:gd name="adj" fmla="val 12000"/>
            </a:avLst>
          </a:prstGeom>
          <a:solidFill>
            <a:srgbClr val="25B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Panorama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firewall / SOC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953000" y="1358900"/>
            <a:ext cx="3683000" cy="431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1600" b="1">
                <a:solidFill>
                  <a:srgbClr val="6B7280"/>
                </a:solidFill>
                <a:latin typeface="Arial"/>
              </a:defRPr>
            </a:pPr>
            <a:r>
              <a:rPr sz="1600" b="1">
                <a:solidFill>
                  <a:srgbClr val="6B7280"/>
                </a:solidFill>
                <a:latin typeface="Arial"/>
              </a:rPr>
              <a:t>MASUK KE SISTEM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4953000" y="1917700"/>
            <a:ext cx="3683000" cy="1524000"/>
          </a:xfrm>
          <a:prstGeom prst="roundRect">
            <a:avLst>
              <a:gd name="adj" fmla="val 12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API terjadwal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ManageEngine, PRTG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4953000" y="3822700"/>
            <a:ext cx="3683000" cy="1524000"/>
          </a:xfrm>
          <a:prstGeom prst="roundRect">
            <a:avLst>
              <a:gd name="adj" fmla="val 12000"/>
            </a:avLst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Unggah RAW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xls, PDF, CSV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9398000" y="1358900"/>
            <a:ext cx="3683000" cy="431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1600" b="1">
                <a:solidFill>
                  <a:srgbClr val="6B7280"/>
                </a:solidFill>
                <a:latin typeface="Arial"/>
              </a:defRPr>
            </a:pPr>
            <a:r>
              <a:rPr sz="1600" b="1">
                <a:solidFill>
                  <a:srgbClr val="6B7280"/>
                </a:solidFill>
                <a:latin typeface="Arial"/>
              </a:rPr>
              <a:t>INTI SISTEM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9398000" y="1917700"/>
            <a:ext cx="3683000" cy="1524000"/>
          </a:xfrm>
          <a:prstGeom prst="roundRect">
            <a:avLst>
              <a:gd name="adj" fmla="val 12000"/>
            </a:avLst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FastAPI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mesin hitung, Python 3.12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9398000" y="3822700"/>
            <a:ext cx="3683000" cy="1524000"/>
          </a:xfrm>
          <a:prstGeom prst="roundRect">
            <a:avLst>
              <a:gd name="adj" fmla="val 12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PostgreSQL 16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data dan konfigurasi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9398000" y="5727700"/>
            <a:ext cx="3683000" cy="1524000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Worker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penjadwal sinkron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3843000" y="1358900"/>
            <a:ext cx="3683000" cy="431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1600" b="1">
                <a:solidFill>
                  <a:srgbClr val="6B7280"/>
                </a:solidFill>
                <a:latin typeface="Arial"/>
              </a:defRPr>
            </a:pPr>
            <a:r>
              <a:rPr sz="1600" b="1">
                <a:solidFill>
                  <a:srgbClr val="6B7280"/>
                </a:solidFill>
                <a:latin typeface="Arial"/>
              </a:rPr>
              <a:t>KELUARAN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13843000" y="1917700"/>
            <a:ext cx="3683000" cy="1524000"/>
          </a:xfrm>
          <a:prstGeom prst="roundRect">
            <a:avLst>
              <a:gd name="adj" fmla="val 12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Web dashboard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browser, HP, desktop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13843000" y="3822700"/>
            <a:ext cx="3683000" cy="1524000"/>
          </a:xfrm>
          <a:prstGeom prst="roundRect">
            <a:avLst>
              <a:gd name="adj" fmla="val 12000"/>
            </a:avLst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Report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Excel, PDF, PPT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13843000" y="5727700"/>
            <a:ext cx="3683000" cy="1524000"/>
          </a:xfrm>
          <a:prstGeom prst="roundRect">
            <a:avLst>
              <a:gd name="adj" fmla="val 12000"/>
            </a:avLst>
          </a:prstGeom>
          <a:solidFill>
            <a:srgbClr val="25B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Integrasi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API key, email, webhook</a:t>
            </a:r>
          </a:p>
        </p:txBody>
      </p:sp>
      <p:sp>
        <p:nvSpPr>
          <p:cNvPr id="217" name="Right Arrow 216"/>
          <p:cNvSpPr/>
          <p:nvPr/>
        </p:nvSpPr>
        <p:spPr>
          <a:xfrm>
            <a:off x="4267200" y="2438400"/>
            <a:ext cx="609600" cy="4826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ight Arrow 217"/>
          <p:cNvSpPr/>
          <p:nvPr/>
        </p:nvSpPr>
        <p:spPr>
          <a:xfrm>
            <a:off x="4267200" y="4343400"/>
            <a:ext cx="609600" cy="4826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ight Arrow 218"/>
          <p:cNvSpPr/>
          <p:nvPr/>
        </p:nvSpPr>
        <p:spPr>
          <a:xfrm>
            <a:off x="8712200" y="2438400"/>
            <a:ext cx="609600" cy="4826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ight Arrow 219"/>
          <p:cNvSpPr/>
          <p:nvPr/>
        </p:nvSpPr>
        <p:spPr>
          <a:xfrm>
            <a:off x="8712200" y="4343400"/>
            <a:ext cx="609600" cy="4826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ight Arrow 220"/>
          <p:cNvSpPr/>
          <p:nvPr/>
        </p:nvSpPr>
        <p:spPr>
          <a:xfrm>
            <a:off x="13157200" y="2438400"/>
            <a:ext cx="609600" cy="4826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ight Arrow 221"/>
          <p:cNvSpPr/>
          <p:nvPr/>
        </p:nvSpPr>
        <p:spPr>
          <a:xfrm>
            <a:off x="13157200" y="4343400"/>
            <a:ext cx="609600" cy="4826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ight Arrow 222"/>
          <p:cNvSpPr/>
          <p:nvPr/>
        </p:nvSpPr>
        <p:spPr>
          <a:xfrm>
            <a:off x="13157200" y="6248400"/>
            <a:ext cx="609600" cy="4826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08000" y="7886700"/>
            <a:ext cx="17284700" cy="889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400" b="0">
                <a:solidFill>
                  <a:srgbClr val="6B7280"/>
                </a:solidFill>
                <a:latin typeface="Arial"/>
              </a:defRPr>
            </a:pPr>
            <a:r>
              <a:rPr sz="2400" b="0">
                <a:solidFill>
                  <a:srgbClr val="6B7280"/>
                </a:solidFill>
                <a:latin typeface="Arial"/>
              </a:rPr>
              <a:t>Satu image Docker dijalankan sebagai dua layanan (api dan worker) bersama satu database. Browser hanya berbicara dengan API.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5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Mekanisme Masuknya Data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TextBox 201"/>
          <p:cNvSpPr txBox="1"/>
          <p:nvPr/>
        </p:nvSpPr>
        <p:spPr>
          <a:xfrm>
            <a:off x="508000" y="1333500"/>
            <a:ext cx="172847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000" b="1">
                <a:solidFill>
                  <a:srgbClr val="0B75BB"/>
                </a:solidFill>
                <a:latin typeface="Arial"/>
              </a:defRPr>
            </a:pPr>
            <a:r>
              <a:rPr sz="2000" b="1">
                <a:solidFill>
                  <a:srgbClr val="0B75BB"/>
                </a:solidFill>
                <a:latin typeface="Arial"/>
              </a:rPr>
              <a:t>Jalur otomatis (API)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508000" y="1892300"/>
            <a:ext cx="3009900" cy="2032000"/>
          </a:xfrm>
          <a:prstGeom prst="roundRect">
            <a:avLst>
              <a:gd name="adj" fmla="val 12000"/>
            </a:avLst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</a:rPr>
              <a:t>ManageEngine / PRTG</a:t>
            </a:r>
          </a:p>
          <a:p>
            <a:pPr algn="ctr">
              <a:defRPr sz="1700" b="0">
                <a:solidFill>
                  <a:srgbClr val="FFFFFF"/>
                </a:solidFill>
                <a:latin typeface="Arial"/>
              </a:defRPr>
            </a:pPr>
            <a:r>
              <a:rPr sz="1700" b="0">
                <a:solidFill>
                  <a:srgbClr val="FFFFFF"/>
                </a:solidFill>
                <a:latin typeface="Arial"/>
              </a:rPr>
              <a:t>dipanggil terjadwal</a:t>
            </a:r>
          </a:p>
        </p:txBody>
      </p:sp>
      <p:sp>
        <p:nvSpPr>
          <p:cNvPr id="204" name="Right Arrow 203"/>
          <p:cNvSpPr/>
          <p:nvPr/>
        </p:nvSpPr>
        <p:spPr>
          <a:xfrm>
            <a:off x="3594100" y="2730500"/>
            <a:ext cx="406400" cy="3810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4076700" y="1892300"/>
            <a:ext cx="3009900" cy="2032000"/>
          </a:xfrm>
          <a:prstGeom prst="roundRect">
            <a:avLst>
              <a:gd name="adj" fmla="val 12000"/>
            </a:avLst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</a:rPr>
              <a:t>Worker</a:t>
            </a:r>
          </a:p>
          <a:p>
            <a:pPr algn="ctr">
              <a:defRPr sz="1700" b="0">
                <a:solidFill>
                  <a:srgbClr val="FFFFFF"/>
                </a:solidFill>
                <a:latin typeface="Arial"/>
              </a:defRPr>
            </a:pPr>
            <a:r>
              <a:rPr sz="1700" b="0">
                <a:solidFill>
                  <a:srgbClr val="FFFFFF"/>
                </a:solidFill>
                <a:latin typeface="Arial"/>
              </a:rPr>
              <a:t>tiap 15 menit / 1 jam</a:t>
            </a:r>
          </a:p>
        </p:txBody>
      </p:sp>
      <p:sp>
        <p:nvSpPr>
          <p:cNvPr id="206" name="Right Arrow 205"/>
          <p:cNvSpPr/>
          <p:nvPr/>
        </p:nvSpPr>
        <p:spPr>
          <a:xfrm>
            <a:off x="7162800" y="2730500"/>
            <a:ext cx="406400" cy="3810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7645400" y="1892300"/>
            <a:ext cx="3009900" cy="2032000"/>
          </a:xfrm>
          <a:prstGeom prst="roundRect">
            <a:avLst>
              <a:gd name="adj" fmla="val 12000"/>
            </a:avLst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</a:rPr>
              <a:t>Simpan ke database</a:t>
            </a:r>
          </a:p>
          <a:p>
            <a:pPr algn="ctr">
              <a:defRPr sz="1700" b="0">
                <a:solidFill>
                  <a:srgbClr val="FFFFFF"/>
                </a:solidFill>
                <a:latin typeface="Arial"/>
              </a:defRPr>
            </a:pPr>
            <a:r>
              <a:rPr sz="1700" b="0">
                <a:solidFill>
                  <a:srgbClr val="FFFFFF"/>
                </a:solidFill>
                <a:latin typeface="Arial"/>
              </a:rPr>
              <a:t>upsert, aman diulang</a:t>
            </a:r>
          </a:p>
        </p:txBody>
      </p:sp>
      <p:sp>
        <p:nvSpPr>
          <p:cNvPr id="208" name="Right Arrow 207"/>
          <p:cNvSpPr/>
          <p:nvPr/>
        </p:nvSpPr>
        <p:spPr>
          <a:xfrm>
            <a:off x="10731500" y="2730500"/>
            <a:ext cx="406400" cy="3810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11214100" y="1892300"/>
            <a:ext cx="3009900" cy="2032000"/>
          </a:xfrm>
          <a:prstGeom prst="roundRect">
            <a:avLst>
              <a:gd name="adj" fmla="val 12000"/>
            </a:avLst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</a:rPr>
              <a:t>Cache dihitung ulang</a:t>
            </a:r>
          </a:p>
          <a:p>
            <a:pPr algn="ctr">
              <a:defRPr sz="1700" b="0">
                <a:solidFill>
                  <a:srgbClr val="FFFFFF"/>
                </a:solidFill>
                <a:latin typeface="Arial"/>
              </a:defRPr>
            </a:pPr>
            <a:r>
              <a:rPr sz="1700" b="0">
                <a:solidFill>
                  <a:srgbClr val="FFFFFF"/>
                </a:solidFill>
                <a:latin typeface="Arial"/>
              </a:rPr>
              <a:t>angka langsung segar</a:t>
            </a:r>
          </a:p>
        </p:txBody>
      </p:sp>
      <p:sp>
        <p:nvSpPr>
          <p:cNvPr id="210" name="Right Arrow 209"/>
          <p:cNvSpPr/>
          <p:nvPr/>
        </p:nvSpPr>
        <p:spPr>
          <a:xfrm>
            <a:off x="14300200" y="2730500"/>
            <a:ext cx="406400" cy="3810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14782800" y="1892300"/>
            <a:ext cx="3009900" cy="2032000"/>
          </a:xfrm>
          <a:prstGeom prst="roundRect">
            <a:avLst>
              <a:gd name="adj" fmla="val 12000"/>
            </a:avLst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</a:rPr>
              <a:t>Dashboard</a:t>
            </a:r>
          </a:p>
          <a:p>
            <a:pPr algn="ctr">
              <a:defRPr sz="1700" b="0">
                <a:solidFill>
                  <a:srgbClr val="FFFFFF"/>
                </a:solidFill>
                <a:latin typeface="Arial"/>
              </a:defRPr>
            </a:pPr>
            <a:r>
              <a:rPr sz="1700" b="0">
                <a:solidFill>
                  <a:srgbClr val="FFFFFF"/>
                </a:solidFill>
                <a:latin typeface="Arial"/>
              </a:rPr>
              <a:t>membaca bundel data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08000" y="4457700"/>
            <a:ext cx="172847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000" b="1">
                <a:solidFill>
                  <a:srgbClr val="0B2F6B"/>
                </a:solidFill>
                <a:latin typeface="Arial"/>
              </a:defRPr>
            </a:pPr>
            <a:r>
              <a:rPr sz="2000" b="1">
                <a:solidFill>
                  <a:srgbClr val="0B2F6B"/>
                </a:solidFill>
                <a:latin typeface="Arial"/>
              </a:rPr>
              <a:t>Jalur manual (RAW)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508000" y="5016500"/>
            <a:ext cx="3009900" cy="2032000"/>
          </a:xfrm>
          <a:prstGeom prst="roundRect">
            <a:avLst>
              <a:gd name="adj" fmla="val 12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</a:rPr>
              <a:t>Unggah file</a:t>
            </a:r>
          </a:p>
          <a:p>
            <a:pPr algn="ctr">
              <a:defRPr sz="1700" b="0">
                <a:solidFill>
                  <a:srgbClr val="FFFFFF"/>
                </a:solidFill>
                <a:latin typeface="Arial"/>
              </a:defRPr>
            </a:pPr>
            <a:r>
              <a:rPr sz="1700" b="0">
                <a:solidFill>
                  <a:srgbClr val="FFFFFF"/>
                </a:solidFill>
                <a:latin typeface="Arial"/>
              </a:rPr>
              <a:t>tiket .xls, PRTG PDF, SOC CSV</a:t>
            </a:r>
          </a:p>
        </p:txBody>
      </p:sp>
      <p:sp>
        <p:nvSpPr>
          <p:cNvPr id="214" name="Right Arrow 213"/>
          <p:cNvSpPr/>
          <p:nvPr/>
        </p:nvSpPr>
        <p:spPr>
          <a:xfrm>
            <a:off x="3594100" y="5854700"/>
            <a:ext cx="406400" cy="3810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4076700" y="5016500"/>
            <a:ext cx="3009900" cy="2032000"/>
          </a:xfrm>
          <a:prstGeom prst="roundRect">
            <a:avLst>
              <a:gd name="adj" fmla="val 12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</a:rPr>
              <a:t>Parser</a:t>
            </a:r>
          </a:p>
          <a:p>
            <a:pPr algn="ctr">
              <a:defRPr sz="1700" b="0">
                <a:solidFill>
                  <a:srgbClr val="FFFFFF"/>
                </a:solidFill>
                <a:latin typeface="Arial"/>
              </a:defRPr>
            </a:pPr>
            <a:r>
              <a:rPr sz="1700" b="0">
                <a:solidFill>
                  <a:srgbClr val="FFFFFF"/>
                </a:solidFill>
                <a:latin typeface="Arial"/>
              </a:rPr>
              <a:t>jenis dikenali dari header</a:t>
            </a:r>
          </a:p>
        </p:txBody>
      </p:sp>
      <p:sp>
        <p:nvSpPr>
          <p:cNvPr id="216" name="Right Arrow 215"/>
          <p:cNvSpPr/>
          <p:nvPr/>
        </p:nvSpPr>
        <p:spPr>
          <a:xfrm>
            <a:off x="7162800" y="5854700"/>
            <a:ext cx="406400" cy="3810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7645400" y="5016500"/>
            <a:ext cx="3009900" cy="2032000"/>
          </a:xfrm>
          <a:prstGeom prst="roundRect">
            <a:avLst>
              <a:gd name="adj" fmla="val 12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</a:rPr>
              <a:t>Validasi dan dedupe</a:t>
            </a:r>
          </a:p>
          <a:p>
            <a:pPr algn="ctr">
              <a:defRPr sz="1700" b="0">
                <a:solidFill>
                  <a:srgbClr val="FFFFFF"/>
                </a:solidFill>
                <a:latin typeface="Arial"/>
              </a:defRPr>
            </a:pPr>
            <a:r>
              <a:rPr sz="1700" b="0">
                <a:solidFill>
                  <a:srgbClr val="FFFFFF"/>
                </a:solidFill>
                <a:latin typeface="Arial"/>
              </a:rPr>
              <a:t>Request ID, hash SHA-256</a:t>
            </a:r>
          </a:p>
        </p:txBody>
      </p:sp>
      <p:sp>
        <p:nvSpPr>
          <p:cNvPr id="218" name="Right Arrow 217"/>
          <p:cNvSpPr/>
          <p:nvPr/>
        </p:nvSpPr>
        <p:spPr>
          <a:xfrm>
            <a:off x="10731500" y="5854700"/>
            <a:ext cx="406400" cy="3810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11214100" y="5016500"/>
            <a:ext cx="3009900" cy="2032000"/>
          </a:xfrm>
          <a:prstGeom prst="roundRect">
            <a:avLst>
              <a:gd name="adj" fmla="val 12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</a:rPr>
              <a:t>Batch tercatat</a:t>
            </a:r>
          </a:p>
          <a:p>
            <a:pPr algn="ctr">
              <a:defRPr sz="1700" b="0">
                <a:solidFill>
                  <a:srgbClr val="FFFFFF"/>
                </a:solidFill>
                <a:latin typeface="Arial"/>
              </a:defRPr>
            </a:pPr>
            <a:r>
              <a:rPr sz="1700" b="0">
                <a:solidFill>
                  <a:srgbClr val="FFFFFF"/>
                </a:solidFill>
                <a:latin typeface="Arial"/>
              </a:rPr>
              <a:t>status valid / peringatan / gagal</a:t>
            </a:r>
          </a:p>
        </p:txBody>
      </p:sp>
      <p:sp>
        <p:nvSpPr>
          <p:cNvPr id="220" name="Right Arrow 219"/>
          <p:cNvSpPr/>
          <p:nvPr/>
        </p:nvSpPr>
        <p:spPr>
          <a:xfrm>
            <a:off x="14300200" y="5854700"/>
            <a:ext cx="406400" cy="3810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14782800" y="5016500"/>
            <a:ext cx="3009900" cy="2032000"/>
          </a:xfrm>
          <a:prstGeom prst="roundRect">
            <a:avLst>
              <a:gd name="adj" fmla="val 12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</a:rPr>
              <a:t>Data Completeness</a:t>
            </a:r>
          </a:p>
          <a:p>
            <a:pPr algn="ctr">
              <a:defRPr sz="1700" b="0">
                <a:solidFill>
                  <a:srgbClr val="FFFFFF"/>
                </a:solidFill>
                <a:latin typeface="Arial"/>
              </a:defRPr>
            </a:pPr>
            <a:r>
              <a:rPr sz="1700" b="0">
                <a:solidFill>
                  <a:srgbClr val="FFFFFF"/>
                </a:solidFill>
                <a:latin typeface="Arial"/>
              </a:rPr>
              <a:t>hari lengkap atau kurang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08000" y="7696200"/>
            <a:ext cx="17284700" cy="1778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63220" indent="-363220">
              <a:spcAft>
                <a:spcPts val="1000"/>
              </a:spcAft>
              <a:buFont typeface="Arial"/>
              <a:buChar char="•"/>
              <a:defRPr sz="2600" b="0">
                <a:solidFill>
                  <a:srgbClr val="10171E"/>
                </a:solidFill>
                <a:latin typeface="Arial"/>
              </a:defRPr>
            </a:pPr>
            <a:r>
              <a:rPr sz="2600" b="0">
                <a:solidFill>
                  <a:srgbClr val="10171E"/>
                </a:solidFill>
                <a:latin typeface="Arial"/>
              </a:rPr>
              <a:t>Tiket: upsert per Request ID, jadi file bulk Januari sampai sekarang tidak merusak data yang sudah ada.</a:t>
            </a:r>
          </a:p>
          <a:p>
            <a:pPr marL="363220" indent="-363220">
              <a:spcAft>
                <a:spcPts val="1000"/>
              </a:spcAft>
              <a:buFont typeface="Arial"/>
              <a:buChar char="•"/>
              <a:defRPr sz="2600" b="0">
                <a:solidFill>
                  <a:srgbClr val="10171E"/>
                </a:solidFill>
                <a:latin typeface="Arial"/>
              </a:defRPr>
            </a:pPr>
            <a:r>
              <a:rPr sz="2600" b="0">
                <a:solidFill>
                  <a:srgbClr val="10171E"/>
                </a:solidFill>
                <a:latin typeface="Arial"/>
              </a:rPr>
              <a:t>SOC: untuk hari yang sama, batch terbaru dipakai. Hari kosong tidak menimpa hari yang sudah berisi event.</a:t>
            </a:r>
          </a:p>
          <a:p>
            <a:pPr marL="363220" indent="-363220">
              <a:spcAft>
                <a:spcPts val="1000"/>
              </a:spcAft>
              <a:buFont typeface="Arial"/>
              <a:buChar char="•"/>
              <a:defRPr sz="2600" b="0">
                <a:solidFill>
                  <a:srgbClr val="10171E"/>
                </a:solidFill>
                <a:latin typeface="Arial"/>
              </a:defRPr>
            </a:pPr>
            <a:r>
              <a:rPr sz="2600" b="0">
                <a:solidFill>
                  <a:srgbClr val="10171E"/>
                </a:solidFill>
                <a:latin typeface="Arial"/>
              </a:rPr>
              <a:t>PRTG PDF: satu baris per sensor per hari. Nama sensor boleh berubah, sensor dikenali dari ID.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6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Mesin Perhitungan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TextBox 201"/>
          <p:cNvSpPr txBox="1"/>
          <p:nvPr/>
        </p:nvSpPr>
        <p:spPr>
          <a:xfrm>
            <a:off x="508000" y="7632700"/>
            <a:ext cx="17284700" cy="2540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21310" indent="-321310">
              <a:spcAft>
                <a:spcPts val="800"/>
              </a:spcAft>
              <a:buFont typeface="Arial"/>
              <a:buChar char="•"/>
              <a:defRPr sz="2300" b="0">
                <a:solidFill>
                  <a:srgbClr val="10171E"/>
                </a:solidFill>
                <a:latin typeface="Arial"/>
              </a:defRPr>
            </a:pPr>
            <a:r>
              <a:rPr sz="2300" b="0">
                <a:solidFill>
                  <a:srgbClr val="10171E"/>
                </a:solidFill>
                <a:latin typeface="Arial"/>
              </a:rPr>
              <a:t>Angka dihitung di server, bukan di browser. Target SLA, ambang, ISP, dan rotasi tim ada di parameter database.</a:t>
            </a:r>
          </a:p>
          <a:p>
            <a:pPr marL="321310" indent="-321310">
              <a:spcAft>
                <a:spcPts val="800"/>
              </a:spcAft>
              <a:buFont typeface="Arial"/>
              <a:buChar char="•"/>
              <a:defRPr sz="2300" b="0">
                <a:solidFill>
                  <a:srgbClr val="10171E"/>
                </a:solidFill>
                <a:latin typeface="Arial"/>
              </a:defRPr>
            </a:pPr>
            <a:r>
              <a:rPr sz="2300" b="0">
                <a:solidFill>
                  <a:srgbClr val="10171E"/>
                </a:solidFill>
                <a:latin typeface="Arial"/>
              </a:rPr>
              <a:t>Definisi rumus tampil di Admin dan pada ikon i di tiap KPI. Hasil disimpan di cache dan dihitung ulang saat data atau parameter berubah.</a:t>
            </a:r>
          </a:p>
        </p:txBody>
      </p:sp>
      <p:graphicFrame>
        <p:nvGraphicFramePr>
          <p:cNvPr id="203" name="Table 202"/>
          <p:cNvGraphicFramePr>
            <a:graphicFrameLocks noGrp="1"/>
          </p:cNvGraphicFramePr>
          <p:nvPr/>
        </p:nvGraphicFramePr>
        <p:xfrm>
          <a:off x="508000" y="1358900"/>
          <a:ext cx="17284698" cy="60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5425"/>
                <a:gridCol w="8363564"/>
                <a:gridCol w="5575709"/>
              </a:tblGrid>
              <a:tr h="1016000"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anchor="ctr" marL="101600" marR="101600"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</a:rPr>
                        <a:t>Cara menghitung</a:t>
                      </a:r>
                    </a:p>
                  </a:txBody>
                  <a:tcPr anchor="ctr" marL="101600" marR="101600"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anchor="ctr" marL="101600" marR="101600">
                    <a:solidFill>
                      <a:srgbClr val="0B2F6B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1">
                          <a:solidFill>
                            <a:srgbClr val="10171E"/>
                          </a:solidFill>
                          <a:latin typeface="Arial"/>
                        </a:rPr>
                        <a:t>Tickets In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Tiket yang dibuat pada periode, shift, dan lokasi terpilih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Shift, lokasi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1">
                          <a:solidFill>
                            <a:srgbClr val="10171E"/>
                          </a:solidFill>
                          <a:latin typeface="Arial"/>
                        </a:rPr>
                        <a:t>Within SLA Target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Tiket selesai dalam jam target SLA, dibagi tiket ber-SLA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High 4 jam, Medium 8 jam, Low 24 jam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1">
                          <a:solidFill>
                            <a:srgbClr val="10171E"/>
                          </a:solidFill>
                          <a:latin typeface="Arial"/>
                        </a:rPr>
                        <a:t>Availability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Waktu up dibagi seluruh waktu terpantau tiap link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Target 99,5 persen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1">
                          <a:solidFill>
                            <a:srgbClr val="10171E"/>
                          </a:solidFill>
                          <a:latin typeface="Arial"/>
                        </a:rPr>
                        <a:t>Data Coverage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Jam terpantau dibagi jam periode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Minimum 90 persen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1">
                          <a:solidFill>
                            <a:srgbClr val="10171E"/>
                          </a:solidFill>
                          <a:latin typeface="Arial"/>
                        </a:rPr>
                        <a:t>Critical + High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Event ancaman berseverity tinggi dan yang diblokir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Daftar severity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7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Verifikasi Data terhadap Excel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Rounded Rectangle 201"/>
          <p:cNvSpPr/>
          <p:nvPr/>
        </p:nvSpPr>
        <p:spPr>
          <a:xfrm>
            <a:off x="508000" y="1435100"/>
            <a:ext cx="4089400" cy="25400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508000" y="1587500"/>
            <a:ext cx="4089400" cy="1016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defRPr sz="5400" b="1">
                <a:solidFill>
                  <a:srgbClr val="0B2F6B"/>
                </a:solidFill>
                <a:latin typeface="Arial"/>
              </a:defRPr>
            </a:pPr>
            <a:r>
              <a:rPr sz="5400" b="1">
                <a:solidFill>
                  <a:srgbClr val="0B2F6B"/>
                </a:solidFill>
                <a:latin typeface="Arial"/>
              </a:rPr>
              <a:t>49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35000" y="2705100"/>
            <a:ext cx="3835400" cy="1193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rPr sz="2400" b="0">
                <a:solidFill>
                  <a:srgbClr val="6B7280"/>
                </a:solidFill>
                <a:latin typeface="Arial"/>
              </a:rPr>
              <a:t>link NOC (30 Sep sampai 17 Okt), sama dengan Excel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4889500" y="1435100"/>
            <a:ext cx="4089400" cy="25400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889500" y="1587500"/>
            <a:ext cx="4089400" cy="1016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defRPr sz="5400" b="1">
                <a:solidFill>
                  <a:srgbClr val="0B75BB"/>
                </a:solidFill>
                <a:latin typeface="Arial"/>
              </a:defRPr>
            </a:pPr>
            <a:r>
              <a:rPr sz="5400" b="1">
                <a:solidFill>
                  <a:srgbClr val="0B75BB"/>
                </a:solidFill>
                <a:latin typeface="Arial"/>
              </a:rPr>
              <a:t>99,93%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016500" y="2705100"/>
            <a:ext cx="3835400" cy="1193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rPr sz="2400" b="0">
                <a:solidFill>
                  <a:srgbClr val="6B7280"/>
                </a:solidFill>
                <a:latin typeface="Arial"/>
              </a:rPr>
              <a:t>availability rata-rata, sama dengan Excel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9271000" y="1435100"/>
            <a:ext cx="4089400" cy="25400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271000" y="1587500"/>
            <a:ext cx="4089400" cy="1016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defRPr sz="5400" b="1">
                <a:solidFill>
                  <a:srgbClr val="0B2F6B"/>
                </a:solidFill>
                <a:latin typeface="Arial"/>
              </a:defRPr>
            </a:pPr>
            <a:r>
              <a:rPr sz="5400" b="1">
                <a:solidFill>
                  <a:srgbClr val="0B2F6B"/>
                </a:solidFill>
                <a:latin typeface="Arial"/>
              </a:rPr>
              <a:t>14,4 jam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398000" y="2705100"/>
            <a:ext cx="3835400" cy="1193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rPr sz="2400" b="0">
                <a:solidFill>
                  <a:srgbClr val="6B7280"/>
                </a:solidFill>
                <a:latin typeface="Arial"/>
              </a:rPr>
              <a:t>total downtime, sama dengan Excel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13652500" y="1435100"/>
            <a:ext cx="4089400" cy="25400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3652500" y="1587500"/>
            <a:ext cx="4089400" cy="1016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defRPr sz="5400" b="1">
                <a:solidFill>
                  <a:srgbClr val="0B75BB"/>
                </a:solidFill>
                <a:latin typeface="Arial"/>
              </a:defRPr>
            </a:pPr>
            <a:r>
              <a:rPr sz="5400" b="1">
                <a:solidFill>
                  <a:srgbClr val="0B75BB"/>
                </a:solidFill>
                <a:latin typeface="Arial"/>
              </a:rPr>
              <a:t>137,1 TB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3779500" y="2705100"/>
            <a:ext cx="3835400" cy="1193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rPr sz="2400" b="0">
                <a:solidFill>
                  <a:srgbClr val="6B7280"/>
                </a:solidFill>
                <a:latin typeface="Arial"/>
              </a:rPr>
              <a:t>total traffic, sama dengan Excel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508000" y="4394200"/>
            <a:ext cx="8483600" cy="40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20700" y="4406900"/>
            <a:ext cx="8458200" cy="812800"/>
          </a:xfrm>
          <a:prstGeom prst="rect">
            <a:avLst/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Ticketing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60400" y="5410200"/>
            <a:ext cx="8229600" cy="3022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Data dimuat dari file 1 Juli sampai 16 Oktober: 1.891 tiket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Jul sampai Sep: 1.546 tiket di web, 1.526 di file bulanan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Selisih 20 tiket Branch Dumai ada di file gabungan dan belum ada di file bulanan September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9309100" y="4394200"/>
            <a:ext cx="8483600" cy="40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21800" y="4406900"/>
            <a:ext cx="8458200" cy="812800"/>
          </a:xfrm>
          <a:prstGeom prst="rect">
            <a:avLst/>
          </a:prstGeom>
          <a:solidFill>
            <a:srgbClr val="25B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Cyber Security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461500" y="5410200"/>
            <a:ext cx="8229600" cy="3022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Panorama berisi 835 CSV, 1 Juli sampai 12 Oktober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Ditemukan dan diperbaiki: hari kosong dari laporan Top menimpa data nyata 1 sampai 7 Oktober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Pembanding Excel SOC Jul sampai Sep menunggu data referensi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8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Peran dan Hak Akses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202" name="Table 201"/>
          <p:cNvGraphicFramePr>
            <a:graphicFrameLocks noGrp="1"/>
          </p:cNvGraphicFramePr>
          <p:nvPr/>
        </p:nvGraphicFramePr>
        <p:xfrm>
          <a:off x="508000" y="1358900"/>
          <a:ext cx="17284698" cy="675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2076"/>
                <a:gridCol w="6619672"/>
                <a:gridCol w="3309836"/>
                <a:gridCol w="4413114"/>
              </a:tblGrid>
              <a:tr h="965200"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</a:rPr>
                        <a:t>Peran</a:t>
                      </a:r>
                    </a:p>
                  </a:txBody>
                  <a:tcPr anchor="ctr" marL="101600" marR="101600"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</a:rPr>
                        <a:t>Menu yang terlihat</a:t>
                      </a:r>
                    </a:p>
                  </a:txBody>
                  <a:tcPr anchor="ctr" marL="101600" marR="101600"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</a:rPr>
                        <a:t>Lingkup lokasi</a:t>
                      </a:r>
                    </a:p>
                  </a:txBody>
                  <a:tcPr anchor="ctr" marL="101600" marR="101600"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</a:rPr>
                        <a:t>Hak tambahan</a:t>
                      </a:r>
                    </a:p>
                  </a:txBody>
                  <a:tcPr anchor="ctr" marL="101600" marR="101600">
                    <a:solidFill>
                      <a:srgbClr val="0B2F6B"/>
                    </a:solidFill>
                  </a:tcPr>
                </a:tc>
              </a:tr>
              <a:tr h="96520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1">
                          <a:solidFill>
                            <a:srgbClr val="10171E"/>
                          </a:solidFill>
                          <a:latin typeface="Arial"/>
                        </a:rPr>
                        <a:t>Super Admin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Semua menu dan Admin penuh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Semua lokasi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Ubah semua pengaturan, unggah semua data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</a:tr>
              <a:tr h="96520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1">
                          <a:solidFill>
                            <a:srgbClr val="10171E"/>
                          </a:solidFill>
                          <a:latin typeface="Arial"/>
                        </a:rPr>
                        <a:t>Admin (Koordinator ITOC Shift)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Semua menu, Admin hanya baca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Semua lokasi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Unggah SOC, tiket, dan PRTG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</a:tr>
              <a:tr h="96520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1">
                          <a:solidFill>
                            <a:srgbClr val="10171E"/>
                          </a:solidFill>
                          <a:latin typeface="Arial"/>
                        </a:rPr>
                        <a:t>ITOC Shift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Overview, Ticketing, Networking, Cyber Security, Personnel, Report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Semua lokasi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Hanya melihat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</a:tr>
              <a:tr h="96520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1">
                          <a:solidFill>
                            <a:srgbClr val="10171E"/>
                          </a:solidFill>
                          <a:latin typeface="Arial"/>
                        </a:rPr>
                        <a:t>IT Care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Overview, Ticketing, Networking, Personnel, Report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Terkunci ke Head Office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Tanpa Cyber Security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</a:tr>
              <a:tr h="96520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1">
                          <a:solidFill>
                            <a:srgbClr val="10171E"/>
                          </a:solidFill>
                          <a:latin typeface="Arial"/>
                        </a:rPr>
                        <a:t>EOS Branch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Overview, Ticketing, Networking, Personnel, Report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Terkunci ke lokasi sendiri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Tanpa Cyber Security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</a:tr>
              <a:tr h="965200"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1">
                          <a:solidFill>
                            <a:srgbClr val="10171E"/>
                          </a:solidFill>
                          <a:latin typeface="Arial"/>
                        </a:rPr>
                        <a:t>Management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Overview, Ticketing, Networking, Cyber Security, Personnel, Report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Semua lokasi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000" b="0">
                          <a:solidFill>
                            <a:srgbClr val="10171E"/>
                          </a:solidFill>
                          <a:latin typeface="Arial"/>
                        </a:rPr>
                        <a:t>Hanya melihat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203" name="TextBox 202"/>
          <p:cNvSpPr txBox="1"/>
          <p:nvPr/>
        </p:nvSpPr>
        <p:spPr>
          <a:xfrm>
            <a:off x="508000" y="8648700"/>
            <a:ext cx="17284700" cy="635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400" b="0">
                <a:solidFill>
                  <a:srgbClr val="6B7280"/>
                </a:solidFill>
                <a:latin typeface="Arial"/>
              </a:defRPr>
            </a:pPr>
            <a:r>
              <a:rPr sz="2400" b="0">
                <a:solidFill>
                  <a:srgbClr val="6B7280"/>
                </a:solidFill>
                <a:latin typeface="Arial"/>
              </a:rPr>
              <a:t>Role dan izinnya dapat ditambah atau diubah di Admin tanpa mengubah kode.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9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Personel, Shift, dan Jadwal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Rounded Rectangle 201"/>
          <p:cNvSpPr/>
          <p:nvPr/>
        </p:nvSpPr>
        <p:spPr>
          <a:xfrm>
            <a:off x="508000" y="1460500"/>
            <a:ext cx="2857500" cy="1524000"/>
          </a:xfrm>
          <a:prstGeom prst="roundRect">
            <a:avLst>
              <a:gd name="adj" fmla="val 12000"/>
            </a:avLst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rPr sz="2600" b="1">
                <a:solidFill>
                  <a:srgbClr val="FFFFFF"/>
                </a:solidFill>
                <a:latin typeface="Arial"/>
              </a:rPr>
              <a:t>Pagi</a:t>
            </a:r>
          </a:p>
          <a:p>
            <a:pPr algn="ctr">
              <a:defRPr sz="2100" b="0">
                <a:solidFill>
                  <a:srgbClr val="FFFFFF"/>
                </a:solidFill>
                <a:latin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</a:rPr>
              <a:t>08.00 - 15.00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3619500" y="1460500"/>
            <a:ext cx="2857500" cy="1524000"/>
          </a:xfrm>
          <a:prstGeom prst="roundRect">
            <a:avLst>
              <a:gd name="adj" fmla="val 12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rPr sz="2600" b="1">
                <a:solidFill>
                  <a:srgbClr val="FFFFFF"/>
                </a:solidFill>
                <a:latin typeface="Arial"/>
              </a:rPr>
              <a:t>Sore</a:t>
            </a:r>
          </a:p>
          <a:p>
            <a:pPr algn="ctr">
              <a:defRPr sz="2100" b="0">
                <a:solidFill>
                  <a:srgbClr val="FFFFFF"/>
                </a:solidFill>
                <a:latin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</a:rPr>
              <a:t>15.00 - 22.00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6731000" y="1460500"/>
            <a:ext cx="2857500" cy="1524000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rPr sz="2600" b="1">
                <a:solidFill>
                  <a:srgbClr val="FFFFFF"/>
                </a:solidFill>
                <a:latin typeface="Arial"/>
              </a:rPr>
              <a:t>Malam</a:t>
            </a:r>
          </a:p>
          <a:p>
            <a:pPr algn="ctr">
              <a:defRPr sz="2100" b="0">
                <a:solidFill>
                  <a:srgbClr val="FFFFFF"/>
                </a:solidFill>
                <a:latin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</a:rPr>
              <a:t>22.00 - 08.00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9906000" y="1460500"/>
            <a:ext cx="7874000" cy="1524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>
              <a:defRPr sz="2300" b="0">
                <a:solidFill>
                  <a:srgbClr val="10171E"/>
                </a:solidFill>
                <a:latin typeface="Arial"/>
              </a:defRPr>
            </a:pPr>
            <a:r>
              <a:rPr sz="2300" b="0">
                <a:solidFill>
                  <a:srgbClr val="10171E"/>
                </a:solidFill>
                <a:latin typeface="Arial"/>
              </a:rPr>
              <a:t>Pola rotasi PP SS MM OO, siklus 8 hari: 2 pagi, 2 sore, 2 malam, 2 libur. Tim On Duty ditentukan otomatis dari jam dan tanggal.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508000" y="3441700"/>
            <a:ext cx="4089400" cy="31750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508000" y="3594100"/>
            <a:ext cx="4089400" cy="1016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defRPr sz="5400" b="1">
                <a:solidFill>
                  <a:srgbClr val="0B2F6B"/>
                </a:solidFill>
                <a:latin typeface="Arial"/>
              </a:defRPr>
            </a:pPr>
            <a:r>
              <a:rPr sz="5400" b="1">
                <a:solidFill>
                  <a:srgbClr val="0B2F6B"/>
                </a:solidFill>
                <a:latin typeface="Arial"/>
              </a:rPr>
              <a:t>4 tim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35000" y="4711700"/>
            <a:ext cx="3835400" cy="1828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rPr sz="2400" b="0">
                <a:solidFill>
                  <a:srgbClr val="6B7280"/>
                </a:solidFill>
                <a:latin typeface="Arial"/>
              </a:rPr>
              <a:t>ITOC, masing-masing 5 orang: 1 Shift Coordinator, 2 NOC Analyst, 2 SOC Analyst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4889500" y="3441700"/>
            <a:ext cx="4089400" cy="31750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4889500" y="3594100"/>
            <a:ext cx="4089400" cy="1016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defRPr sz="5400" b="1">
                <a:solidFill>
                  <a:srgbClr val="0B75BB"/>
                </a:solidFill>
                <a:latin typeface="Arial"/>
              </a:defRPr>
            </a:pPr>
            <a:r>
              <a:rPr sz="5400" b="1">
                <a:solidFill>
                  <a:srgbClr val="0B75BB"/>
                </a:solidFill>
                <a:latin typeface="Arial"/>
              </a:rPr>
              <a:t>4 lead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016500" y="4711700"/>
            <a:ext cx="3835400" cy="1828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rPr sz="2400" b="0">
                <a:solidFill>
                  <a:srgbClr val="6B7280"/>
                </a:solidFill>
                <a:latin typeface="Arial"/>
              </a:rPr>
              <a:t>Supervisor, NOC Lead, Governance Lead, SOC Lead (panel Escalation di Overview)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9271000" y="3441700"/>
            <a:ext cx="4089400" cy="31750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9271000" y="3594100"/>
            <a:ext cx="4089400" cy="1016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defRPr sz="5400" b="1">
                <a:solidFill>
                  <a:srgbClr val="0B2F6B"/>
                </a:solidFill>
                <a:latin typeface="Arial"/>
              </a:defRPr>
            </a:pPr>
            <a:r>
              <a:rPr sz="5400" b="1">
                <a:solidFill>
                  <a:srgbClr val="0B2F6B"/>
                </a:solidFill>
                <a:latin typeface="Arial"/>
              </a:rPr>
              <a:t>28 orang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9398000" y="4711700"/>
            <a:ext cx="3835400" cy="1828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rPr sz="2400" b="0">
                <a:solidFill>
                  <a:srgbClr val="6B7280"/>
                </a:solidFill>
                <a:latin typeface="Arial"/>
              </a:rPr>
              <a:t>EOS di 25 lokasi, termasuk Kantor Perwakilan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13652500" y="3441700"/>
            <a:ext cx="4089400" cy="31750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3652500" y="3594100"/>
            <a:ext cx="4089400" cy="101600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ctr">
              <a:defRPr sz="5400" b="1">
                <a:solidFill>
                  <a:srgbClr val="0B75BB"/>
                </a:solidFill>
                <a:latin typeface="Arial"/>
              </a:defRPr>
            </a:pPr>
            <a:r>
              <a:rPr sz="5400" b="1">
                <a:solidFill>
                  <a:srgbClr val="0B75BB"/>
                </a:solidFill>
                <a:latin typeface="Arial"/>
              </a:rPr>
              <a:t>4 orang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3779500" y="4711700"/>
            <a:ext cx="3835400" cy="1828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rPr sz="2400" b="0">
                <a:solidFill>
                  <a:srgbClr val="6B7280"/>
                </a:solidFill>
                <a:latin typeface="Arial"/>
              </a:rPr>
              <a:t>IT Care, jam kantor, dengan nomor layanan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08000" y="6997700"/>
            <a:ext cx="17284700" cy="1651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63220" indent="-363220">
              <a:spcAft>
                <a:spcPts val="1200"/>
              </a:spcAft>
              <a:buFont typeface="Arial"/>
              <a:buChar char="•"/>
              <a:defRPr sz="2600" b="0">
                <a:solidFill>
                  <a:srgbClr val="10171E"/>
                </a:solidFill>
                <a:latin typeface="Arial"/>
              </a:defRPr>
            </a:pPr>
            <a:r>
              <a:rPr sz="2600" b="0">
                <a:solidFill>
                  <a:srgbClr val="10171E"/>
                </a:solidFill>
                <a:latin typeface="Arial"/>
              </a:rPr>
              <a:t>Ranking tiket tersedia per teknisi dan per grup (Team 1 sampai 4 dan Head Office).</a:t>
            </a:r>
          </a:p>
          <a:p>
            <a:pPr marL="363220" indent="-363220">
              <a:spcAft>
                <a:spcPts val="1200"/>
              </a:spcAft>
              <a:buFont typeface="Arial"/>
              <a:buChar char="•"/>
              <a:defRPr sz="2600" b="0">
                <a:solidFill>
                  <a:srgbClr val="10171E"/>
                </a:solidFill>
                <a:latin typeface="Arial"/>
              </a:defRPr>
            </a:pPr>
            <a:r>
              <a:rPr sz="2600" b="0">
                <a:solidFill>
                  <a:srgbClr val="10171E"/>
                </a:solidFill>
                <a:latin typeface="Arial"/>
              </a:rPr>
              <a:t>Tiket akun bersama IT Operation Center dihitung ke tim yang bertugas saat tiket dibuat.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10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Report dan Export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Rounded Rectangle 201"/>
          <p:cNvSpPr/>
          <p:nvPr/>
        </p:nvSpPr>
        <p:spPr>
          <a:xfrm>
            <a:off x="508000" y="1460500"/>
            <a:ext cx="3314700" cy="1651000"/>
          </a:xfrm>
          <a:prstGeom prst="roundRect">
            <a:avLst>
              <a:gd name="adj" fmla="val 12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Summary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Ringkasan untuk manajemen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4000500" y="1460500"/>
            <a:ext cx="3314700" cy="1651000"/>
          </a:xfrm>
          <a:prstGeom prst="roundRect">
            <a:avLst>
              <a:gd name="adj" fmla="val 12000"/>
            </a:avLst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Networking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Availability, downtime, traffic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7493000" y="1460500"/>
            <a:ext cx="3314700" cy="1651000"/>
          </a:xfrm>
          <a:prstGeom prst="roundRect">
            <a:avLst>
              <a:gd name="adj" fmla="val 12000"/>
            </a:avLst>
          </a:prstGeom>
          <a:solidFill>
            <a:srgbClr val="25B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Cyber Security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Event ancaman dan tindakan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0985500" y="1460500"/>
            <a:ext cx="3314700" cy="1651000"/>
          </a:xfrm>
          <a:prstGeom prst="roundRect">
            <a:avLst>
              <a:gd name="adj" fmla="val 12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Ticketing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SLA, ranking, tiket open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14478000" y="1460500"/>
            <a:ext cx="3314700" cy="1651000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700" b="1">
                <a:solidFill>
                  <a:srgbClr val="FFFFFF"/>
                </a:solidFill>
                <a:latin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</a:rPr>
              <a:t>Full</a:t>
            </a:r>
          </a:p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rPr sz="2200" b="0">
                <a:solidFill>
                  <a:srgbClr val="FFFFFF"/>
                </a:solidFill>
                <a:latin typeface="Arial"/>
              </a:rPr>
              <a:t>Semua bagian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508000" y="3568700"/>
            <a:ext cx="55880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20700" y="3581400"/>
            <a:ext cx="5562600" cy="812800"/>
          </a:xfrm>
          <a:prstGeom prst="rect">
            <a:avLst/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Format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0400" y="4584700"/>
            <a:ext cx="5334000" cy="3784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Excel: tabel dan grafik asli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PDF: siap cetak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PowerPoint: template Pelindo, grafik asli yang bisa diedit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6350000" y="3568700"/>
            <a:ext cx="55880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62700" y="3581400"/>
            <a:ext cx="5562600" cy="812800"/>
          </a:xfrm>
          <a:prstGeom prst="rect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Filter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6502400" y="4584700"/>
            <a:ext cx="5334000" cy="3784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Periode, shift, dan lokasi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Ukuran isi: Compact, Standard, Full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Role membatasi bagian yang boleh diunduh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12192000" y="3568700"/>
            <a:ext cx="5600700" cy="482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2204700" y="3581400"/>
            <a:ext cx="5575300" cy="812800"/>
          </a:xfrm>
          <a:prstGeom prst="rect">
            <a:avLst/>
          </a:prstGeom>
          <a:solidFill>
            <a:srgbClr val="25B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Isi laporan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2344400" y="4584700"/>
            <a:ext cx="5346700" cy="3784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KPI, grafik, dan tabel dari angka yang sama dengan dashboard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Sampul dan penutup mengikuti template Pelindo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Kontak penutup dari parameter, bukan kode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11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Administrasi dan Kustomisasi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Rounded Rectangle 201"/>
          <p:cNvSpPr/>
          <p:nvPr/>
        </p:nvSpPr>
        <p:spPr>
          <a:xfrm>
            <a:off x="508000" y="1460500"/>
            <a:ext cx="5609166" cy="3048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85800" y="1739900"/>
            <a:ext cx="5253566" cy="711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0B2F6B"/>
                </a:solidFill>
                <a:latin typeface="Arial"/>
              </a:defRPr>
            </a:pPr>
            <a:r>
              <a:rPr sz="3000" b="1">
                <a:solidFill>
                  <a:srgbClr val="0B2F6B"/>
                </a:solidFill>
                <a:latin typeface="Arial"/>
              </a:rPr>
              <a:t>Users dan Roles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85800" y="2552700"/>
            <a:ext cx="5253566" cy="1778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400" b="0">
                <a:solidFill>
                  <a:srgbClr val="10171E"/>
                </a:solidFill>
                <a:latin typeface="Arial"/>
              </a:defRPr>
            </a:pPr>
            <a:r>
              <a:rPr sz="2400" b="0">
                <a:solidFill>
                  <a:srgbClr val="10171E"/>
                </a:solidFill>
                <a:latin typeface="Arial"/>
              </a:rPr>
              <a:t>Tambah, ubah, nonaktifkan akun; buat role khusus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345766" y="1460500"/>
            <a:ext cx="5609166" cy="3048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523566" y="1739900"/>
            <a:ext cx="5253566" cy="711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0B2F6B"/>
                </a:solidFill>
                <a:latin typeface="Arial"/>
              </a:defRPr>
            </a:pPr>
            <a:r>
              <a:rPr sz="3000" b="1">
                <a:solidFill>
                  <a:srgbClr val="0B2F6B"/>
                </a:solidFill>
                <a:latin typeface="Arial"/>
              </a:rPr>
              <a:t>Parameters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523566" y="2552700"/>
            <a:ext cx="5253566" cy="1778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400" b="0">
                <a:solidFill>
                  <a:srgbClr val="10171E"/>
                </a:solidFill>
                <a:latin typeface="Arial"/>
              </a:defRPr>
            </a:pPr>
            <a:r>
              <a:rPr sz="2400" b="0">
                <a:solidFill>
                  <a:srgbClr val="10171E"/>
                </a:solidFill>
                <a:latin typeface="Arial"/>
              </a:rPr>
              <a:t>Target SLA, ambang, teks tampilan, kontak laporan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12183533" y="1460500"/>
            <a:ext cx="5609166" cy="3048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2361333" y="1739900"/>
            <a:ext cx="5253566" cy="711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0B2F6B"/>
                </a:solidFill>
                <a:latin typeface="Arial"/>
              </a:defRPr>
            </a:pPr>
            <a:r>
              <a:rPr sz="3000" b="1">
                <a:solidFill>
                  <a:srgbClr val="0B2F6B"/>
                </a:solidFill>
                <a:latin typeface="Arial"/>
              </a:rPr>
              <a:t>Master Data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2361333" y="2552700"/>
            <a:ext cx="5253566" cy="1778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400" b="0">
                <a:solidFill>
                  <a:srgbClr val="10171E"/>
                </a:solidFill>
                <a:latin typeface="Arial"/>
              </a:defRPr>
            </a:pPr>
            <a:r>
              <a:rPr sz="2400" b="0">
                <a:solidFill>
                  <a:srgbClr val="10171E"/>
                </a:solidFill>
                <a:latin typeface="Arial"/>
              </a:rPr>
              <a:t>Lokasi, personel, ISP, sensor, shift, tim, rumus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508000" y="4889500"/>
            <a:ext cx="5609166" cy="3048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85800" y="5168900"/>
            <a:ext cx="5253566" cy="711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0B2F6B"/>
                </a:solidFill>
                <a:latin typeface="Arial"/>
              </a:defRPr>
            </a:pPr>
            <a:r>
              <a:rPr sz="3000" b="1">
                <a:solidFill>
                  <a:srgbClr val="0B2F6B"/>
                </a:solidFill>
                <a:latin typeface="Arial"/>
              </a:rPr>
              <a:t>Customize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685800" y="5981700"/>
            <a:ext cx="5253566" cy="1778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400" b="0">
                <a:solidFill>
                  <a:srgbClr val="10171E"/>
                </a:solidFill>
                <a:latin typeface="Arial"/>
              </a:defRPr>
            </a:pPr>
            <a:r>
              <a:rPr sz="2400" b="0">
                <a:solidFill>
                  <a:srgbClr val="10171E"/>
                </a:solidFill>
                <a:latin typeface="Arial"/>
              </a:rPr>
              <a:t>Atur urutan, ukuran, dan sembunyikan blok per role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6345766" y="4889500"/>
            <a:ext cx="5609166" cy="3048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523566" y="5168900"/>
            <a:ext cx="5253566" cy="711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0B2F6B"/>
                </a:solidFill>
                <a:latin typeface="Arial"/>
              </a:defRPr>
            </a:pPr>
            <a:r>
              <a:rPr sz="3000" b="1">
                <a:solidFill>
                  <a:srgbClr val="0B2F6B"/>
                </a:solidFill>
                <a:latin typeface="Arial"/>
              </a:rPr>
              <a:t>Integrations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523566" y="5981700"/>
            <a:ext cx="5253566" cy="1778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400" b="0">
                <a:solidFill>
                  <a:srgbClr val="10171E"/>
                </a:solidFill>
                <a:latin typeface="Arial"/>
              </a:defRPr>
            </a:pPr>
            <a:r>
              <a:rPr sz="2400" b="0">
                <a:solidFill>
                  <a:srgbClr val="10171E"/>
                </a:solidFill>
                <a:latin typeface="Arial"/>
              </a:rPr>
              <a:t>Konektor API, API key, email SMTP, webhook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2183533" y="4889500"/>
            <a:ext cx="5609166" cy="304800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2361333" y="5168900"/>
            <a:ext cx="5253566" cy="711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3000" b="1">
                <a:solidFill>
                  <a:srgbClr val="0B2F6B"/>
                </a:solidFill>
                <a:latin typeface="Arial"/>
              </a:defRPr>
            </a:pPr>
            <a:r>
              <a:rPr sz="3000" b="1">
                <a:solidFill>
                  <a:srgbClr val="0B2F6B"/>
                </a:solidFill>
                <a:latin typeface="Arial"/>
              </a:rPr>
              <a:t>Audit Log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2361333" y="5981700"/>
            <a:ext cx="5253566" cy="1778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400" b="0">
                <a:solidFill>
                  <a:srgbClr val="10171E"/>
                </a:solidFill>
                <a:latin typeface="Arial"/>
              </a:defRPr>
            </a:pPr>
            <a:r>
              <a:rPr sz="2400" b="0">
                <a:solidFill>
                  <a:srgbClr val="10171E"/>
                </a:solidFill>
                <a:latin typeface="Arial"/>
              </a:rPr>
              <a:t>Riwayat perubahan oleh pengguna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08000" y="8585200"/>
            <a:ext cx="172847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300" b="0">
                <a:solidFill>
                  <a:srgbClr val="6B7280"/>
                </a:solidFill>
                <a:latin typeface="Arial"/>
              </a:defRPr>
            </a:pPr>
            <a:r>
              <a:rPr sz="2300" b="0">
                <a:solidFill>
                  <a:srgbClr val="6B7280"/>
                </a:solidFill>
                <a:latin typeface="Arial"/>
              </a:rPr>
              <a:t>Perubahan konfigurasi langsung dipakai semua halaman dan tercatat di audit log.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12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Keamanan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Rounded Rectangle 201"/>
          <p:cNvSpPr/>
          <p:nvPr/>
        </p:nvSpPr>
        <p:spPr>
          <a:xfrm>
            <a:off x="508000" y="1358900"/>
            <a:ext cx="8483600" cy="431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20700" y="1371600"/>
            <a:ext cx="8458200" cy="812800"/>
          </a:xfrm>
          <a:prstGeom prst="rect">
            <a:avLst/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Akses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60400" y="2374900"/>
            <a:ext cx="8229600" cy="3276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21310" indent="-321310">
              <a:spcAft>
                <a:spcPts val="700"/>
              </a:spcAft>
              <a:buFont typeface="Arial"/>
              <a:buChar char="•"/>
              <a:defRPr sz="2300" b="0">
                <a:solidFill>
                  <a:srgbClr val="10171E"/>
                </a:solidFill>
                <a:latin typeface="Arial"/>
              </a:defRPr>
            </a:pPr>
            <a:r>
              <a:rPr sz="2300" b="0">
                <a:solidFill>
                  <a:srgbClr val="10171E"/>
                </a:solidFill>
                <a:latin typeface="Arial"/>
              </a:rPr>
              <a:t>Login dengan token JWT, password disimpan bcrypt</a:t>
            </a:r>
          </a:p>
          <a:p>
            <a:pPr marL="321310" indent="-321310">
              <a:spcAft>
                <a:spcPts val="700"/>
              </a:spcAft>
              <a:buFont typeface="Arial"/>
              <a:buChar char="•"/>
              <a:defRPr sz="2300" b="0">
                <a:solidFill>
                  <a:srgbClr val="10171E"/>
                </a:solidFill>
                <a:latin typeface="Arial"/>
              </a:defRPr>
            </a:pPr>
            <a:r>
              <a:rPr sz="2300" b="0">
                <a:solidFill>
                  <a:srgbClr val="10171E"/>
                </a:solidFill>
                <a:latin typeface="Arial"/>
              </a:rPr>
              <a:t>Percobaan login dibatasi: 5 gagal per akun dalam 10 menit</a:t>
            </a:r>
          </a:p>
          <a:p>
            <a:pPr marL="321310" indent="-321310">
              <a:spcAft>
                <a:spcPts val="700"/>
              </a:spcAft>
              <a:buFont typeface="Arial"/>
              <a:buChar char="•"/>
              <a:defRPr sz="2300" b="0">
                <a:solidFill>
                  <a:srgbClr val="10171E"/>
                </a:solidFill>
                <a:latin typeface="Arial"/>
              </a:defRPr>
            </a:pPr>
            <a:r>
              <a:rPr sz="2300" b="0">
                <a:solidFill>
                  <a:srgbClr val="10171E"/>
                </a:solidFill>
                <a:latin typeface="Arial"/>
              </a:rPr>
              <a:t>Peran menentukan modul dan lokasi, dicek di server</a:t>
            </a:r>
          </a:p>
          <a:p>
            <a:pPr marL="321310" indent="-321310">
              <a:spcAft>
                <a:spcPts val="700"/>
              </a:spcAft>
              <a:buFont typeface="Arial"/>
              <a:buChar char="•"/>
              <a:defRPr sz="2300" b="0">
                <a:solidFill>
                  <a:srgbClr val="10171E"/>
                </a:solidFill>
                <a:latin typeface="Arial"/>
              </a:defRPr>
            </a:pPr>
            <a:r>
              <a:rPr sz="2300" b="0">
                <a:solidFill>
                  <a:srgbClr val="10171E"/>
                </a:solidFill>
                <a:latin typeface="Arial"/>
              </a:rPr>
              <a:t>API key hanya membaca, tanpa akses Admin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9309100" y="1358900"/>
            <a:ext cx="8483600" cy="431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21800" y="1371600"/>
            <a:ext cx="8458200" cy="812800"/>
          </a:xfrm>
          <a:prstGeom prst="rect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Data dan rahasia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461500" y="2374900"/>
            <a:ext cx="8229600" cy="3276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21310" indent="-321310">
              <a:spcAft>
                <a:spcPts val="700"/>
              </a:spcAft>
              <a:buFont typeface="Arial"/>
              <a:buChar char="•"/>
              <a:defRPr sz="2300" b="0">
                <a:solidFill>
                  <a:srgbClr val="10171E"/>
                </a:solidFill>
                <a:latin typeface="Arial"/>
              </a:defRPr>
            </a:pPr>
            <a:r>
              <a:rPr sz="2300" b="0">
                <a:solidFill>
                  <a:srgbClr val="10171E"/>
                </a:solidFill>
                <a:latin typeface="Arial"/>
              </a:rPr>
              <a:t>Token, SMTP, dan URL webhook dienkripsi di database</a:t>
            </a:r>
          </a:p>
          <a:p>
            <a:pPr marL="321310" indent="-321310">
              <a:spcAft>
                <a:spcPts val="700"/>
              </a:spcAft>
              <a:buFont typeface="Arial"/>
              <a:buChar char="•"/>
              <a:defRPr sz="2300" b="0">
                <a:solidFill>
                  <a:srgbClr val="10171E"/>
                </a:solidFill>
                <a:latin typeface="Arial"/>
              </a:defRPr>
            </a:pPr>
            <a:r>
              <a:rPr sz="2300" b="0">
                <a:solidFill>
                  <a:srgbClr val="10171E"/>
                </a:solidFill>
                <a:latin typeface="Arial"/>
              </a:rPr>
              <a:t>Kunci enkripsi hanya ada di file .env server</a:t>
            </a:r>
          </a:p>
          <a:p>
            <a:pPr marL="321310" indent="-321310">
              <a:spcAft>
                <a:spcPts val="700"/>
              </a:spcAft>
              <a:buFont typeface="Arial"/>
              <a:buChar char="•"/>
              <a:defRPr sz="2300" b="0">
                <a:solidFill>
                  <a:srgbClr val="10171E"/>
                </a:solidFill>
                <a:latin typeface="Arial"/>
              </a:defRPr>
            </a:pPr>
            <a:r>
              <a:rPr sz="2300" b="0">
                <a:solidFill>
                  <a:srgbClr val="10171E"/>
                </a:solidFill>
                <a:latin typeface="Arial"/>
              </a:rPr>
              <a:t>Akses database hanya dari localhost</a:t>
            </a:r>
          </a:p>
          <a:p>
            <a:pPr marL="321310" indent="-321310">
              <a:spcAft>
                <a:spcPts val="700"/>
              </a:spcAft>
              <a:buFont typeface="Arial"/>
              <a:buChar char="•"/>
              <a:defRPr sz="2300" b="0">
                <a:solidFill>
                  <a:srgbClr val="10171E"/>
                </a:solidFill>
                <a:latin typeface="Arial"/>
              </a:defRPr>
            </a:pPr>
            <a:r>
              <a:rPr sz="2300" b="0">
                <a:solidFill>
                  <a:srgbClr val="10171E"/>
                </a:solidFill>
                <a:latin typeface="Arial"/>
              </a:rPr>
              <a:t>Dokumentasi API dimatikan di produksi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508000" y="5930900"/>
            <a:ext cx="8483600" cy="317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20700" y="5943600"/>
            <a:ext cx="8458200" cy="812800"/>
          </a:xfrm>
          <a:prstGeom prst="rect">
            <a:avLst/>
          </a:prstGeom>
          <a:solidFill>
            <a:srgbClr val="25B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Peramban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60400" y="6946900"/>
            <a:ext cx="8229600" cy="2133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Content Security Policy, anti-iframe, nosniff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Respons API tidak disimpan di cache peramban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9309100" y="5930900"/>
            <a:ext cx="8483600" cy="317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21800" y="5943600"/>
            <a:ext cx="8458200" cy="8128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Jejak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461500" y="6946900"/>
            <a:ext cx="8229600" cy="2133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Setiap perubahan admin masuk audit log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Akun uji diblokir saat mode produksi (ITOC_ENV=production)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13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Teknologi yang Digunakan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aphicFrame>
        <p:nvGraphicFramePr>
          <p:cNvPr id="202" name="Table 201"/>
          <p:cNvGraphicFramePr>
            <a:graphicFrameLocks noGrp="1"/>
          </p:cNvGraphicFramePr>
          <p:nvPr/>
        </p:nvGraphicFramePr>
        <p:xfrm>
          <a:off x="508000" y="1358900"/>
          <a:ext cx="17284698" cy="81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4023"/>
                <a:gridCol w="7277768"/>
                <a:gridCol w="6822907"/>
              </a:tblGrid>
              <a:tr h="1016000">
                <a:tc>
                  <a:txBody>
                    <a:bodyPr/>
                    <a:lstStyle/>
                    <a:p>
                      <a:pPr algn="l">
                        <a:defRPr sz="2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Lapisan</a:t>
                      </a:r>
                    </a:p>
                  </a:txBody>
                  <a:tcPr anchor="ctr" marL="101600" marR="101600"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Teknologi</a:t>
                      </a:r>
                    </a:p>
                  </a:txBody>
                  <a:tcPr anchor="ctr" marL="101600" marR="101600"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Peran</a:t>
                      </a:r>
                    </a:p>
                  </a:txBody>
                  <a:tcPr anchor="ctr" marL="101600" marR="101600">
                    <a:solidFill>
                      <a:srgbClr val="0B2F6B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1">
                          <a:solidFill>
                            <a:srgbClr val="10171E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0">
                          <a:solidFill>
                            <a:srgbClr val="10171E"/>
                          </a:solidFill>
                          <a:latin typeface="Arial"/>
                        </a:rPr>
                        <a:t>Python 3.12, FastAPI, SQLAlchemy 2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0">
                          <a:solidFill>
                            <a:srgbClr val="10171E"/>
                          </a:solidFill>
                          <a:latin typeface="Arial"/>
                        </a:rPr>
                        <a:t>API, perhitungan, laporan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1">
                          <a:solidFill>
                            <a:srgbClr val="10171E"/>
                          </a:solidFill>
                          <a:latin typeface="Arial"/>
                        </a:rPr>
                        <a:t>Database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0">
                          <a:solidFill>
                            <a:srgbClr val="10171E"/>
                          </a:solidFill>
                          <a:latin typeface="Arial"/>
                        </a:rPr>
                        <a:t>PostgreSQL 16, migrasi Alembic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0">
                          <a:solidFill>
                            <a:srgbClr val="10171E"/>
                          </a:solidFill>
                          <a:latin typeface="Arial"/>
                        </a:rPr>
                        <a:t>Data operasional dan konfigurasi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1">
                          <a:solidFill>
                            <a:srgbClr val="10171E"/>
                          </a:solidFill>
                          <a:latin typeface="Arial"/>
                        </a:rPr>
                        <a:t>Penjadwal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0">
                          <a:solidFill>
                            <a:srgbClr val="10171E"/>
                          </a:solidFill>
                          <a:latin typeface="Arial"/>
                        </a:rPr>
                        <a:t>APScheduler pada layanan worker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0">
                          <a:solidFill>
                            <a:srgbClr val="10171E"/>
                          </a:solidFill>
                          <a:latin typeface="Arial"/>
                        </a:rPr>
                        <a:t>Sinkron ManageEngine dan PRTG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1">
                          <a:solidFill>
                            <a:srgbClr val="10171E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0">
                          <a:solidFill>
                            <a:srgbClr val="10171E"/>
                          </a:solidFill>
                          <a:latin typeface="Arial"/>
                        </a:rPr>
                        <a:t>JavaScript tanpa framework, HTML, CSS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0">
                          <a:solidFill>
                            <a:srgbClr val="10171E"/>
                          </a:solidFill>
                          <a:latin typeface="Arial"/>
                        </a:rPr>
                        <a:t>Tampilan, grafik SVG, kustomisasi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1">
                          <a:solidFill>
                            <a:srgbClr val="10171E"/>
                          </a:solidFill>
                          <a:latin typeface="Arial"/>
                        </a:rPr>
                        <a:t>Laporan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0">
                          <a:solidFill>
                            <a:srgbClr val="10171E"/>
                          </a:solidFill>
                          <a:latin typeface="Arial"/>
                        </a:rPr>
                        <a:t>openpyxl, ReportLab, python-pptx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0">
                          <a:solidFill>
                            <a:srgbClr val="10171E"/>
                          </a:solidFill>
                          <a:latin typeface="Arial"/>
                        </a:rPr>
                        <a:t>Excel, PDF, PowerPoint dari template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1">
                          <a:solidFill>
                            <a:srgbClr val="10171E"/>
                          </a:solidFill>
                          <a:latin typeface="Arial"/>
                        </a:rPr>
                        <a:t>Keamanan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0">
                          <a:solidFill>
                            <a:srgbClr val="10171E"/>
                          </a:solidFill>
                          <a:latin typeface="Arial"/>
                        </a:rPr>
                        <a:t>PyJWT, bcrypt, cryptography (Fernet)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0">
                          <a:solidFill>
                            <a:srgbClr val="10171E"/>
                          </a:solidFill>
                          <a:latin typeface="Arial"/>
                        </a:rPr>
                        <a:t>Token, password, enkripsi rahasia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1">
                          <a:solidFill>
                            <a:srgbClr val="10171E"/>
                          </a:solidFill>
                          <a:latin typeface="Arial"/>
                        </a:rPr>
                        <a:t>Penyebaran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0">
                          <a:solidFill>
                            <a:srgbClr val="10171E"/>
                          </a:solidFill>
                          <a:latin typeface="Arial"/>
                        </a:rPr>
                        <a:t>Docker Compose: api, worker, db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300" b="0">
                          <a:solidFill>
                            <a:srgbClr val="10171E"/>
                          </a:solidFill>
                          <a:latin typeface="Arial"/>
                        </a:rPr>
                        <a:t>Satu perintah untuk menjalankan semua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14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Rencana Penyebaran dan Spesifikasi Server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Rounded Rectangle 201"/>
          <p:cNvSpPr/>
          <p:nvPr/>
        </p:nvSpPr>
        <p:spPr>
          <a:xfrm>
            <a:off x="508000" y="1384300"/>
            <a:ext cx="3152140" cy="1651000"/>
          </a:xfrm>
          <a:prstGeom prst="roundRect">
            <a:avLst>
              <a:gd name="adj" fmla="val 12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rPr sz="2500" b="1">
                <a:solidFill>
                  <a:srgbClr val="FFFFFF"/>
                </a:solidFill>
                <a:latin typeface="Arial"/>
              </a:rPr>
              <a:t>1. Repository</a:t>
            </a:r>
          </a:p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sz="2000" b="0">
                <a:solidFill>
                  <a:srgbClr val="FFFFFF"/>
                </a:solidFill>
                <a:latin typeface="Arial"/>
              </a:rPr>
              <a:t>Kode di repository private, rahasia di .env</a:t>
            </a:r>
          </a:p>
        </p:txBody>
      </p:sp>
      <p:sp>
        <p:nvSpPr>
          <p:cNvPr id="203" name="Right Arrow 202"/>
          <p:cNvSpPr/>
          <p:nvPr/>
        </p:nvSpPr>
        <p:spPr>
          <a:xfrm>
            <a:off x="3685540" y="2019300"/>
            <a:ext cx="330200" cy="3302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4041140" y="1384300"/>
            <a:ext cx="3152140" cy="1651000"/>
          </a:xfrm>
          <a:prstGeom prst="roundRect">
            <a:avLst>
              <a:gd name="adj" fmla="val 12000"/>
            </a:avLst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rPr sz="2500" b="1">
                <a:solidFill>
                  <a:srgbClr val="FFFFFF"/>
                </a:solidFill>
                <a:latin typeface="Arial"/>
              </a:rPr>
              <a:t>2. Server</a:t>
            </a:r>
          </a:p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sz="2000" b="0">
                <a:solidFill>
                  <a:srgbClr val="FFFFFF"/>
                </a:solidFill>
                <a:latin typeface="Arial"/>
              </a:rPr>
              <a:t>Linux, Docker, HTTPS lewat reverse proxy</a:t>
            </a:r>
          </a:p>
        </p:txBody>
      </p:sp>
      <p:sp>
        <p:nvSpPr>
          <p:cNvPr id="205" name="Right Arrow 204"/>
          <p:cNvSpPr/>
          <p:nvPr/>
        </p:nvSpPr>
        <p:spPr>
          <a:xfrm>
            <a:off x="7218680" y="2019300"/>
            <a:ext cx="330200" cy="3302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7574280" y="1384300"/>
            <a:ext cx="3152140" cy="1651000"/>
          </a:xfrm>
          <a:prstGeom prst="roundRect">
            <a:avLst>
              <a:gd name="adj" fmla="val 12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rPr sz="2500" b="1">
                <a:solidFill>
                  <a:srgbClr val="FFFFFF"/>
                </a:solidFill>
                <a:latin typeface="Arial"/>
              </a:rPr>
              <a:t>3. Deploy</a:t>
            </a:r>
          </a:p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sz="2000" b="0">
                <a:solidFill>
                  <a:srgbClr val="FFFFFF"/>
                </a:solidFill>
                <a:latin typeface="Arial"/>
              </a:rPr>
              <a:t>Satu perintah, migrasi otomatis</a:t>
            </a:r>
          </a:p>
        </p:txBody>
      </p:sp>
      <p:sp>
        <p:nvSpPr>
          <p:cNvPr id="207" name="Right Arrow 206"/>
          <p:cNvSpPr/>
          <p:nvPr/>
        </p:nvSpPr>
        <p:spPr>
          <a:xfrm>
            <a:off x="10751819" y="2019300"/>
            <a:ext cx="330200" cy="3302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11107419" y="1384300"/>
            <a:ext cx="3152140" cy="1651000"/>
          </a:xfrm>
          <a:prstGeom prst="roundRect">
            <a:avLst>
              <a:gd name="adj" fmla="val 12000"/>
            </a:avLst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rPr sz="2500" b="1">
                <a:solidFill>
                  <a:srgbClr val="FFFFFF"/>
                </a:solidFill>
                <a:latin typeface="Arial"/>
              </a:rPr>
              <a:t>4. Data</a:t>
            </a:r>
          </a:p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sz="2000" b="0">
                <a:solidFill>
                  <a:srgbClr val="FFFFFF"/>
                </a:solidFill>
                <a:latin typeface="Arial"/>
              </a:rPr>
              <a:t>Pindahkan database atau unggah ulang RAW</a:t>
            </a:r>
          </a:p>
        </p:txBody>
      </p:sp>
      <p:sp>
        <p:nvSpPr>
          <p:cNvPr id="209" name="Right Arrow 208"/>
          <p:cNvSpPr/>
          <p:nvPr/>
        </p:nvSpPr>
        <p:spPr>
          <a:xfrm>
            <a:off x="14284960" y="2019300"/>
            <a:ext cx="330200" cy="33020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14640560" y="1384300"/>
            <a:ext cx="3152140" cy="1651000"/>
          </a:xfrm>
          <a:prstGeom prst="roundRect">
            <a:avLst>
              <a:gd name="adj" fmla="val 12000"/>
            </a:avLst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2500" b="1">
                <a:solidFill>
                  <a:srgbClr val="FFFFFF"/>
                </a:solidFill>
                <a:latin typeface="Arial"/>
              </a:defRPr>
            </a:pPr>
            <a:r>
              <a:rPr sz="2500" b="1">
                <a:solidFill>
                  <a:srgbClr val="FFFFFF"/>
                </a:solidFill>
                <a:latin typeface="Arial"/>
              </a:rPr>
              <a:t>5. Operasi</a:t>
            </a:r>
          </a:p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sz="2000" b="0">
                <a:solidFill>
                  <a:srgbClr val="FFFFFF"/>
                </a:solidFill>
                <a:latin typeface="Arial"/>
              </a:rPr>
              <a:t>Backup harian, update lewat git</a:t>
            </a:r>
          </a:p>
        </p:txBody>
      </p:sp>
      <p:graphicFrame>
        <p:nvGraphicFramePr>
          <p:cNvPr id="211" name="Table 210"/>
          <p:cNvGraphicFramePr>
            <a:graphicFrameLocks noGrp="1"/>
          </p:cNvGraphicFramePr>
          <p:nvPr/>
        </p:nvGraphicFramePr>
        <p:xfrm>
          <a:off x="508000" y="3568700"/>
          <a:ext cx="1728469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838"/>
                <a:gridCol w="2749838"/>
                <a:gridCol w="1964170"/>
                <a:gridCol w="3142672"/>
                <a:gridCol w="6678179"/>
              </a:tblGrid>
              <a:tr h="914400"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</a:rPr>
                        <a:t>Tingkat</a:t>
                      </a:r>
                    </a:p>
                  </a:txBody>
                  <a:tcPr anchor="ctr" marL="101600" marR="101600"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</a:rPr>
                        <a:t>CPU</a:t>
                      </a:r>
                    </a:p>
                  </a:txBody>
                  <a:tcPr anchor="ctr" marL="101600" marR="101600"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</a:rPr>
                        <a:t>RAM</a:t>
                      </a:r>
                    </a:p>
                  </a:txBody>
                  <a:tcPr anchor="ctr" marL="101600" marR="101600"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</a:rPr>
                        <a:t>Disk</a:t>
                      </a:r>
                    </a:p>
                  </a:txBody>
                  <a:tcPr anchor="ctr" marL="101600" marR="101600">
                    <a:solidFill>
                      <a:srgbClr val="0B2F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</a:rPr>
                        <a:t>Cocok untuk</a:t>
                      </a:r>
                    </a:p>
                  </a:txBody>
                  <a:tcPr anchor="ctr" marL="101600" marR="101600">
                    <a:solidFill>
                      <a:srgbClr val="0B2F6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1">
                          <a:solidFill>
                            <a:srgbClr val="10171E"/>
                          </a:solidFill>
                          <a:latin typeface="Arial"/>
                        </a:rPr>
                        <a:t>Minimum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2 vCPU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4 GB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40 GB SSD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Pilot, puluhan pengguna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1">
                          <a:solidFill>
                            <a:srgbClr val="10171E"/>
                          </a:solidFill>
                          <a:latin typeface="Arial"/>
                        </a:rPr>
                        <a:t>Rekomendasi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4 vCPU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8 GB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100 GB SSD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Produksi 2 sampai 3 tahun, 100 sampai 200 pengguna</a:t>
                      </a:r>
                    </a:p>
                  </a:txBody>
                  <a:tcPr anchor="ctr" marL="101600" marR="101600">
                    <a:solidFill>
                      <a:srgbClr val="F3F6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defRPr sz="2200" b="1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1">
                          <a:solidFill>
                            <a:srgbClr val="10171E"/>
                          </a:solidFill>
                          <a:latin typeface="Arial"/>
                        </a:rPr>
                        <a:t>Jangka panjang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4 sampai 8 vCPU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16 GB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200 GB SSD + backup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200" b="0">
                          <a:solidFill>
                            <a:srgbClr val="10171E"/>
                          </a:solidFill>
                          <a:latin typeface="Arial"/>
                        </a:defRPr>
                      </a:pPr>
                      <a:r>
                        <a:rPr sz="2200" b="0">
                          <a:solidFill>
                            <a:srgbClr val="10171E"/>
                          </a:solidFill>
                          <a:latin typeface="Arial"/>
                        </a:rPr>
                        <a:t>Integrasi tambahan, riwayat 5 tahun atau lebih</a:t>
                      </a:r>
                    </a:p>
                  </a:txBody>
                  <a:tcPr anchor="ctr" marL="101600" marR="101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2" name="TextBox 211"/>
          <p:cNvSpPr txBox="1"/>
          <p:nvPr/>
        </p:nvSpPr>
        <p:spPr>
          <a:xfrm>
            <a:off x="508000" y="7886700"/>
            <a:ext cx="17284700" cy="1397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>
              <a:defRPr sz="2400" b="0">
                <a:solidFill>
                  <a:srgbClr val="6B7280"/>
                </a:solidFill>
                <a:latin typeface="Arial"/>
              </a:defRPr>
            </a:pPr>
            <a:r>
              <a:rPr sz="2400" b="0">
                <a:solidFill>
                  <a:srgbClr val="6B7280"/>
                </a:solidFill>
                <a:latin typeface="Arial"/>
              </a:rPr>
              <a:t>Ukuran data saat ini sekitar 15 MB dan aplikasi memakai sekitar 280 MB RAM, jadi spesifikasi di atas memberi ruang tumbuh beberapa tahun. Satu server cukup; database dipisah hanya bila perlu ketersediaan tinggi.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90" name="Google Shape;190;p3"/>
          <p:cNvGrpSpPr/>
          <p:nvPr/>
        </p:nvGrpSpPr>
        <p:grpSpPr>
          <a:xfrm>
            <a:off x="-339536" y="0"/>
            <a:ext cx="19892586" cy="1092534"/>
            <a:chOff x="0" y="0"/>
            <a:chExt cx="5239200" cy="287745"/>
          </a:xfrm>
        </p:grpSpPr>
        <p:sp>
          <p:nvSpPr>
            <p:cNvPr id="191" name="Google Shape;191;p3"/>
            <p:cNvSpPr/>
            <p:nvPr/>
          </p:nvSpPr>
          <p:spPr>
            <a:xfrm>
              <a:off x="0" y="0"/>
              <a:ext cx="5239200" cy="287745"/>
            </a:xfrm>
            <a:custGeom>
              <a:avLst/>
              <a:gdLst/>
              <a:ahLst/>
              <a:cxnLst/>
              <a:rect l="l" t="t" r="r" b="b"/>
              <a:pathLst>
                <a:path w="5239200" h="287745" extrusionOk="0">
                  <a:moveTo>
                    <a:pt x="7784" y="0"/>
                  </a:moveTo>
                  <a:lnTo>
                    <a:pt x="5231416" y="0"/>
                  </a:lnTo>
                  <a:cubicBezTo>
                    <a:pt x="5235715" y="0"/>
                    <a:pt x="5239200" y="3485"/>
                    <a:pt x="5239200" y="7784"/>
                  </a:cubicBezTo>
                  <a:lnTo>
                    <a:pt x="5239200" y="279962"/>
                  </a:lnTo>
                  <a:cubicBezTo>
                    <a:pt x="5239200" y="284261"/>
                    <a:pt x="5235715" y="287745"/>
                    <a:pt x="5231416" y="287745"/>
                  </a:cubicBezTo>
                  <a:lnTo>
                    <a:pt x="7784" y="287745"/>
                  </a:lnTo>
                  <a:cubicBezTo>
                    <a:pt x="5719" y="287745"/>
                    <a:pt x="3740" y="286925"/>
                    <a:pt x="2280" y="285466"/>
                  </a:cubicBezTo>
                  <a:cubicBezTo>
                    <a:pt x="820" y="284006"/>
                    <a:pt x="0" y="282026"/>
                    <a:pt x="0" y="279962"/>
                  </a:cubicBezTo>
                  <a:lnTo>
                    <a:pt x="0" y="7784"/>
                  </a:lnTo>
                  <a:cubicBezTo>
                    <a:pt x="0" y="5719"/>
                    <a:pt x="820" y="3740"/>
                    <a:pt x="2280" y="2280"/>
                  </a:cubicBezTo>
                  <a:cubicBezTo>
                    <a:pt x="3740" y="820"/>
                    <a:pt x="5719" y="0"/>
                    <a:pt x="7784" y="0"/>
                  </a:cubicBezTo>
                  <a:close/>
                </a:path>
              </a:pathLst>
            </a:custGeom>
            <a:gradFill>
              <a:gsLst>
                <a:gs pos="0">
                  <a:srgbClr val="001C4F"/>
                </a:gs>
                <a:gs pos="100000">
                  <a:srgbClr val="2BBAEB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Google Shape;192;p3"/>
            <p:cNvSpPr txBox="1"/>
            <p:nvPr/>
          </p:nvSpPr>
          <p:spPr>
            <a:xfrm>
              <a:off x="0" y="0"/>
              <a:ext cx="5239200" cy="2877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17356957" y="9478984"/>
            <a:ext cx="1524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15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634169" y="365799"/>
            <a:ext cx="1352171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n-NO" sz="32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Rencana Pengembangan</a:t>
            </a:r>
          </a:p>
        </p:txBody>
      </p:sp>
      <p:sp>
        <p:nvSpPr>
          <p:cNvPr id="199" name="Google Shape;199;p3"/>
          <p:cNvSpPr/>
          <p:nvPr/>
        </p:nvSpPr>
        <p:spPr>
          <a:xfrm>
            <a:off x="0" y="7901051"/>
            <a:ext cx="2040715" cy="2385949"/>
          </a:xfrm>
          <a:custGeom>
            <a:avLst/>
            <a:gdLst/>
            <a:ahLst/>
            <a:cxnLst/>
            <a:rect l="l" t="t" r="r" b="b"/>
            <a:pathLst>
              <a:path w="2040715" h="2385949" extrusionOk="0">
                <a:moveTo>
                  <a:pt x="0" y="0"/>
                </a:moveTo>
                <a:lnTo>
                  <a:pt x="2040715" y="0"/>
                </a:lnTo>
                <a:lnTo>
                  <a:pt x="2040715" y="2385949"/>
                </a:lnTo>
                <a:lnTo>
                  <a:pt x="0" y="23859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"/>
            </a:blip>
            <a:stretch>
              <a:fillRect/>
            </a:stretch>
          </a:blipFill>
          <a:ln>
            <a:noFill/>
          </a:ln>
        </p:spPr>
      </p:sp>
      <p:sp>
        <p:nvSpPr>
          <p:cNvPr id="200" name="Google Shape;200;p3"/>
          <p:cNvSpPr/>
          <p:nvPr/>
        </p:nvSpPr>
        <p:spPr>
          <a:xfrm>
            <a:off x="16442089" y="390314"/>
            <a:ext cx="1468348" cy="294021"/>
          </a:xfrm>
          <a:custGeom>
            <a:avLst/>
            <a:gdLst/>
            <a:ahLst/>
            <a:cxnLst/>
            <a:rect l="l" t="t" r="r" b="b"/>
            <a:pathLst>
              <a:path w="1468348" h="294021" extrusionOk="0">
                <a:moveTo>
                  <a:pt x="0" y="0"/>
                </a:moveTo>
                <a:lnTo>
                  <a:pt x="1468348" y="0"/>
                </a:lnTo>
                <a:lnTo>
                  <a:pt x="1468348" y="294021"/>
                </a:lnTo>
                <a:lnTo>
                  <a:pt x="0" y="294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051"/>
            </a:stretch>
          </a:blipFill>
          <a:ln>
            <a:noFill/>
          </a:ln>
        </p:spPr>
      </p:sp>
      <p:sp>
        <p:nvSpPr>
          <p:cNvPr id="201" name="Google Shape;201;p3"/>
          <p:cNvSpPr/>
          <p:nvPr/>
        </p:nvSpPr>
        <p:spPr>
          <a:xfrm>
            <a:off x="14779106" y="331954"/>
            <a:ext cx="1428750" cy="428625"/>
          </a:xfrm>
          <a:custGeom>
            <a:avLst/>
            <a:gdLst/>
            <a:ahLst/>
            <a:cxnLst/>
            <a:rect l="l" t="t" r="r" b="b"/>
            <a:pathLst>
              <a:path w="1428750" h="428625" extrusionOk="0">
                <a:moveTo>
                  <a:pt x="0" y="0"/>
                </a:moveTo>
                <a:lnTo>
                  <a:pt x="1428750" y="0"/>
                </a:lnTo>
                <a:lnTo>
                  <a:pt x="1428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Rounded Rectangle 201"/>
          <p:cNvSpPr/>
          <p:nvPr/>
        </p:nvSpPr>
        <p:spPr>
          <a:xfrm>
            <a:off x="508000" y="1460500"/>
            <a:ext cx="5588000" cy="673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20700" y="1473200"/>
            <a:ext cx="5562600" cy="812800"/>
          </a:xfrm>
          <a:prstGeom prst="rect">
            <a:avLst/>
          </a:prstGeom>
          <a:solidFill>
            <a:srgbClr val="0B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Dekat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60400" y="2476500"/>
            <a:ext cx="5334000" cy="5689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Sambungkan API ManageEngine dan PRTG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Email laporan terjadwal lewat SMTP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Backup otomatis dan uji restore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Nonaktifkan akun uji sebelum produksi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350000" y="1460500"/>
            <a:ext cx="5588000" cy="673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362700" y="1473200"/>
            <a:ext cx="5562600" cy="812800"/>
          </a:xfrm>
          <a:prstGeom prst="rect">
            <a:avLst/>
          </a:prstGeom>
          <a:solidFill>
            <a:srgbClr val="0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Menengah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502400" y="2476500"/>
            <a:ext cx="5334000" cy="5689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Katalog widget agar blok baru bisa ditambah dari Customize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Notifikasi webhook untuk link down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Pembersihan data lama (retention)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Font disimpan lokal untuk jaringan tertutup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12192000" y="1460500"/>
            <a:ext cx="5600700" cy="673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2204700" y="1473200"/>
            <a:ext cx="5575300" cy="812800"/>
          </a:xfrm>
          <a:prstGeom prst="rect">
            <a:avLst/>
          </a:prstGeom>
          <a:solidFill>
            <a:srgbClr val="25B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</a:rPr>
              <a:t>Panjang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2344400" y="2476500"/>
            <a:ext cx="5346700" cy="5689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Panorama lewat API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Pemisahan database bila pengguna bertambah banyak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Pemantauan layanan dan peringatan sistem</a:t>
            </a:r>
          </a:p>
          <a:p>
            <a:pPr marL="377190" indent="-377190">
              <a:spcAft>
                <a:spcPts val="700"/>
              </a:spcAft>
              <a:buFont typeface="Arial"/>
              <a:buChar char="•"/>
              <a:defRPr sz="2700" b="0">
                <a:solidFill>
                  <a:srgbClr val="10171E"/>
                </a:solidFill>
                <a:latin typeface="Arial"/>
              </a:defRPr>
            </a:pPr>
            <a:r>
              <a:rPr sz="2700" b="0">
                <a:solidFill>
                  <a:srgbClr val="10171E"/>
                </a:solidFill>
                <a:latin typeface="Arial"/>
              </a:rPr>
              <a:t>Integrasi login terpusat bila diperlukan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1913</Words>
  <Application>Microsoft Office PowerPoint</Application>
  <PresentationFormat>Custom</PresentationFormat>
  <Paragraphs>1175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Andika Sandy Sutiawan</dc:creator>
  <cp:lastModifiedBy>Andika Sandy Sutiawan</cp:lastModifiedBy>
  <cp:revision>9</cp:revision>
  <dcterms:created xsi:type="dcterms:W3CDTF">2006-08-16T00:00:00Z</dcterms:created>
  <dcterms:modified xsi:type="dcterms:W3CDTF">2026-10-18T17:22:29Z</dcterms:modified>
</cp:coreProperties>
</file>