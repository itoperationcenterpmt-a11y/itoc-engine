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8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75" r:id="rId21"/>
    <p:sldId id="276" r:id="rId20"/>
    <p:sldId id="277" r:id="rId19"/>
    <p:sldId id="278" r:id="rId18"/>
    <p:sldId id="279" r:id="rId17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72" r:id="rId11"/>
  </p:sldIdLst>
  <p:sldSz cx="18288000" cy="10287000"/>
  <p:notesSz cx="6858000" cy="9144000"/>
  <p:embeddedFontLst>
    <p:embeddedFont>
      <p:font typeface="Montserrat" panose="00000500000000000000" pitchFamily="2" charset="0"/>
      <p:regular r:id="rId13"/>
      <p:bold r:id="rId14"/>
      <p:italic r:id="rId15"/>
      <p:boldItalic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h0MzjfnR98qwBSfw9Js9uMyno10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828" y="3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font" Target="fonts/font1.fntdata"/><Relationship Id="rId14" Type="http://schemas.openxmlformats.org/officeDocument/2006/relationships/font" Target="fonts/font2.fntdata"/><Relationship Id="rId15" Type="http://schemas.openxmlformats.org/officeDocument/2006/relationships/font" Target="fonts/font3.fntdata"/><Relationship Id="rId16" Type="http://schemas.openxmlformats.org/officeDocument/2006/relationships/font" Target="fonts/font4.fntdata"/><Relationship Id="rId17" Type="http://schemas.openxmlformats.org/officeDocument/2006/relationships/slide" Target="slides/slide15.xml"/><Relationship Id="rId18" Type="http://schemas.openxmlformats.org/officeDocument/2006/relationships/slide" Target="slides/slide14.xml"/><Relationship Id="rId19" Type="http://schemas.openxmlformats.org/officeDocument/2006/relationships/slide" Target="slides/slide13.xml"/><Relationship Id="rId20" Type="http://schemas.openxmlformats.org/officeDocument/2006/relationships/slide" Target="slides/slide12.xml"/><Relationship Id="rId21" Type="http://schemas.openxmlformats.org/officeDocument/2006/relationships/slide" Target="slides/slide11.xml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Jumlah baris</c:v>
                </c:pt>
              </c:strCache>
            </c:strRef>
          </c:tx>
          <c:spPr>
            <a:solidFill>
              <a:srgbClr val="0B75BB"/>
            </a:solidFill>
          </c:spPr>
          <c:cat>
            <c:strRef>
              <c:f>Sheet1!$A$2:$A$9</c:f>
              <c:strCache>
                <c:ptCount val="8"/>
                <c:pt idx="0">
                  <c:v>Data trafik PRTG per jam</c:v>
                </c:pt>
                <c:pt idx="1">
                  <c:v>Sesi WiFi</c:v>
                </c:pt>
                <c:pt idx="2">
                  <c:v>Kejadian down Zabbix</c:v>
                </c:pt>
                <c:pt idx="3">
                  <c:v>Tiket</c:v>
                </c:pt>
                <c:pt idx="4">
                  <c:v>Perangkat Zabbix</c:v>
                </c:pt>
                <c:pt idx="5">
                  <c:v>Hari SOC (ringkasan)</c:v>
                </c:pt>
                <c:pt idx="6">
                  <c:v>Access Point</c:v>
                </c:pt>
                <c:pt idx="7">
                  <c:v>Alert XDR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35427</c:v>
                </c:pt>
                <c:pt idx="1">
                  <c:v>13496</c:v>
                </c:pt>
                <c:pt idx="2">
                  <c:v>12946</c:v>
                </c:pt>
                <c:pt idx="3">
                  <c:v>2085</c:v>
                </c:pt>
                <c:pt idx="4">
                  <c:v>1772</c:v>
                </c:pt>
                <c:pt idx="5">
                  <c:v>195</c:v>
                </c:pt>
                <c:pt idx="6">
                  <c:v>186</c:v>
                </c:pt>
                <c:pt idx="7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657">
                  <a:solidFill>
                    <a:srgbClr val="1F2937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E2EC"/>
            </a:solidFill>
          </a:ln>
        </c:spPr>
        <c:txPr>
          <a:bodyPr/>
          <a:lstStyle/>
          <a:p>
            <a:pPr>
              <a:defRPr sz="1657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Pembuka: aplikasi ini adalah satu layar kerja untuk ITOC. Paparan menjelaskan fungsi, arsitektur, data, keamanan, dan langkah berikutnya.</a:t>
            </a:r>
          </a:p>
        </p:txBody>
      </p:sp>
      <p:sp>
        <p:nvSpPr>
          <p:cNvPr id="157" name="Google Shape;15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Pesan utama: konsolidasi data dari enam sistem ke satu aplikasi, tersimpan di database sendiri, dengan input manual tetap sebagai validasi.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Prinsip desain yang menjelaskan banyak keputusan teknis: data disimpan sendiri, manual tidak ditimpa, aksi dibatasi, dan konfigurasi bisa diubah dari menu Admin.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Menu Network dan Cyber Security memiliki ringkasan gabungan dan sub-menu per sumber. Report memuat Handover dan Data.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Alur: konektor di worker menarik data terjadwal ke PostgreSQL; API FastAPI menghitung tampilan dari database; browser hanya menampilkan. Impor manual masuk ke database yang sama.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Setiap sumber punya kartu di Admin &gt; Integrations dengan tombol Test dan Sync now. Panorama memakai jam tetap; yang lain interval.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Angka diambil dari database saat dokumen dibuat. Semua tampilan dan laporan dihitung dari tabel-tabel ini.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Overview menampilkan kartu status per bidang dengan warna, daftar perhatian, siapa yang bertugas, dan panel ringkas tiap sumber. Semua panel bisa diatur lewat Customize.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Network Summary menggabungkan link PRTG dan WiFi Ruckus, termasuk tabel per lokasi. Sub-menu PRTG dan WiFi memuat rincian masing-masing.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Dua sumber keamanan dipisah sebagai NDR (firewall) dan XDR (endpoint). Summary menggabungkan perhatian dan KPI keduanya.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Devices memakai nama host berpola untuk menurunkan lokasi, zona, dan tipe perangkat; kamus kodenya bisa diubah dari Admin.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Bagian operasional harian ITOC: tiket dari ManageEngine, jadwal rotasi, handover antar shift, dan kelengkapan data.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Semua jenis laporan memakai model yang sama: KPI, grafik, tabel, dan catatan. Format Excel, PDF, dan PowerPoint dibuat dari model yang sama sehingga angkanya identik.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Customize memberi kontrol tata letak per halaman dan per role. Katalog widget memuat panel bawaan halaman dan widget tambahan seperti peta per group.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Akses diatur per role: modul yang terlihat, hak unggah RAW, hak admin, dan kunci lokasi. Putus sesi WiFi dibatasi ke Super Admin, Admin, dan username tambahan (koordinator).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Ringkasan dari Panduan-Keamanan.md. Semua rute API wajib login kecuali login, teks publik, dan health.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Hasil pemeriksaan otomatis (security-check) dan pip-audit. Yang masih terbuka adalah langkah di server saat go-live.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Tiga container: database, API, worker. Migrasi dan seed konfigurasi berjalan otomatis saat start. Panduan keamanan memuat contoh Nginx.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Disampaikan terbuka agar ekspektasi tepat: ini dampak dari data yang tersedia di sumber, bukan kekurangan antarmuka.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Usulan urutan kerja. Item bertanda usulan belum disepakati.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0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2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14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4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6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6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3.png"/><Relationship Id="rId8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6.xml"/><Relationship Id="rId6" Type="http://schemas.openxmlformats.org/officeDocument/2006/relationships/chart" Target="../charts/chart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1"/>
          <p:cNvPicPr preferRelativeResize="0"/>
          <p:nvPr/>
        </p:nvPicPr>
        <p:blipFill rotWithShape="1">
          <a:blip r:embed="rId3">
            <a:alphaModFix/>
          </a:blip>
          <a:srcRect t="7812" b="7812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"/>
          <p:cNvSpPr/>
          <p:nvPr/>
        </p:nvSpPr>
        <p:spPr>
          <a:xfrm>
            <a:off x="826964" y="5815525"/>
            <a:ext cx="16687724" cy="3628044"/>
          </a:xfrm>
          <a:custGeom>
            <a:avLst/>
            <a:gdLst/>
            <a:ahLst/>
            <a:cxnLst/>
            <a:rect l="l" t="t" r="r" b="b"/>
            <a:pathLst>
              <a:path w="4365657" h="955377" extrusionOk="0">
                <a:moveTo>
                  <a:pt x="4365657" y="23353"/>
                </a:moveTo>
                <a:lnTo>
                  <a:pt x="4365657" y="932024"/>
                </a:lnTo>
                <a:cubicBezTo>
                  <a:pt x="4365657" y="938218"/>
                  <a:pt x="4363196" y="944158"/>
                  <a:pt x="4358817" y="948537"/>
                </a:cubicBezTo>
                <a:cubicBezTo>
                  <a:pt x="4354437" y="952917"/>
                  <a:pt x="4348497" y="955377"/>
                  <a:pt x="4342304" y="955377"/>
                </a:cubicBezTo>
                <a:lnTo>
                  <a:pt x="23353" y="955377"/>
                </a:lnTo>
                <a:cubicBezTo>
                  <a:pt x="17159" y="955377"/>
                  <a:pt x="11219" y="952917"/>
                  <a:pt x="6840" y="948537"/>
                </a:cubicBezTo>
                <a:cubicBezTo>
                  <a:pt x="2460" y="944158"/>
                  <a:pt x="0" y="938218"/>
                  <a:pt x="0" y="932024"/>
                </a:cubicBezTo>
                <a:lnTo>
                  <a:pt x="0" y="23353"/>
                </a:lnTo>
                <a:cubicBezTo>
                  <a:pt x="0" y="17159"/>
                  <a:pt x="2460" y="11219"/>
                  <a:pt x="6840" y="6840"/>
                </a:cubicBezTo>
                <a:cubicBezTo>
                  <a:pt x="11219" y="2460"/>
                  <a:pt x="17159" y="0"/>
                  <a:pt x="23353" y="0"/>
                </a:cubicBezTo>
                <a:lnTo>
                  <a:pt x="4342304" y="0"/>
                </a:lnTo>
                <a:cubicBezTo>
                  <a:pt x="4348497" y="0"/>
                  <a:pt x="4354437" y="2460"/>
                  <a:pt x="4358817" y="6840"/>
                </a:cubicBezTo>
                <a:cubicBezTo>
                  <a:pt x="4363196" y="11219"/>
                  <a:pt x="4365657" y="17159"/>
                  <a:pt x="4365657" y="23353"/>
                </a:cubicBezTo>
                <a:close/>
              </a:path>
            </a:pathLst>
          </a:custGeom>
          <a:solidFill>
            <a:srgbClr val="FFFFFF">
              <a:alpha val="949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1"/>
          <p:cNvSpPr/>
          <p:nvPr/>
        </p:nvSpPr>
        <p:spPr>
          <a:xfrm>
            <a:off x="-3336150" y="7831835"/>
            <a:ext cx="21624153" cy="1625991"/>
          </a:xfrm>
          <a:custGeom>
            <a:avLst/>
            <a:gdLst/>
            <a:ahLst/>
            <a:cxnLst/>
            <a:rect l="l" t="t" r="r" b="b"/>
            <a:pathLst>
              <a:path w="20994323" h="1578632" extrusionOk="0">
                <a:moveTo>
                  <a:pt x="0" y="0"/>
                </a:moveTo>
                <a:lnTo>
                  <a:pt x="20994323" y="0"/>
                </a:lnTo>
                <a:lnTo>
                  <a:pt x="20994323" y="1578632"/>
                </a:lnTo>
                <a:lnTo>
                  <a:pt x="0" y="15786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39889"/>
            </a:stretch>
          </a:blipFill>
          <a:ln>
            <a:noFill/>
          </a:ln>
        </p:spPr>
      </p:sp>
      <p:sp>
        <p:nvSpPr>
          <p:cNvPr id="162" name="Google Shape;162;p1"/>
          <p:cNvSpPr txBox="1"/>
          <p:nvPr/>
        </p:nvSpPr>
        <p:spPr>
          <a:xfrm>
            <a:off x="11353986" y="9069732"/>
            <a:ext cx="6213000" cy="473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1" i="0" u="none" strike="noStrike" cap="none" dirty="0">
                <a:solidFill>
                  <a:srgbClr val="FEFDFF"/>
                </a:solidFill>
                <a:latin typeface="Arial"/>
                <a:ea typeface="Arial"/>
                <a:cs typeface="Arial"/>
                <a:sym typeface="Arial"/>
              </a:rPr>
              <a:t>www.pelindomultiterminal.co.id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"/>
          <p:cNvSpPr txBox="1"/>
          <p:nvPr/>
        </p:nvSpPr>
        <p:spPr>
          <a:xfrm>
            <a:off x="17452472" y="9824852"/>
            <a:ext cx="56388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/>
          </a:p>
        </p:txBody>
      </p:sp>
      <p:sp>
        <p:nvSpPr>
          <p:cNvPr id="166" name="Google Shape;166;p1"/>
          <p:cNvSpPr txBox="1"/>
          <p:nvPr/>
        </p:nvSpPr>
        <p:spPr>
          <a:xfrm>
            <a:off x="1590707" y="6270898"/>
            <a:ext cx="14511023" cy="1538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99" b="1" i="0" u="none" strike="noStrike" cap="none" dirty="0">
                <a:solidFill>
                  <a:srgbClr val="106DB5"/>
                </a:solidFill>
                <a:latin typeface="Arial"/>
                <a:ea typeface="Arial"/>
                <a:cs typeface="Arial"/>
                <a:sym typeface="Arial"/>
              </a:rPr>
              <a:t>Dashboard IT Pelindo Multi Terminal</a:t>
            </a:r>
            <a:br>
              <a:rPr lang="en-US" sz="4999" b="1" i="0" u="none" strike="noStrike" cap="none" dirty="0">
                <a:solidFill>
                  <a:srgbClr val="106DB5"/>
                </a:solidFill>
                <a:latin typeface="Arial"/>
                <a:ea typeface="Arial"/>
                <a:cs typeface="Arial"/>
                <a:sym typeface="Arial"/>
              </a:rPr>
            </a:br>
            <a:endParaRPr dirty="0"/>
          </a:p>
        </p:txBody>
      </p:sp>
      <p:sp>
        <p:nvSpPr>
          <p:cNvPr id="167" name="Google Shape;167;p1"/>
          <p:cNvSpPr txBox="1"/>
          <p:nvPr/>
        </p:nvSpPr>
        <p:spPr>
          <a:xfrm>
            <a:off x="1603452" y="7776223"/>
            <a:ext cx="14726539" cy="646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99" b="1" i="0" u="none" strike="noStrike" cap="none" dirty="0" err="1">
                <a:solidFill>
                  <a:srgbClr val="073E88"/>
                </a:solidFill>
                <a:latin typeface="Arial"/>
                <a:ea typeface="Arial"/>
                <a:cs typeface="Arial"/>
                <a:sym typeface="Arial"/>
              </a:rPr>
              <a:t>Paparan aplikasi · IT Operation Center</a:t>
            </a:r>
          </a:p>
        </p:txBody>
      </p:sp>
      <p:sp>
        <p:nvSpPr>
          <p:cNvPr id="168" name="Google Shape;168;p1"/>
          <p:cNvSpPr txBox="1"/>
          <p:nvPr/>
        </p:nvSpPr>
        <p:spPr>
          <a:xfrm>
            <a:off x="1590707" y="8424682"/>
            <a:ext cx="3481487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73E88"/>
                </a:solidFill>
                <a:latin typeface="Arial"/>
                <a:ea typeface="Arial"/>
                <a:cs typeface="Arial"/>
                <a:sym typeface="Arial"/>
              </a:rPr>
              <a:t>Oktober 2026</a:t>
            </a:r>
          </a:p>
        </p:txBody>
      </p:sp>
      <p:sp>
        <p:nvSpPr>
          <p:cNvPr id="169" name="Google Shape;169;p1"/>
          <p:cNvSpPr/>
          <p:nvPr/>
        </p:nvSpPr>
        <p:spPr>
          <a:xfrm>
            <a:off x="14119030" y="578428"/>
            <a:ext cx="3448721" cy="987645"/>
          </a:xfrm>
          <a:custGeom>
            <a:avLst/>
            <a:gdLst/>
            <a:ahLst/>
            <a:cxnLst/>
            <a:rect l="l" t="t" r="r" b="b"/>
            <a:pathLst>
              <a:path w="3448721" h="987645" extrusionOk="0">
                <a:moveTo>
                  <a:pt x="0" y="0"/>
                </a:moveTo>
                <a:lnTo>
                  <a:pt x="3448721" y="0"/>
                </a:lnTo>
                <a:lnTo>
                  <a:pt x="3448721" y="987644"/>
                </a:lnTo>
                <a:lnTo>
                  <a:pt x="0" y="9876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t="-30951" r="-6104" b="-23251"/>
            </a:stretch>
          </a:blipFill>
          <a:ln>
            <a:noFill/>
          </a:ln>
        </p:spPr>
      </p:sp>
      <p:sp>
        <p:nvSpPr>
          <p:cNvPr id="170" name="Google Shape;170;p1"/>
          <p:cNvSpPr/>
          <p:nvPr/>
        </p:nvSpPr>
        <p:spPr>
          <a:xfrm>
            <a:off x="1086389" y="660493"/>
            <a:ext cx="2423402" cy="727021"/>
          </a:xfrm>
          <a:custGeom>
            <a:avLst/>
            <a:gdLst/>
            <a:ahLst/>
            <a:cxnLst/>
            <a:rect l="l" t="t" r="r" b="b"/>
            <a:pathLst>
              <a:path w="2423402" h="727021" extrusionOk="0">
                <a:moveTo>
                  <a:pt x="0" y="0"/>
                </a:moveTo>
                <a:lnTo>
                  <a:pt x="2423402" y="0"/>
                </a:lnTo>
                <a:lnTo>
                  <a:pt x="2423402" y="727021"/>
                </a:lnTo>
                <a:lnTo>
                  <a:pt x="0" y="727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7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9259" b="-9259"/>
            </a:stretch>
          </a:blipFill>
          <a:ln>
            <a:noFill/>
          </a:ln>
        </p:spPr>
      </p:sp>
      <p:grpSp>
        <p:nvGrpSpPr>
          <p:cNvPr id="443" name="Google Shape;443;p7"/>
          <p:cNvGrpSpPr/>
          <p:nvPr/>
        </p:nvGrpSpPr>
        <p:grpSpPr>
          <a:xfrm rot="10800000">
            <a:off x="1733817" y="4849217"/>
            <a:ext cx="10925827" cy="4110777"/>
            <a:chOff x="0" y="-66675"/>
            <a:chExt cx="5583383" cy="2100714"/>
          </a:xfrm>
        </p:grpSpPr>
        <p:sp>
          <p:nvSpPr>
            <p:cNvPr id="444" name="Google Shape;444;p7"/>
            <p:cNvSpPr/>
            <p:nvPr/>
          </p:nvSpPr>
          <p:spPr>
            <a:xfrm>
              <a:off x="0" y="0"/>
              <a:ext cx="5583383" cy="2034039"/>
            </a:xfrm>
            <a:custGeom>
              <a:avLst/>
              <a:gdLst/>
              <a:ahLst/>
              <a:cxnLst/>
              <a:rect l="l" t="t" r="r" b="b"/>
              <a:pathLst>
                <a:path w="5583383" h="2034039" extrusionOk="0">
                  <a:moveTo>
                    <a:pt x="18423" y="0"/>
                  </a:moveTo>
                  <a:lnTo>
                    <a:pt x="5564960" y="0"/>
                  </a:lnTo>
                  <a:cubicBezTo>
                    <a:pt x="5569846" y="0"/>
                    <a:pt x="5574532" y="1941"/>
                    <a:pt x="5577987" y="5396"/>
                  </a:cubicBezTo>
                  <a:cubicBezTo>
                    <a:pt x="5581442" y="8851"/>
                    <a:pt x="5583383" y="13537"/>
                    <a:pt x="5583383" y="18423"/>
                  </a:cubicBezTo>
                  <a:lnTo>
                    <a:pt x="5583383" y="2015616"/>
                  </a:lnTo>
                  <a:cubicBezTo>
                    <a:pt x="5583383" y="2020502"/>
                    <a:pt x="5581442" y="2025188"/>
                    <a:pt x="5577987" y="2028643"/>
                  </a:cubicBezTo>
                  <a:cubicBezTo>
                    <a:pt x="5574532" y="2032098"/>
                    <a:pt x="5569846" y="2034039"/>
                    <a:pt x="5564960" y="2034039"/>
                  </a:cubicBezTo>
                  <a:lnTo>
                    <a:pt x="18423" y="2034039"/>
                  </a:lnTo>
                  <a:cubicBezTo>
                    <a:pt x="13537" y="2034039"/>
                    <a:pt x="8851" y="2032098"/>
                    <a:pt x="5396" y="2028643"/>
                  </a:cubicBezTo>
                  <a:cubicBezTo>
                    <a:pt x="1941" y="2025188"/>
                    <a:pt x="0" y="2020502"/>
                    <a:pt x="0" y="2015616"/>
                  </a:cubicBezTo>
                  <a:lnTo>
                    <a:pt x="0" y="18423"/>
                  </a:lnTo>
                  <a:cubicBezTo>
                    <a:pt x="0" y="13537"/>
                    <a:pt x="1941" y="8851"/>
                    <a:pt x="5396" y="5396"/>
                  </a:cubicBezTo>
                  <a:cubicBezTo>
                    <a:pt x="8851" y="1941"/>
                    <a:pt x="13537" y="0"/>
                    <a:pt x="18423" y="0"/>
                  </a:cubicBezTo>
                  <a:close/>
                </a:path>
              </a:pathLst>
            </a:custGeom>
            <a:solidFill>
              <a:srgbClr val="001E51">
                <a:alpha val="32941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7"/>
            <p:cNvSpPr txBox="1"/>
            <p:nvPr/>
          </p:nvSpPr>
          <p:spPr>
            <a:xfrm>
              <a:off x="0" y="-66675"/>
              <a:ext cx="5583383" cy="21007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7"/>
          <p:cNvSpPr/>
          <p:nvPr/>
        </p:nvSpPr>
        <p:spPr>
          <a:xfrm>
            <a:off x="2248327" y="5438735"/>
            <a:ext cx="475063" cy="554009"/>
          </a:xfrm>
          <a:custGeom>
            <a:avLst/>
            <a:gdLst/>
            <a:ahLst/>
            <a:cxnLst/>
            <a:rect l="l" t="t" r="r" b="b"/>
            <a:pathLst>
              <a:path w="475063" h="554009" extrusionOk="0">
                <a:moveTo>
                  <a:pt x="0" y="0"/>
                </a:moveTo>
                <a:lnTo>
                  <a:pt x="475063" y="0"/>
                </a:lnTo>
                <a:lnTo>
                  <a:pt x="475063" y="554010"/>
                </a:lnTo>
                <a:lnTo>
                  <a:pt x="0" y="55401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47" name="Google Shape;447;p7"/>
          <p:cNvSpPr/>
          <p:nvPr/>
        </p:nvSpPr>
        <p:spPr>
          <a:xfrm>
            <a:off x="2219724" y="6246966"/>
            <a:ext cx="532270" cy="341318"/>
          </a:xfrm>
          <a:custGeom>
            <a:avLst/>
            <a:gdLst/>
            <a:ahLst/>
            <a:cxnLst/>
            <a:rect l="l" t="t" r="r" b="b"/>
            <a:pathLst>
              <a:path w="532270" h="341318" extrusionOk="0">
                <a:moveTo>
                  <a:pt x="0" y="0"/>
                </a:moveTo>
                <a:lnTo>
                  <a:pt x="532270" y="0"/>
                </a:lnTo>
                <a:lnTo>
                  <a:pt x="532270" y="341318"/>
                </a:lnTo>
                <a:lnTo>
                  <a:pt x="0" y="34131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49" name="Google Shape;449;p7"/>
          <p:cNvSpPr/>
          <p:nvPr/>
        </p:nvSpPr>
        <p:spPr>
          <a:xfrm>
            <a:off x="2292845" y="7038595"/>
            <a:ext cx="386027" cy="588232"/>
          </a:xfrm>
          <a:custGeom>
            <a:avLst/>
            <a:gdLst/>
            <a:ahLst/>
            <a:cxnLst/>
            <a:rect l="l" t="t" r="r" b="b"/>
            <a:pathLst>
              <a:path w="386027" h="588232" extrusionOk="0">
                <a:moveTo>
                  <a:pt x="0" y="0"/>
                </a:moveTo>
                <a:lnTo>
                  <a:pt x="386027" y="0"/>
                </a:lnTo>
                <a:lnTo>
                  <a:pt x="386027" y="588232"/>
                </a:lnTo>
                <a:lnTo>
                  <a:pt x="0" y="5882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51" name="Google Shape;451;p7"/>
          <p:cNvSpPr txBox="1"/>
          <p:nvPr/>
        </p:nvSpPr>
        <p:spPr>
          <a:xfrm>
            <a:off x="2999804" y="5435481"/>
            <a:ext cx="3662471" cy="538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16"/>
              </a:lnSpc>
            </a:pPr>
            <a:r>
              <a:rPr lang="en-US" sz="2499" dirty="0">
                <a:solidFill>
                  <a:srgbClr val="FFFFFF"/>
                </a:solidFill>
              </a:rPr>
              <a:t>+62 81262484858</a:t>
            </a:r>
            <a:endParaRPr dirty="0"/>
          </a:p>
        </p:txBody>
      </p:sp>
      <p:sp>
        <p:nvSpPr>
          <p:cNvPr id="452" name="Google Shape;452;p7"/>
          <p:cNvSpPr txBox="1"/>
          <p:nvPr/>
        </p:nvSpPr>
        <p:spPr>
          <a:xfrm>
            <a:off x="1897809" y="3340710"/>
            <a:ext cx="10321028" cy="1138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1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478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/>
          </a:p>
        </p:txBody>
      </p:sp>
      <p:sp>
        <p:nvSpPr>
          <p:cNvPr id="453" name="Google Shape;453;p7"/>
          <p:cNvSpPr txBox="1"/>
          <p:nvPr/>
        </p:nvSpPr>
        <p:spPr>
          <a:xfrm>
            <a:off x="2999804" y="6180073"/>
            <a:ext cx="4245822" cy="538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dirty="0">
                <a:solidFill>
                  <a:srgbClr val="FFFFFF"/>
                </a:solidFill>
              </a:rPr>
              <a:t>i</a:t>
            </a:r>
            <a:r>
              <a:rPr lang="en-US" sz="2499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t.care_spmt@pelindo.co.id</a:t>
            </a:r>
            <a:endParaRPr dirty="0"/>
          </a:p>
        </p:txBody>
      </p:sp>
      <p:sp>
        <p:nvSpPr>
          <p:cNvPr id="456" name="Google Shape;456;p7"/>
          <p:cNvSpPr txBox="1"/>
          <p:nvPr/>
        </p:nvSpPr>
        <p:spPr>
          <a:xfrm>
            <a:off x="2999804" y="6933820"/>
            <a:ext cx="9007891" cy="1529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GRHA PELINDO</a:t>
            </a:r>
            <a:endParaRPr dirty="0"/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Jalan </a:t>
            </a:r>
            <a:r>
              <a:rPr lang="en-US" sz="23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Lingkar</a:t>
            </a:r>
            <a:r>
              <a:rPr lang="en-US" sz="23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Pelabuhan No. 1, </a:t>
            </a:r>
            <a:r>
              <a:rPr lang="en-US" sz="23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Belawan</a:t>
            </a:r>
            <a:r>
              <a:rPr lang="en-US" sz="23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II, Medan </a:t>
            </a:r>
            <a:r>
              <a:rPr lang="en-US" sz="23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Belawan</a:t>
            </a:r>
            <a:r>
              <a:rPr lang="en-US" sz="23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Kota Medan, Sumatera Utara 20411</a:t>
            </a:r>
            <a:endParaRPr dirty="0"/>
          </a:p>
        </p:txBody>
      </p:sp>
      <p:sp>
        <p:nvSpPr>
          <p:cNvPr id="457" name="Google Shape;457;p7"/>
          <p:cNvSpPr txBox="1"/>
          <p:nvPr/>
        </p:nvSpPr>
        <p:spPr>
          <a:xfrm>
            <a:off x="16995272" y="9663760"/>
            <a:ext cx="1024128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21</a:t>
            </a:r>
            <a:endParaRPr/>
          </a:p>
        </p:txBody>
      </p:sp>
      <p:sp>
        <p:nvSpPr>
          <p:cNvPr id="458" name="Google Shape;458;p7"/>
          <p:cNvSpPr/>
          <p:nvPr/>
        </p:nvSpPr>
        <p:spPr>
          <a:xfrm>
            <a:off x="14119030" y="578428"/>
            <a:ext cx="3448721" cy="987645"/>
          </a:xfrm>
          <a:custGeom>
            <a:avLst/>
            <a:gdLst/>
            <a:ahLst/>
            <a:cxnLst/>
            <a:rect l="l" t="t" r="r" b="b"/>
            <a:pathLst>
              <a:path w="3448721" h="987645" extrusionOk="0">
                <a:moveTo>
                  <a:pt x="0" y="0"/>
                </a:moveTo>
                <a:lnTo>
                  <a:pt x="3448721" y="0"/>
                </a:lnTo>
                <a:lnTo>
                  <a:pt x="3448721" y="987644"/>
                </a:lnTo>
                <a:lnTo>
                  <a:pt x="0" y="9876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t="-30951" r="-6104" b="-23251"/>
            </a:stretch>
          </a:blipFill>
          <a:ln>
            <a:noFill/>
          </a:ln>
        </p:spPr>
      </p:sp>
      <p:sp>
        <p:nvSpPr>
          <p:cNvPr id="459" name="Google Shape;459;p7"/>
          <p:cNvSpPr/>
          <p:nvPr/>
        </p:nvSpPr>
        <p:spPr>
          <a:xfrm>
            <a:off x="1086389" y="660493"/>
            <a:ext cx="2423402" cy="727021"/>
          </a:xfrm>
          <a:custGeom>
            <a:avLst/>
            <a:gdLst/>
            <a:ahLst/>
            <a:cxnLst/>
            <a:rect l="l" t="t" r="r" b="b"/>
            <a:pathLst>
              <a:path w="2423402" h="727021" extrusionOk="0">
                <a:moveTo>
                  <a:pt x="0" y="0"/>
                </a:moveTo>
                <a:lnTo>
                  <a:pt x="2423402" y="0"/>
                </a:lnTo>
                <a:lnTo>
                  <a:pt x="2423402" y="727021"/>
                </a:lnTo>
                <a:lnTo>
                  <a:pt x="0" y="727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2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Satu layar kerja untuk seluruh operasional TI terminal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TextBox 201"/>
          <p:cNvSpPr txBox="1"/>
          <p:nvPr/>
        </p:nvSpPr>
        <p:spPr>
          <a:xfrm>
            <a:off x="822959" y="1577339"/>
            <a:ext cx="8641080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7" b="0">
                <a:solidFill>
                  <a:srgbClr val="1F2937"/>
                </a:solidFill>
                <a:latin typeface="Arial"/>
              </a:rPr>
              <a:t>Aplikasi ini menarik data dari enam sistem yang sebelumnya dilihat terpisah, menyimpannya di database sendiri, dan menyajikannya sebagai satu dashboard untuk operator shift, koordinator, dan manajemen.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22959" y="4114800"/>
            <a:ext cx="864108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2039" b="1">
                <a:solidFill>
                  <a:srgbClr val="1F2937"/>
                </a:solidFill>
                <a:latin typeface="Arial"/>
              </a:rPr>
              <a:t>Informatif: </a:t>
            </a:r>
            <a:r>
              <a:rPr sz="2039" b="0">
                <a:solidFill>
                  <a:srgbClr val="1F2937"/>
                </a:solidFill>
                <a:latin typeface="Arial"/>
              </a:rPr>
              <a:t>ringkasan gabungan Network dan Cyber Security, plus rincian tiap sumber.</a:t>
            </a:r>
          </a:p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2039" b="1">
                <a:solidFill>
                  <a:srgbClr val="1F2937"/>
                </a:solidFill>
                <a:latin typeface="Arial"/>
              </a:rPr>
              <a:t>Terkendali: </a:t>
            </a:r>
            <a:r>
              <a:rPr sz="2039" b="0">
                <a:solidFill>
                  <a:srgbClr val="1F2937"/>
                </a:solidFill>
                <a:latin typeface="Arial"/>
              </a:rPr>
              <a:t>role, audit log, dan aksi sensitif (putus sesi WiFi) dibatasi.</a:t>
            </a:r>
          </a:p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2039" b="1">
                <a:solidFill>
                  <a:srgbClr val="1F2937"/>
                </a:solidFill>
                <a:latin typeface="Arial"/>
              </a:rPr>
              <a:t>Tahan banting: </a:t>
            </a:r>
            <a:r>
              <a:rPr sz="2039" b="0">
                <a:solidFill>
                  <a:srgbClr val="1F2937"/>
                </a:solidFill>
                <a:latin typeface="Arial"/>
              </a:rPr>
              <a:t>riwayat tersimpan; bila API gagal, impor manual tetap bisa dipakai.</a:t>
            </a:r>
          </a:p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2039" b="1">
                <a:solidFill>
                  <a:srgbClr val="1F2937"/>
                </a:solidFill>
                <a:latin typeface="Arial"/>
              </a:rPr>
              <a:t>Siap diaudit: </a:t>
            </a:r>
            <a:r>
              <a:rPr sz="2039" b="0">
                <a:solidFill>
                  <a:srgbClr val="1F2937"/>
                </a:solidFill>
                <a:latin typeface="Arial"/>
              </a:rPr>
              <a:t>hardening keamanan dan pemeriksaan konfigurasi bawaan.</a:t>
            </a:r>
          </a:p>
        </p:txBody>
      </p:sp>
      <p:sp>
        <p:nvSpPr>
          <p:cNvPr id="204" name="Statistik 6"/>
          <p:cNvSpPr/>
          <p:nvPr/>
        </p:nvSpPr>
        <p:spPr>
          <a:xfrm>
            <a:off x="10149840" y="1645919"/>
            <a:ext cx="3566160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10424160" y="185166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10" b="1">
                <a:solidFill>
                  <a:srgbClr val="0B75BB"/>
                </a:solidFill>
                <a:latin typeface="Arial"/>
              </a:rPr>
              <a:t>6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0424160" y="2990088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sumber data terintegrasi</a:t>
            </a:r>
          </a:p>
        </p:txBody>
      </p:sp>
      <p:sp>
        <p:nvSpPr>
          <p:cNvPr id="207" name="Statistik 38"/>
          <p:cNvSpPr/>
          <p:nvPr/>
        </p:nvSpPr>
        <p:spPr>
          <a:xfrm>
            <a:off x="13990319" y="1645919"/>
            <a:ext cx="3497579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14264639" y="1851660"/>
            <a:ext cx="2948939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10" b="1">
                <a:solidFill>
                  <a:srgbClr val="0B75BB"/>
                </a:solidFill>
                <a:latin typeface="Arial"/>
              </a:rPr>
              <a:t>38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4264639" y="2990088"/>
            <a:ext cx="294893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tabel PostgreSQL dan 26 migrasi</a:t>
            </a:r>
          </a:p>
        </p:txBody>
      </p:sp>
      <p:sp>
        <p:nvSpPr>
          <p:cNvPr id="210" name="Statistik 0"/>
          <p:cNvSpPr/>
          <p:nvPr/>
        </p:nvSpPr>
        <p:spPr>
          <a:xfrm>
            <a:off x="10149840" y="4114800"/>
            <a:ext cx="3566160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10424160" y="432054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10" b="1">
                <a:solidFill>
                  <a:srgbClr val="2FB67C"/>
                </a:solidFill>
                <a:latin typeface="Arial"/>
              </a:rPr>
              <a:t>0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0424160" y="5458967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temuan critical/high pada security-check</a:t>
            </a:r>
          </a:p>
        </p:txBody>
      </p:sp>
      <p:sp>
        <p:nvSpPr>
          <p:cNvPr id="213" name="Statistik 10"/>
          <p:cNvSpPr/>
          <p:nvPr/>
        </p:nvSpPr>
        <p:spPr>
          <a:xfrm>
            <a:off x="13990319" y="4114800"/>
            <a:ext cx="3497579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14264639" y="4320540"/>
            <a:ext cx="2948939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10" b="1">
                <a:solidFill>
                  <a:srgbClr val="0B75BB"/>
                </a:solidFill>
                <a:latin typeface="Arial"/>
              </a:rPr>
              <a:t>10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4264639" y="5458967"/>
            <a:ext cx="294893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jenis laporan Excel, PDF, PowerPoint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10149840" y="6583679"/>
            <a:ext cx="7338059" cy="2125980"/>
          </a:xfrm>
          <a:prstGeom prst="roundRect">
            <a:avLst>
              <a:gd name="adj" fmla="val 5000"/>
            </a:avLst>
          </a:prstGeom>
          <a:solidFill>
            <a:srgbClr val="0B2F6B"/>
          </a:solidFill>
          <a:ln>
            <a:noFill/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10561320" y="6720840"/>
            <a:ext cx="6583679" cy="1851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12" b="1">
                <a:solidFill>
                  <a:srgbClr val="25B7E5"/>
                </a:solidFill>
                <a:latin typeface="Arial"/>
              </a:rPr>
              <a:t>Prinsip: </a:t>
            </a:r>
            <a:r>
              <a:rPr sz="1912" b="0">
                <a:solidFill>
                  <a:srgbClr val="FFFFFF"/>
                </a:solidFill>
                <a:latin typeface="Arial"/>
              </a:rPr>
              <a:t>dashboard membaca dari database sendiri, bukan langsung dari sumber. Data tarikan dan data manual hidup berdampingan.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3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Empat prinsip yang membentuk aplikasi ini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Kartu Satu pandangan"/>
          <p:cNvSpPr/>
          <p:nvPr/>
        </p:nvSpPr>
        <p:spPr>
          <a:xfrm>
            <a:off x="822959" y="1783080"/>
            <a:ext cx="3954665" cy="6720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165860" y="2084832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57400" y="2084832"/>
            <a:ext cx="244590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Satu pandangan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165860" y="3113532"/>
            <a:ext cx="3268865" cy="5184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Overview dan ringkasan gabungan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Status hari ini per bidang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Perhatian dikumpulkan di satu daftar</a:t>
            </a:r>
          </a:p>
        </p:txBody>
      </p:sp>
      <p:sp>
        <p:nvSpPr>
          <p:cNvPr id="206" name="Kartu Data milik sendiri"/>
          <p:cNvSpPr/>
          <p:nvPr/>
        </p:nvSpPr>
        <p:spPr>
          <a:xfrm>
            <a:off x="5051945" y="1783080"/>
            <a:ext cx="3954665" cy="6720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394845" y="2084832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286385" y="2084832"/>
            <a:ext cx="244590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Data milik sendiri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5394845" y="3113532"/>
            <a:ext cx="3268865" cy="5184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Semua tarikan API disimpan di PostgreSQL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Riwayat WiFi, down Zabbix, alert XDR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Laporan dan grafik dihitung dari database</a:t>
            </a:r>
          </a:p>
        </p:txBody>
      </p:sp>
      <p:sp>
        <p:nvSpPr>
          <p:cNvPr id="210" name="Kartu Manual tetap hidup"/>
          <p:cNvSpPr/>
          <p:nvPr/>
        </p:nvSpPr>
        <p:spPr>
          <a:xfrm>
            <a:off x="9280931" y="1783080"/>
            <a:ext cx="3954665" cy="6720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9623831" y="2084832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0515371" y="2084832"/>
            <a:ext cx="244590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Manual tetap hidup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623831" y="3113532"/>
            <a:ext cx="3268865" cy="5184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CSV, PDF, Excel tetap bisa diunggah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Tidak tertimpa data API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Selisih dengan API dicatat sebagai validasi</a:t>
            </a:r>
          </a:p>
        </p:txBody>
      </p:sp>
      <p:sp>
        <p:nvSpPr>
          <p:cNvPr id="214" name="Kartu Terkendali"/>
          <p:cNvSpPr/>
          <p:nvPr/>
        </p:nvSpPr>
        <p:spPr>
          <a:xfrm>
            <a:off x="13509917" y="1783080"/>
            <a:ext cx="3954665" cy="6720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3852817" y="2084832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4744357" y="2084832"/>
            <a:ext cx="244590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Terkendali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3852817" y="3113532"/>
            <a:ext cx="3268865" cy="5184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Role dan lokasi membatasi data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Aksi tulis dibatasi dan diaudit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Parameter diatur dari menu Admin, bukan kode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4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Peta menu: sembilan area kerja dalam satu navigasi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Menu Overview"/>
          <p:cNvSpPr/>
          <p:nvPr/>
        </p:nvSpPr>
        <p:spPr>
          <a:xfrm>
            <a:off x="822959" y="1645919"/>
            <a:ext cx="3909060" cy="3223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1097280" y="1892807"/>
            <a:ext cx="3360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22" b="1">
                <a:solidFill>
                  <a:srgbClr val="0B2F6B"/>
                </a:solidFill>
                <a:latin typeface="Arial"/>
              </a:rPr>
              <a:t>Overview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097280" y="2496312"/>
            <a:ext cx="3360420" cy="850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status hari ini, perhatian, ringkasan semua bidang</a:t>
            </a:r>
          </a:p>
        </p:txBody>
      </p:sp>
      <p:sp>
        <p:nvSpPr>
          <p:cNvPr id="205" name="Menu Ticketing"/>
          <p:cNvSpPr/>
          <p:nvPr/>
        </p:nvSpPr>
        <p:spPr>
          <a:xfrm>
            <a:off x="5006340" y="1645919"/>
            <a:ext cx="3909060" cy="3223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5280660" y="1892807"/>
            <a:ext cx="3360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22" b="1">
                <a:solidFill>
                  <a:srgbClr val="0B2F6B"/>
                </a:solidFill>
                <a:latin typeface="Arial"/>
              </a:rPr>
              <a:t>Ticketing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280660" y="2496312"/>
            <a:ext cx="3360420" cy="850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ManageEngine: tiket, SLA, teknisi</a:t>
            </a:r>
          </a:p>
        </p:txBody>
      </p:sp>
      <p:sp>
        <p:nvSpPr>
          <p:cNvPr id="208" name="Menu Network"/>
          <p:cNvSpPr/>
          <p:nvPr/>
        </p:nvSpPr>
        <p:spPr>
          <a:xfrm>
            <a:off x="9189720" y="1645919"/>
            <a:ext cx="3909060" cy="3223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9464040" y="1892807"/>
            <a:ext cx="3360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22" b="1">
                <a:solidFill>
                  <a:srgbClr val="0B2F6B"/>
                </a:solidFill>
                <a:latin typeface="Arial"/>
              </a:rPr>
              <a:t>Network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464040" y="2496312"/>
            <a:ext cx="3360420" cy="850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Summary gabungan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9464040" y="3429000"/>
            <a:ext cx="3360420" cy="521208"/>
          </a:xfrm>
          <a:prstGeom prst="roundRect">
            <a:avLst>
              <a:gd name="adj" fmla="val 5000"/>
            </a:avLst>
          </a:prstGeom>
          <a:solidFill>
            <a:srgbClr val="E6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601200" y="3429000"/>
            <a:ext cx="3086100" cy="5212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30" b="1">
                <a:solidFill>
                  <a:srgbClr val="0B75BB"/>
                </a:solidFill>
                <a:latin typeface="Arial"/>
              </a:rPr>
              <a:t>PRTG: link, trafik, SLA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9464040" y="4059935"/>
            <a:ext cx="3360420" cy="521208"/>
          </a:xfrm>
          <a:prstGeom prst="roundRect">
            <a:avLst>
              <a:gd name="adj" fmla="val 5000"/>
            </a:avLst>
          </a:prstGeom>
          <a:solidFill>
            <a:srgbClr val="E6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9601200" y="4059935"/>
            <a:ext cx="3086100" cy="5212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30" b="1">
                <a:solidFill>
                  <a:srgbClr val="0B75BB"/>
                </a:solidFill>
                <a:latin typeface="Arial"/>
              </a:rPr>
              <a:t>WiFi: Ruckus, client, AP</a:t>
            </a:r>
          </a:p>
        </p:txBody>
      </p:sp>
      <p:sp>
        <p:nvSpPr>
          <p:cNvPr id="215" name="Menu Cyber Security"/>
          <p:cNvSpPr/>
          <p:nvPr/>
        </p:nvSpPr>
        <p:spPr>
          <a:xfrm>
            <a:off x="13373100" y="1645919"/>
            <a:ext cx="3909060" cy="3223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13647419" y="1892807"/>
            <a:ext cx="3360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22" b="1">
                <a:solidFill>
                  <a:srgbClr val="0B2F6B"/>
                </a:solidFill>
                <a:latin typeface="Arial"/>
              </a:rPr>
              <a:t>Cyber Security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3647419" y="2496312"/>
            <a:ext cx="3360420" cy="850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Summary gabungan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3647419" y="3429000"/>
            <a:ext cx="3360420" cy="521208"/>
          </a:xfrm>
          <a:prstGeom prst="roundRect">
            <a:avLst>
              <a:gd name="adj" fmla="val 5000"/>
            </a:avLst>
          </a:prstGeom>
          <a:solidFill>
            <a:srgbClr val="E6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13784580" y="3429000"/>
            <a:ext cx="3086100" cy="5212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30" b="1">
                <a:solidFill>
                  <a:srgbClr val="0B75BB"/>
                </a:solidFill>
                <a:latin typeface="Arial"/>
              </a:rPr>
              <a:t>NDR: Palo Alto Panorama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13647419" y="4059935"/>
            <a:ext cx="3360420" cy="521208"/>
          </a:xfrm>
          <a:prstGeom prst="roundRect">
            <a:avLst>
              <a:gd name="adj" fmla="val 5000"/>
            </a:avLst>
          </a:prstGeom>
          <a:solidFill>
            <a:srgbClr val="E6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13784580" y="4059935"/>
            <a:ext cx="3086100" cy="5212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30" b="1">
                <a:solidFill>
                  <a:srgbClr val="0B75BB"/>
                </a:solidFill>
                <a:latin typeface="Arial"/>
              </a:rPr>
              <a:t>XDR: Trend Micro Vision One</a:t>
            </a:r>
          </a:p>
        </p:txBody>
      </p:sp>
      <p:sp>
        <p:nvSpPr>
          <p:cNvPr id="222" name="Menu Devices"/>
          <p:cNvSpPr/>
          <p:nvPr/>
        </p:nvSpPr>
        <p:spPr>
          <a:xfrm>
            <a:off x="822959" y="5212079"/>
            <a:ext cx="3909060" cy="3223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97280" y="5458967"/>
            <a:ext cx="3360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22" b="1">
                <a:solidFill>
                  <a:srgbClr val="0B2F6B"/>
                </a:solidFill>
                <a:latin typeface="Arial"/>
              </a:rPr>
              <a:t>Devices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097280" y="6062472"/>
            <a:ext cx="3360420" cy="850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Zabbix: status, peta, riwayat down</a:t>
            </a:r>
          </a:p>
        </p:txBody>
      </p:sp>
      <p:sp>
        <p:nvSpPr>
          <p:cNvPr id="225" name="Menu Personnel"/>
          <p:cNvSpPr/>
          <p:nvPr/>
        </p:nvSpPr>
        <p:spPr>
          <a:xfrm>
            <a:off x="5006340" y="5212079"/>
            <a:ext cx="3909060" cy="3223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5280660" y="5458967"/>
            <a:ext cx="3360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22" b="1">
                <a:solidFill>
                  <a:srgbClr val="0B2F6B"/>
                </a:solidFill>
                <a:latin typeface="Arial"/>
              </a:rPr>
              <a:t>Personnel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280660" y="6062472"/>
            <a:ext cx="3360420" cy="850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jadwal shift dan on duty</a:t>
            </a:r>
          </a:p>
        </p:txBody>
      </p:sp>
      <p:sp>
        <p:nvSpPr>
          <p:cNvPr id="228" name="Menu Report"/>
          <p:cNvSpPr/>
          <p:nvPr/>
        </p:nvSpPr>
        <p:spPr>
          <a:xfrm>
            <a:off x="9189720" y="5212079"/>
            <a:ext cx="3909060" cy="3223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9464040" y="5458967"/>
            <a:ext cx="3360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22" b="1">
                <a:solidFill>
                  <a:srgbClr val="0B2F6B"/>
                </a:solidFill>
                <a:latin typeface="Arial"/>
              </a:rPr>
              <a:t>Report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9464040" y="6062472"/>
            <a:ext cx="3360420" cy="850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Excel, PDF, PowerPoint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9464040" y="6995159"/>
            <a:ext cx="3360420" cy="521208"/>
          </a:xfrm>
          <a:prstGeom prst="roundRect">
            <a:avLst>
              <a:gd name="adj" fmla="val 5000"/>
            </a:avLst>
          </a:prstGeom>
          <a:solidFill>
            <a:srgbClr val="E6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9601200" y="6995159"/>
            <a:ext cx="3086100" cy="5212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30" b="1">
                <a:solidFill>
                  <a:srgbClr val="0B75BB"/>
                </a:solidFill>
                <a:latin typeface="Arial"/>
              </a:rPr>
              <a:t>Handover: serah terima shift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9464040" y="7626096"/>
            <a:ext cx="3360420" cy="521208"/>
          </a:xfrm>
          <a:prstGeom prst="roundRect">
            <a:avLst>
              <a:gd name="adj" fmla="val 5000"/>
            </a:avLst>
          </a:prstGeom>
          <a:solidFill>
            <a:srgbClr val="E6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9601200" y="7626096"/>
            <a:ext cx="3086100" cy="5212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30" b="1">
                <a:solidFill>
                  <a:srgbClr val="0B75BB"/>
                </a:solidFill>
                <a:latin typeface="Arial"/>
              </a:rPr>
              <a:t>Data: kelengkapan dan unggah RAW</a:t>
            </a:r>
          </a:p>
        </p:txBody>
      </p:sp>
      <p:sp>
        <p:nvSpPr>
          <p:cNvPr id="235" name="Menu Admin"/>
          <p:cNvSpPr/>
          <p:nvPr/>
        </p:nvSpPr>
        <p:spPr>
          <a:xfrm>
            <a:off x="13373100" y="5212079"/>
            <a:ext cx="3909060" cy="3223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13647419" y="5458967"/>
            <a:ext cx="3360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22" b="1">
                <a:solidFill>
                  <a:srgbClr val="0B2F6B"/>
                </a:solidFill>
                <a:latin typeface="Arial"/>
              </a:rPr>
              <a:t>Admin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13647419" y="6062472"/>
            <a:ext cx="3360420" cy="850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pengguna, role, integrasi, parameter, audit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5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Arsitektur: sumber, penyimpan, penyaji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Rounded Rectangle 201"/>
          <p:cNvSpPr/>
          <p:nvPr/>
        </p:nvSpPr>
        <p:spPr>
          <a:xfrm>
            <a:off x="822959" y="1577339"/>
            <a:ext cx="3703320" cy="9601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60119" y="1687068"/>
            <a:ext cx="3429000" cy="7406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12" b="1">
                <a:solidFill>
                  <a:srgbClr val="0B2F6B"/>
                </a:solidFill>
                <a:latin typeface="Arial"/>
              </a:rPr>
              <a:t>ManageEngine</a:t>
            </a:r>
          </a:p>
          <a:p>
            <a:pPr algn="ctr"/>
            <a:r>
              <a:rPr sz="1530" b="0">
                <a:solidFill>
                  <a:srgbClr val="6B7280"/>
                </a:solidFill>
                <a:latin typeface="Arial"/>
              </a:rPr>
              <a:t>tiket</a:t>
            </a:r>
          </a:p>
        </p:txBody>
      </p:sp>
      <p:cxnSp>
        <p:nvCxnSpPr>
          <p:cNvPr id="204" name="Connector 203"/>
          <p:cNvCxnSpPr/>
          <p:nvPr/>
        </p:nvCxnSpPr>
        <p:spPr>
          <a:xfrm>
            <a:off x="4526280" y="2057400"/>
            <a:ext cx="1234440" cy="2880360"/>
          </a:xfrm>
          <a:prstGeom prst="line">
            <a:avLst/>
          </a:prstGeom>
          <a:ln w="23812">
            <a:solidFill>
              <a:srgbClr val="8FA3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Rounded Rectangle 204"/>
          <p:cNvSpPr/>
          <p:nvPr/>
        </p:nvSpPr>
        <p:spPr>
          <a:xfrm>
            <a:off x="822959" y="2702052"/>
            <a:ext cx="3703320" cy="9601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960119" y="2811780"/>
            <a:ext cx="3429000" cy="7406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12" b="1">
                <a:solidFill>
                  <a:srgbClr val="0B2F6B"/>
                </a:solidFill>
                <a:latin typeface="Arial"/>
              </a:rPr>
              <a:t>PRTG</a:t>
            </a:r>
          </a:p>
          <a:p>
            <a:pPr algn="ctr"/>
            <a:r>
              <a:rPr sz="1530" b="0">
                <a:solidFill>
                  <a:srgbClr val="6B7280"/>
                </a:solidFill>
                <a:latin typeface="Arial"/>
              </a:rPr>
              <a:t>link dan trafik</a:t>
            </a:r>
          </a:p>
        </p:txBody>
      </p:sp>
      <p:cxnSp>
        <p:nvCxnSpPr>
          <p:cNvPr id="207" name="Connector 206"/>
          <p:cNvCxnSpPr/>
          <p:nvPr/>
        </p:nvCxnSpPr>
        <p:spPr>
          <a:xfrm>
            <a:off x="4526280" y="3182112"/>
            <a:ext cx="1234440" cy="1755648"/>
          </a:xfrm>
          <a:prstGeom prst="line">
            <a:avLst/>
          </a:prstGeom>
          <a:ln w="23812">
            <a:solidFill>
              <a:srgbClr val="8FA3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Rounded Rectangle 207"/>
          <p:cNvSpPr/>
          <p:nvPr/>
        </p:nvSpPr>
        <p:spPr>
          <a:xfrm>
            <a:off x="822959" y="3826764"/>
            <a:ext cx="3703320" cy="9601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960119" y="3936491"/>
            <a:ext cx="3429000" cy="7406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12" b="1">
                <a:solidFill>
                  <a:srgbClr val="0B2F6B"/>
                </a:solidFill>
                <a:latin typeface="Arial"/>
              </a:rPr>
              <a:t>Zabbix</a:t>
            </a:r>
          </a:p>
          <a:p>
            <a:pPr algn="ctr"/>
            <a:r>
              <a:rPr sz="1530" b="0">
                <a:solidFill>
                  <a:srgbClr val="6B7280"/>
                </a:solidFill>
                <a:latin typeface="Arial"/>
              </a:rPr>
              <a:t>perangkat</a:t>
            </a:r>
          </a:p>
        </p:txBody>
      </p:sp>
      <p:cxnSp>
        <p:nvCxnSpPr>
          <p:cNvPr id="210" name="Connector 209"/>
          <p:cNvCxnSpPr/>
          <p:nvPr/>
        </p:nvCxnSpPr>
        <p:spPr>
          <a:xfrm>
            <a:off x="4526280" y="4306824"/>
            <a:ext cx="1234440" cy="630936"/>
          </a:xfrm>
          <a:prstGeom prst="line">
            <a:avLst/>
          </a:prstGeom>
          <a:ln w="23812">
            <a:solidFill>
              <a:srgbClr val="8FA3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ounded Rectangle 210"/>
          <p:cNvSpPr/>
          <p:nvPr/>
        </p:nvSpPr>
        <p:spPr>
          <a:xfrm>
            <a:off x="822959" y="4951476"/>
            <a:ext cx="3703320" cy="9601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60119" y="5061204"/>
            <a:ext cx="3429000" cy="7406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12" b="1">
                <a:solidFill>
                  <a:srgbClr val="0B2F6B"/>
                </a:solidFill>
                <a:latin typeface="Arial"/>
              </a:rPr>
              <a:t>Ruckus vSZ</a:t>
            </a:r>
          </a:p>
          <a:p>
            <a:pPr algn="ctr"/>
            <a:r>
              <a:rPr sz="1530" b="0">
                <a:solidFill>
                  <a:srgbClr val="6B7280"/>
                </a:solidFill>
                <a:latin typeface="Arial"/>
              </a:rPr>
              <a:t>WiFi</a:t>
            </a:r>
          </a:p>
        </p:txBody>
      </p:sp>
      <p:cxnSp>
        <p:nvCxnSpPr>
          <p:cNvPr id="213" name="Connector 212"/>
          <p:cNvCxnSpPr/>
          <p:nvPr/>
        </p:nvCxnSpPr>
        <p:spPr>
          <a:xfrm flipV="1">
            <a:off x="4526280" y="4937760"/>
            <a:ext cx="1234440" cy="493776"/>
          </a:xfrm>
          <a:prstGeom prst="line">
            <a:avLst/>
          </a:prstGeom>
          <a:ln w="23812">
            <a:solidFill>
              <a:srgbClr val="8FA3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4" name="Rounded Rectangle 213"/>
          <p:cNvSpPr/>
          <p:nvPr/>
        </p:nvSpPr>
        <p:spPr>
          <a:xfrm>
            <a:off x="822959" y="6076188"/>
            <a:ext cx="3703320" cy="9601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960119" y="6185916"/>
            <a:ext cx="3429000" cy="7406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12" b="1">
                <a:solidFill>
                  <a:srgbClr val="0B2F6B"/>
                </a:solidFill>
                <a:latin typeface="Arial"/>
              </a:rPr>
              <a:t>Palo Alto Panorama</a:t>
            </a:r>
          </a:p>
          <a:p>
            <a:pPr algn="ctr"/>
            <a:r>
              <a:rPr sz="1530" b="0">
                <a:solidFill>
                  <a:srgbClr val="6B7280"/>
                </a:solidFill>
                <a:latin typeface="Arial"/>
              </a:rPr>
              <a:t>NDR</a:t>
            </a:r>
          </a:p>
        </p:txBody>
      </p:sp>
      <p:cxnSp>
        <p:nvCxnSpPr>
          <p:cNvPr id="216" name="Connector 215"/>
          <p:cNvCxnSpPr/>
          <p:nvPr/>
        </p:nvCxnSpPr>
        <p:spPr>
          <a:xfrm flipV="1">
            <a:off x="4526280" y="4937760"/>
            <a:ext cx="1234440" cy="1618488"/>
          </a:xfrm>
          <a:prstGeom prst="line">
            <a:avLst/>
          </a:prstGeom>
          <a:ln w="23812">
            <a:solidFill>
              <a:srgbClr val="8FA3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ounded Rectangle 216"/>
          <p:cNvSpPr/>
          <p:nvPr/>
        </p:nvSpPr>
        <p:spPr>
          <a:xfrm>
            <a:off x="822959" y="7200900"/>
            <a:ext cx="3703320" cy="9601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960119" y="7310628"/>
            <a:ext cx="3429000" cy="7406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12" b="1">
                <a:solidFill>
                  <a:srgbClr val="0B2F6B"/>
                </a:solidFill>
                <a:latin typeface="Arial"/>
              </a:rPr>
              <a:t>Trend Micro Vision One</a:t>
            </a:r>
          </a:p>
          <a:p>
            <a:pPr algn="ctr"/>
            <a:r>
              <a:rPr sz="1530" b="0">
                <a:solidFill>
                  <a:srgbClr val="6B7280"/>
                </a:solidFill>
                <a:latin typeface="Arial"/>
              </a:rPr>
              <a:t>XDR</a:t>
            </a:r>
          </a:p>
        </p:txBody>
      </p:sp>
      <p:cxnSp>
        <p:nvCxnSpPr>
          <p:cNvPr id="219" name="Connector 218"/>
          <p:cNvCxnSpPr/>
          <p:nvPr/>
        </p:nvCxnSpPr>
        <p:spPr>
          <a:xfrm flipV="1">
            <a:off x="4526280" y="4937760"/>
            <a:ext cx="1234440" cy="2743199"/>
          </a:xfrm>
          <a:prstGeom prst="line">
            <a:avLst/>
          </a:prstGeom>
          <a:ln w="23812">
            <a:solidFill>
              <a:srgbClr val="8FA3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Rounded Rectangle 219"/>
          <p:cNvSpPr/>
          <p:nvPr/>
        </p:nvSpPr>
        <p:spPr>
          <a:xfrm>
            <a:off x="5760720" y="3909060"/>
            <a:ext cx="3017520" cy="2057400"/>
          </a:xfrm>
          <a:prstGeom prst="roundRect">
            <a:avLst>
              <a:gd name="adj" fmla="val 5000"/>
            </a:avLst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5897879" y="4018788"/>
            <a:ext cx="2743200" cy="183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12" b="1">
                <a:solidFill>
                  <a:srgbClr val="FFFFFF"/>
                </a:solidFill>
                <a:latin typeface="Arial"/>
              </a:rPr>
              <a:t>Konektor + penjadwal</a:t>
            </a:r>
          </a:p>
          <a:p>
            <a:pPr algn="ctr"/>
            <a:r>
              <a:rPr sz="1530" b="0">
                <a:solidFill>
                  <a:srgbClr val="E6F4FB"/>
                </a:solidFill>
                <a:latin typeface="Arial"/>
              </a:rPr>
              <a:t>worker (APScheduler)</a:t>
            </a:r>
          </a:p>
          <a:p>
            <a:pPr algn="ctr"/>
            <a:r>
              <a:rPr sz="1530" b="0">
                <a:solidFill>
                  <a:srgbClr val="E6F4FB"/>
                </a:solidFill>
                <a:latin typeface="Arial"/>
              </a:rPr>
              <a:t>API, jam tetap, backfill</a:t>
            </a:r>
          </a:p>
        </p:txBody>
      </p:sp>
      <p:cxnSp>
        <p:nvCxnSpPr>
          <p:cNvPr id="222" name="Connector 221"/>
          <p:cNvCxnSpPr/>
          <p:nvPr/>
        </p:nvCxnSpPr>
        <p:spPr>
          <a:xfrm>
            <a:off x="8778240" y="4937760"/>
            <a:ext cx="960119" cy="0"/>
          </a:xfrm>
          <a:prstGeom prst="line">
            <a:avLst/>
          </a:prstGeom>
          <a:ln w="38100">
            <a:solidFill>
              <a:srgbClr val="0B75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Rounded Rectangle 222"/>
          <p:cNvSpPr/>
          <p:nvPr/>
        </p:nvSpPr>
        <p:spPr>
          <a:xfrm>
            <a:off x="9738359" y="3634740"/>
            <a:ext cx="3017520" cy="2606039"/>
          </a:xfrm>
          <a:prstGeom prst="roundRect">
            <a:avLst>
              <a:gd name="adj" fmla="val 5000"/>
            </a:avLst>
          </a:prstGeom>
          <a:solidFill>
            <a:srgbClr val="0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9875519" y="3744468"/>
            <a:ext cx="2743200" cy="2386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12" b="1">
                <a:solidFill>
                  <a:srgbClr val="FFFFFF"/>
                </a:solidFill>
                <a:latin typeface="Arial"/>
              </a:rPr>
              <a:t>PostgreSQL 16</a:t>
            </a:r>
          </a:p>
          <a:p>
            <a:pPr algn="ctr"/>
            <a:r>
              <a:rPr sz="1530" b="0">
                <a:solidFill>
                  <a:srgbClr val="CFE3F5"/>
                </a:solidFill>
                <a:latin typeface="Arial"/>
              </a:rPr>
              <a:t>38 tabel · riwayat</a:t>
            </a:r>
          </a:p>
          <a:p>
            <a:pPr algn="ctr"/>
            <a:r>
              <a:rPr sz="1530" b="0">
                <a:solidFill>
                  <a:srgbClr val="CFE3F5"/>
                </a:solidFill>
                <a:latin typeface="Arial"/>
              </a:rPr>
              <a:t>rahasia terenkripsi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12755880" y="4937760"/>
            <a:ext cx="822960" cy="0"/>
          </a:xfrm>
          <a:prstGeom prst="line">
            <a:avLst/>
          </a:prstGeom>
          <a:ln w="38100">
            <a:solidFill>
              <a:srgbClr val="0B75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Rounded Rectangle 225"/>
          <p:cNvSpPr/>
          <p:nvPr/>
        </p:nvSpPr>
        <p:spPr>
          <a:xfrm>
            <a:off x="13578840" y="3909060"/>
            <a:ext cx="1988819" cy="2057400"/>
          </a:xfrm>
          <a:prstGeom prst="roundRect">
            <a:avLst>
              <a:gd name="adj" fmla="val 5000"/>
            </a:avLst>
          </a:prstGeom>
          <a:solidFill>
            <a:srgbClr val="164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13716000" y="4018788"/>
            <a:ext cx="1714500" cy="183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12" b="1">
                <a:solidFill>
                  <a:srgbClr val="FFFFFF"/>
                </a:solidFill>
                <a:latin typeface="Arial"/>
              </a:rPr>
              <a:t>FastAPI</a:t>
            </a:r>
          </a:p>
          <a:p>
            <a:pPr algn="ctr"/>
            <a:r>
              <a:rPr sz="1530" b="0">
                <a:solidFill>
                  <a:srgbClr val="CFE3F5"/>
                </a:solidFill>
                <a:latin typeface="Arial"/>
              </a:rPr>
              <a:t>auth · hitung</a:t>
            </a:r>
          </a:p>
          <a:p>
            <a:pPr algn="ctr"/>
            <a:r>
              <a:rPr sz="1530" b="0">
                <a:solidFill>
                  <a:srgbClr val="CFE3F5"/>
                </a:solidFill>
                <a:latin typeface="Arial"/>
              </a:rPr>
              <a:t>laporan</a:t>
            </a:r>
          </a:p>
        </p:txBody>
      </p:sp>
      <p:cxnSp>
        <p:nvCxnSpPr>
          <p:cNvPr id="228" name="Connector 227"/>
          <p:cNvCxnSpPr/>
          <p:nvPr/>
        </p:nvCxnSpPr>
        <p:spPr>
          <a:xfrm>
            <a:off x="15567659" y="4937760"/>
            <a:ext cx="548641" cy="0"/>
          </a:xfrm>
          <a:prstGeom prst="line">
            <a:avLst/>
          </a:prstGeom>
          <a:ln w="38100">
            <a:solidFill>
              <a:srgbClr val="0B75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Rounded Rectangle 228"/>
          <p:cNvSpPr/>
          <p:nvPr/>
        </p:nvSpPr>
        <p:spPr>
          <a:xfrm>
            <a:off x="16116300" y="3909060"/>
            <a:ext cx="1344168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16253459" y="4018788"/>
            <a:ext cx="1069848" cy="183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12" b="1">
                <a:solidFill>
                  <a:srgbClr val="0B2F6B"/>
                </a:solidFill>
                <a:latin typeface="Arial"/>
              </a:rPr>
              <a:t>UI</a:t>
            </a:r>
          </a:p>
          <a:p>
            <a:pPr algn="ctr"/>
            <a:r>
              <a:rPr sz="1530" b="0">
                <a:solidFill>
                  <a:srgbClr val="6B7280"/>
                </a:solidFill>
                <a:latin typeface="Arial"/>
              </a:rPr>
              <a:t>browser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5760720" y="7132320"/>
            <a:ext cx="3017520" cy="1303019"/>
          </a:xfrm>
          <a:prstGeom prst="roundRect">
            <a:avLst>
              <a:gd name="adj" fmla="val 5000"/>
            </a:avLst>
          </a:prstGeom>
          <a:solidFill>
            <a:srgbClr val="E6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5897879" y="7242048"/>
            <a:ext cx="2743200" cy="10835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12" b="1">
                <a:solidFill>
                  <a:srgbClr val="0B75BB"/>
                </a:solidFill>
                <a:latin typeface="Arial"/>
              </a:rPr>
              <a:t>Impor manual</a:t>
            </a:r>
          </a:p>
          <a:p>
            <a:pPr algn="ctr"/>
            <a:r>
              <a:rPr sz="1530" b="0">
                <a:solidFill>
                  <a:srgbClr val="0B75BB"/>
                </a:solidFill>
                <a:latin typeface="Arial"/>
              </a:rPr>
              <a:t>CSV · PDF · Excel</a:t>
            </a:r>
          </a:p>
        </p:txBody>
      </p:sp>
      <p:cxnSp>
        <p:nvCxnSpPr>
          <p:cNvPr id="233" name="Connector 232"/>
          <p:cNvCxnSpPr/>
          <p:nvPr/>
        </p:nvCxnSpPr>
        <p:spPr>
          <a:xfrm flipV="1">
            <a:off x="7269479" y="6240779"/>
            <a:ext cx="3154680" cy="891541"/>
          </a:xfrm>
          <a:prstGeom prst="line">
            <a:avLst/>
          </a:prstGeom>
          <a:ln w="38100">
            <a:solidFill>
              <a:srgbClr val="0B75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9738359" y="7132320"/>
            <a:ext cx="7680959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84" b="0">
                <a:solidFill>
                  <a:srgbClr val="6B7280"/>
                </a:solidFill>
                <a:latin typeface="Arial"/>
              </a:rPr>
              <a:t>Backend: FastAPI + SQLAlchemy + Alembic</a:t>
            </a:r>
          </a:p>
          <a:p>
            <a:pPr algn="l">
              <a:spcAft>
                <a:spcPts val="600"/>
              </a:spcAft>
            </a:pPr>
            <a:r>
              <a:rPr sz="1784" b="0">
                <a:solidFill>
                  <a:srgbClr val="6B7280"/>
                </a:solidFill>
                <a:latin typeface="Arial"/>
              </a:rPr>
              <a:t>Frontend: JavaScript murni, Leaflet untuk peta</a:t>
            </a:r>
          </a:p>
          <a:p>
            <a:pPr algn="l">
              <a:spcAft>
                <a:spcPts val="600"/>
              </a:spcAft>
            </a:pPr>
            <a:r>
              <a:rPr sz="1784" b="0">
                <a:solidFill>
                  <a:srgbClr val="6B7280"/>
                </a:solidFill>
                <a:latin typeface="Arial"/>
              </a:rPr>
              <a:t>Rahasia konektor: Fernet di database; sesi: cookie HttpOnly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6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Enam integrasi, jadwal dan cara tarik masing-masing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aphicFrame>
        <p:nvGraphicFramePr>
          <p:cNvPr id="202" name="Table 201"/>
          <p:cNvGraphicFramePr>
            <a:graphicFrameLocks noGrp="1"/>
          </p:cNvGraphicFramePr>
          <p:nvPr/>
        </p:nvGraphicFramePr>
        <p:xfrm>
          <a:off x="822959" y="1645919"/>
          <a:ext cx="16637507" cy="6227064"/>
        </p:xfrm>
        <a:graphic>
          <a:graphicData uri="http://schemas.openxmlformats.org/drawingml/2006/table">
            <a:tbl>
              <a:tblPr firstRow="0" bandRow="0"/>
              <a:tblGrid>
                <a:gridCol w="3429000"/>
                <a:gridCol w="4251960"/>
                <a:gridCol w="3291839"/>
                <a:gridCol w="5664708"/>
              </a:tblGrid>
              <a:tr h="630936">
                <a:tc>
                  <a:txBody>
                    <a:bodyPr wrap="square"/>
                    <a:lstStyle/>
                    <a:p>
                      <a:r>
                        <a:rPr sz="2039" b="1">
                          <a:solidFill>
                            <a:srgbClr val="FFFFFF"/>
                          </a:solidFill>
                          <a:latin typeface="Arial"/>
                        </a:rPr>
                        <a:t>Sumber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39" b="1">
                          <a:solidFill>
                            <a:srgbClr val="FFFFFF"/>
                          </a:solidFill>
                          <a:latin typeface="Arial"/>
                        </a:rPr>
                        <a:t>Cara tarik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39" b="1">
                          <a:solidFill>
                            <a:srgbClr val="FFFFFF"/>
                          </a:solidFill>
                          <a:latin typeface="Arial"/>
                        </a:rPr>
                        <a:t>Jadwal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39" b="1">
                          <a:solidFill>
                            <a:srgbClr val="FFFFFF"/>
                          </a:solidFill>
                          <a:latin typeface="Arial"/>
                        </a:rPr>
                        <a:t>Isi yang disimpan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r>
                        <a:rPr sz="2039" b="1">
                          <a:solidFill>
                            <a:srgbClr val="1F2937"/>
                          </a:solidFill>
                          <a:latin typeface="Arial"/>
                        </a:rPr>
                        <a:t>ManageEngine SDP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39" b="0">
                          <a:solidFill>
                            <a:srgbClr val="1F2937"/>
                          </a:solidFill>
                          <a:latin typeface="Arial"/>
                        </a:rPr>
                        <a:t>REST API v3, inkremental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39" b="0">
                          <a:solidFill>
                            <a:srgbClr val="1F2937"/>
                          </a:solidFill>
                          <a:latin typeface="Arial"/>
                        </a:rPr>
                        <a:t>tiap 15 menit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39" b="0">
                          <a:solidFill>
                            <a:srgbClr val="1F2937"/>
                          </a:solidFill>
                          <a:latin typeface="Arial"/>
                        </a:rPr>
                        <a:t>Tiket, kategori, SLA, teknisi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r>
                        <a:rPr sz="2039" b="1">
                          <a:solidFill>
                            <a:srgbClr val="1F2937"/>
                          </a:solidFill>
                          <a:latin typeface="Arial"/>
                        </a:rPr>
                        <a:t>PRTG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39" b="0">
                          <a:solidFill>
                            <a:srgbClr val="1F2937"/>
                          </a:solidFill>
                          <a:latin typeface="Arial"/>
                        </a:rPr>
                        <a:t>historicdata per sensor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39" b="0">
                          <a:solidFill>
                            <a:srgbClr val="1F2937"/>
                          </a:solidFill>
                          <a:latin typeface="Arial"/>
                        </a:rPr>
                        <a:t>tiap jam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39" b="0">
                          <a:solidFill>
                            <a:srgbClr val="1F2937"/>
                          </a:solidFill>
                          <a:latin typeface="Arial"/>
                        </a:rPr>
                        <a:t>Trafik, downtime, kejadian per link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r>
                        <a:rPr sz="2039" b="1">
                          <a:solidFill>
                            <a:srgbClr val="1F2937"/>
                          </a:solidFill>
                          <a:latin typeface="Arial"/>
                        </a:rPr>
                        <a:t>Zabbix 7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39" b="0">
                          <a:solidFill>
                            <a:srgbClr val="1F2937"/>
                          </a:solidFill>
                          <a:latin typeface="Arial"/>
                        </a:rPr>
                        <a:t>JSON-RPC + event.get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39" b="0">
                          <a:solidFill>
                            <a:srgbClr val="1F2937"/>
                          </a:solidFill>
                          <a:latin typeface="Arial"/>
                        </a:rPr>
                        <a:t>tiap 5 menit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39" b="0">
                          <a:solidFill>
                            <a:srgbClr val="1F2937"/>
                          </a:solidFill>
                          <a:latin typeface="Arial"/>
                        </a:rPr>
                        <a:t>Perangkat, status, riwayat down 60 hari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r>
                        <a:rPr sz="2039" b="1">
                          <a:solidFill>
                            <a:srgbClr val="1F2937"/>
                          </a:solidFill>
                          <a:latin typeface="Arial"/>
                        </a:rPr>
                        <a:t>Ruckus vSZ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39" b="0">
                          <a:solidFill>
                            <a:srgbClr val="1F2937"/>
                          </a:solidFill>
                          <a:latin typeface="Arial"/>
                        </a:rPr>
                        <a:t>Public REST API v11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39" b="0">
                          <a:solidFill>
                            <a:srgbClr val="1F2937"/>
                          </a:solidFill>
                          <a:latin typeface="Arial"/>
                        </a:rPr>
                        <a:t>tiap 5 menit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39" b="0">
                          <a:solidFill>
                            <a:srgbClr val="1F2937"/>
                          </a:solidFill>
                          <a:latin typeface="Arial"/>
                        </a:rPr>
                        <a:t>Client, AP, sesi, tren, usage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r>
                        <a:rPr sz="2039" b="1">
                          <a:solidFill>
                            <a:srgbClr val="1F2937"/>
                          </a:solidFill>
                          <a:latin typeface="Arial"/>
                        </a:rPr>
                        <a:t>Palo Alto Panorama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39" b="0">
                          <a:solidFill>
                            <a:srgbClr val="1F2937"/>
                          </a:solidFill>
                          <a:latin typeface="Arial"/>
                        </a:rPr>
                        <a:t>XML API, dynamic report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39" b="0">
                          <a:solidFill>
                            <a:srgbClr val="1F2937"/>
                          </a:solidFill>
                          <a:latin typeface="Arial"/>
                        </a:rPr>
                        <a:t>00.00 dan 12.00 WIB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39" b="0">
                          <a:solidFill>
                            <a:srgbClr val="1F2937"/>
                          </a:solidFill>
                          <a:latin typeface="Arial"/>
                        </a:rPr>
                        <a:t>Ringkasan harian dan tabel Top (7, 30 hari, bulanan)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r>
                        <a:rPr sz="2039" b="1">
                          <a:solidFill>
                            <a:srgbClr val="1F2937"/>
                          </a:solidFill>
                          <a:latin typeface="Arial"/>
                        </a:rPr>
                        <a:t>Trend Micro Vision One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39" b="0">
                          <a:solidFill>
                            <a:srgbClr val="1F2937"/>
                          </a:solidFill>
                          <a:latin typeface="Arial"/>
                        </a:rPr>
                        <a:t>REST API v3 (region Singapura)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39" b="0">
                          <a:solidFill>
                            <a:srgbClr val="1F2937"/>
                          </a:solidFill>
                          <a:latin typeface="Arial"/>
                        </a:rPr>
                        <a:t>tiap 15 menit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39" b="0">
                          <a:solidFill>
                            <a:srgbClr val="1F2937"/>
                          </a:solidFill>
                          <a:latin typeface="Arial"/>
                        </a:rPr>
                        <a:t>Alert Workbench: host, akun, MITRE, insiden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203" name="TextBox 202"/>
          <p:cNvSpPr txBox="1"/>
          <p:nvPr/>
        </p:nvSpPr>
        <p:spPr>
          <a:xfrm>
            <a:off x="822959" y="8229600"/>
            <a:ext cx="16641622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12" b="1">
                <a:solidFill>
                  <a:srgbClr val="0B2F6B"/>
                </a:solidFill>
                <a:latin typeface="Arial"/>
              </a:rPr>
              <a:t>Tersedia juga impor manual </a:t>
            </a:r>
            <a:r>
              <a:rPr sz="1912" b="0">
                <a:solidFill>
                  <a:srgbClr val="1F2937"/>
                </a:solidFill>
                <a:latin typeface="Arial"/>
              </a:rPr>
              <a:t>untuk SOC (CSV Panorama), PRTG (PDF harian), dan tiket (Excel). Impor manual dipakai sebagai validasi dan tidak tertimpa data API.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7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Yang tersimpan di database server ini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aphicFrame>
        <p:nvGraphicFramePr>
          <p:cNvPr id="202" name="Grafik data tersimpan"/>
          <p:cNvGraphicFramePr>
            <a:graphicFrameLocks noGrp="1"/>
          </p:cNvGraphicFramePr>
          <p:nvPr/>
        </p:nvGraphicFramePr>
        <p:xfrm>
          <a:off x="822959" y="1645919"/>
          <a:ext cx="10424159" cy="7269479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03" name="TextBox 202"/>
          <p:cNvSpPr txBox="1"/>
          <p:nvPr/>
        </p:nvSpPr>
        <p:spPr>
          <a:xfrm>
            <a:off x="11795759" y="1783080"/>
            <a:ext cx="5692140" cy="713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1784" b="1">
                <a:solidFill>
                  <a:srgbClr val="1F2937"/>
                </a:solidFill>
                <a:latin typeface="Arial"/>
              </a:rPr>
              <a:t>Dibaca dari database, </a:t>
            </a:r>
            <a:r>
              <a:rPr sz="1784" b="0">
                <a:solidFill>
                  <a:srgbClr val="1F2937"/>
                </a:solidFill>
                <a:latin typeface="Arial"/>
              </a:rPr>
              <a:t>bukan dari sumber, sehingga halaman cepat dan tetap tampil saat sumber tidak terjangkau.</a:t>
            </a:r>
          </a:p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1784" b="1">
                <a:solidFill>
                  <a:srgbClr val="1F2937"/>
                </a:solidFill>
                <a:latin typeface="Arial"/>
              </a:rPr>
              <a:t>Riwayat dibangun sendiri: </a:t>
            </a:r>
            <a:r>
              <a:rPr sz="1784" b="0">
                <a:solidFill>
                  <a:srgbClr val="1F2937"/>
                </a:solidFill>
                <a:latin typeface="Arial"/>
              </a:rPr>
              <a:t>sesi WiFi, kejadian down, tren per jam, alert XDR.</a:t>
            </a:r>
          </a:p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1784" b="1">
                <a:solidFill>
                  <a:srgbClr val="1F2937"/>
                </a:solidFill>
                <a:latin typeface="Arial"/>
              </a:rPr>
              <a:t>Retensi diatur parameter: </a:t>
            </a:r>
            <a:r>
              <a:rPr sz="1784" b="0">
                <a:solidFill>
                  <a:srgbClr val="1F2937"/>
                </a:solidFill>
                <a:latin typeface="Arial"/>
              </a:rPr>
              <a:t>sesi WiFi 90 hari, tren 400 hari.</a:t>
            </a:r>
          </a:p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1784" b="1">
                <a:solidFill>
                  <a:srgbClr val="1F2937"/>
                </a:solidFill>
                <a:latin typeface="Arial"/>
              </a:rPr>
              <a:t>Rahasia terenkripsi </a:t>
            </a:r>
            <a:r>
              <a:rPr sz="1784" b="0">
                <a:solidFill>
                  <a:srgbClr val="1F2937"/>
                </a:solidFill>
                <a:latin typeface="Arial"/>
              </a:rPr>
              <a:t>(token, password konektor, SMTP, webhook) dan tidak dikirim ke browser.</a:t>
            </a:r>
          </a:p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1784" b="1">
                <a:solidFill>
                  <a:srgbClr val="1F2937"/>
                </a:solidFill>
                <a:latin typeface="Arial"/>
              </a:rPr>
              <a:t>Backup database </a:t>
            </a:r>
            <a:r>
              <a:rPr sz="1784" b="0">
                <a:solidFill>
                  <a:srgbClr val="1F2937"/>
                </a:solidFill>
                <a:latin typeface="Arial"/>
              </a:rPr>
              <a:t>menjadi sumber kebenaran; jadwalkan terenkripsi di luar server.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8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Overview: status hari ini dan semua bidang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Status TICKETING"/>
          <p:cNvSpPr/>
          <p:nvPr/>
        </p:nvSpPr>
        <p:spPr>
          <a:xfrm>
            <a:off x="822959" y="1645919"/>
            <a:ext cx="3154679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097280" y="1947672"/>
            <a:ext cx="274320" cy="274320"/>
          </a:xfrm>
          <a:prstGeom prst="ellipse">
            <a:avLst/>
          </a:prstGeom>
          <a:solidFill>
            <a:srgbClr val="2FB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508760" y="1865376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2" b="1">
                <a:solidFill>
                  <a:srgbClr val="6B7280"/>
                </a:solidFill>
                <a:latin typeface="Arial"/>
              </a:rPr>
              <a:t>TICKETING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097280" y="2441448"/>
            <a:ext cx="26746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39" b="1">
                <a:solidFill>
                  <a:srgbClr val="0B2F6B"/>
                </a:solidFill>
                <a:latin typeface="Arial"/>
              </a:rPr>
              <a:t>Terkendali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097280" y="3017520"/>
            <a:ext cx="26746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30" b="0">
                <a:solidFill>
                  <a:srgbClr val="6B7280"/>
                </a:solidFill>
                <a:latin typeface="Arial"/>
              </a:rPr>
              <a:t>tiket, open, SLA</a:t>
            </a:r>
          </a:p>
        </p:txBody>
      </p:sp>
      <p:sp>
        <p:nvSpPr>
          <p:cNvPr id="207" name="Status NETWORK"/>
          <p:cNvSpPr/>
          <p:nvPr/>
        </p:nvSpPr>
        <p:spPr>
          <a:xfrm>
            <a:off x="4197096" y="1645919"/>
            <a:ext cx="3154679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471416" y="1947672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4882896" y="1865376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2" b="1">
                <a:solidFill>
                  <a:srgbClr val="6B7280"/>
                </a:solidFill>
                <a:latin typeface="Arial"/>
              </a:rPr>
              <a:t>NETWORK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471416" y="2441448"/>
            <a:ext cx="26746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39" b="1">
                <a:solidFill>
                  <a:srgbClr val="0B2F6B"/>
                </a:solidFill>
                <a:latin typeface="Arial"/>
              </a:rPr>
              <a:t>AP offline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4471416" y="3017520"/>
            <a:ext cx="26746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30" b="0">
                <a:solidFill>
                  <a:srgbClr val="6B7280"/>
                </a:solidFill>
                <a:latin typeface="Arial"/>
              </a:rPr>
              <a:t>availability link, client WiFi</a:t>
            </a:r>
          </a:p>
        </p:txBody>
      </p:sp>
      <p:sp>
        <p:nvSpPr>
          <p:cNvPr id="212" name="Status CYBER SECURITY"/>
          <p:cNvSpPr/>
          <p:nvPr/>
        </p:nvSpPr>
        <p:spPr>
          <a:xfrm>
            <a:off x="7571231" y="1645919"/>
            <a:ext cx="3154679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7845552" y="1947672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8257031" y="1865376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2" b="1">
                <a:solidFill>
                  <a:srgbClr val="6B7280"/>
                </a:solidFill>
                <a:latin typeface="Arial"/>
              </a:rPr>
              <a:t>CYBER SECURITY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7845552" y="2441448"/>
            <a:ext cx="26746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39" b="1">
                <a:solidFill>
                  <a:srgbClr val="0B2F6B"/>
                </a:solidFill>
                <a:latin typeface="Arial"/>
              </a:rPr>
              <a:t>Perlu tindak lanjut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7845552" y="3017520"/>
            <a:ext cx="26746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30" b="0">
                <a:solidFill>
                  <a:srgbClr val="6B7280"/>
                </a:solidFill>
                <a:latin typeface="Arial"/>
              </a:rPr>
              <a:t>event NDR, alert XDR</a:t>
            </a:r>
          </a:p>
        </p:txBody>
      </p:sp>
      <p:sp>
        <p:nvSpPr>
          <p:cNvPr id="217" name="Status DEVICES"/>
          <p:cNvSpPr/>
          <p:nvPr/>
        </p:nvSpPr>
        <p:spPr>
          <a:xfrm>
            <a:off x="10945367" y="1645919"/>
            <a:ext cx="3154679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1219688" y="1947672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11631168" y="1865376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2" b="1">
                <a:solidFill>
                  <a:srgbClr val="6B7280"/>
                </a:solidFill>
                <a:latin typeface="Arial"/>
              </a:rPr>
              <a:t>DEVICES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1219688" y="2441448"/>
            <a:ext cx="26746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39" b="1">
                <a:solidFill>
                  <a:srgbClr val="0B2F6B"/>
                </a:solidFill>
                <a:latin typeface="Arial"/>
              </a:rPr>
              <a:t>Perangkat down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1219688" y="3017520"/>
            <a:ext cx="26746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30" b="0">
                <a:solidFill>
                  <a:srgbClr val="6B7280"/>
                </a:solidFill>
                <a:latin typeface="Arial"/>
              </a:rPr>
              <a:t>availability, total perangkat</a:t>
            </a:r>
          </a:p>
        </p:txBody>
      </p:sp>
      <p:sp>
        <p:nvSpPr>
          <p:cNvPr id="222" name="Status HANDOVER"/>
          <p:cNvSpPr/>
          <p:nvPr/>
        </p:nvSpPr>
        <p:spPr>
          <a:xfrm>
            <a:off x="14319504" y="1645919"/>
            <a:ext cx="3154679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4593823" y="1947672"/>
            <a:ext cx="274320" cy="274320"/>
          </a:xfrm>
          <a:prstGeom prst="ellipse">
            <a:avLst/>
          </a:prstGeom>
          <a:solidFill>
            <a:srgbClr val="2FB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5005304" y="1865376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2" b="1">
                <a:solidFill>
                  <a:srgbClr val="6B7280"/>
                </a:solidFill>
                <a:latin typeface="Arial"/>
              </a:rPr>
              <a:t>HANDOVER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14593823" y="2441448"/>
            <a:ext cx="26746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39" b="1">
                <a:solidFill>
                  <a:srgbClr val="0B2F6B"/>
                </a:solidFill>
                <a:latin typeface="Arial"/>
              </a:rPr>
              <a:t>Terkendali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4593823" y="3017520"/>
            <a:ext cx="26746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30" b="0">
                <a:solidFill>
                  <a:srgbClr val="6B7280"/>
                </a:solidFill>
                <a:latin typeface="Arial"/>
              </a:rPr>
              <a:t>serah terima shift</a:t>
            </a:r>
          </a:p>
        </p:txBody>
      </p:sp>
      <p:sp>
        <p:nvSpPr>
          <p:cNvPr id="227" name="Kartu Yang ditampilkan"/>
          <p:cNvSpPr/>
          <p:nvPr/>
        </p:nvSpPr>
        <p:spPr>
          <a:xfrm>
            <a:off x="822959" y="4183380"/>
            <a:ext cx="8092440" cy="4663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1165860" y="4485132"/>
            <a:ext cx="7406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Yang ditampilkan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65860" y="5170932"/>
            <a:ext cx="7406640" cy="3470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167" b="0">
                <a:solidFill>
                  <a:srgbClr val="1F2937"/>
                </a:solidFill>
                <a:latin typeface="Arial"/>
              </a:rPr>
              <a:t>Status Hari Ini per bidang (hijau, kuning, merah)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167" b="0">
                <a:solidFill>
                  <a:srgbClr val="1F2937"/>
                </a:solidFill>
                <a:latin typeface="Arial"/>
              </a:rPr>
              <a:t>Attention: tiket lama, link di bawah target, alert tanpa blokir, AP offline, backlog XDR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167" b="0">
                <a:solidFill>
                  <a:srgbClr val="1F2937"/>
                </a:solidFill>
                <a:latin typeface="Arial"/>
              </a:rPr>
              <a:t>On Duty dan eskalasi, handover yang masih terbuka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167" b="0">
                <a:solidFill>
                  <a:srgbClr val="1F2937"/>
                </a:solidFill>
                <a:latin typeface="Arial"/>
              </a:rPr>
              <a:t>Grafik: tiket, downtime link, event NDR, alert XDR, tren WiFi</a:t>
            </a:r>
          </a:p>
        </p:txBody>
      </p:sp>
      <p:sp>
        <p:nvSpPr>
          <p:cNvPr id="230" name="Kartu Diatur sesuai kebutu"/>
          <p:cNvSpPr/>
          <p:nvPr/>
        </p:nvSpPr>
        <p:spPr>
          <a:xfrm>
            <a:off x="9326880" y="4183380"/>
            <a:ext cx="8133588" cy="4663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9669780" y="4485132"/>
            <a:ext cx="74477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Diatur sesuai kebutuhan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669780" y="5170932"/>
            <a:ext cx="7447788" cy="3470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167" b="0">
                <a:solidFill>
                  <a:srgbClr val="1F2937"/>
                </a:solidFill>
                <a:latin typeface="Arial"/>
              </a:rPr>
              <a:t>Customize: pindah, ubah ukuran, sembunyikan, tambah dari katalog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167" b="0">
                <a:solidFill>
                  <a:srgbClr val="1F2937"/>
                </a:solidFill>
                <a:latin typeface="Arial"/>
              </a:rPr>
              <a:t>Tata letak bisa berbeda per role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167" b="0">
                <a:solidFill>
                  <a:srgbClr val="1F2937"/>
                </a:solidFill>
                <a:latin typeface="Arial"/>
              </a:rPr>
              <a:t>Filter periode, shift, dan lokasi berlaku di semua panel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167" b="0">
                <a:solidFill>
                  <a:srgbClr val="1F2937"/>
                </a:solidFill>
                <a:latin typeface="Arial"/>
              </a:rPr>
              <a:t>Bandingkan dengan periode sebelumnya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9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Network: ringkasan gabungan PRTG dan WiFi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Kartu Summary"/>
          <p:cNvSpPr/>
          <p:nvPr/>
        </p:nvSpPr>
        <p:spPr>
          <a:xfrm>
            <a:off x="822959" y="1645919"/>
            <a:ext cx="5318607" cy="7132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165860" y="1947672"/>
            <a:ext cx="685800" cy="685800"/>
          </a:xfrm>
          <a:prstGeom prst="ellipse">
            <a:avLst/>
          </a:prstGeom>
          <a:solidFill>
            <a:srgbClr val="0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Σ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57400" y="1947672"/>
            <a:ext cx="3809847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Summary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165860" y="2976372"/>
            <a:ext cx="4632807" cy="5596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Perhatian gabungan: link di bawah target, AP offline, sinyal lemah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KPI link dan KPI WiFi berdampingan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Downtime per hari dan top 5 link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Ringkasan per lokasi: link, availability, AP, client</a:t>
            </a:r>
          </a:p>
        </p:txBody>
      </p:sp>
      <p:sp>
        <p:nvSpPr>
          <p:cNvPr id="206" name="Kartu PRTG · link dan traf"/>
          <p:cNvSpPr/>
          <p:nvPr/>
        </p:nvSpPr>
        <p:spPr>
          <a:xfrm>
            <a:off x="6484467" y="1645919"/>
            <a:ext cx="5318607" cy="7132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6827367" y="1947672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P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718907" y="1947672"/>
            <a:ext cx="3809847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PRTG · link dan trafik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827367" y="2976372"/>
            <a:ext cx="4632807" cy="5596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Availability terhadap target SLA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Trafik total dan per sensor, utilisasi puncak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Ranking downtime, 20 kejadian terlama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Ringkasan per ISP dan per lokasi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Data per jam dari API; PDF harian tetap terbaca</a:t>
            </a:r>
          </a:p>
        </p:txBody>
      </p:sp>
      <p:sp>
        <p:nvSpPr>
          <p:cNvPr id="210" name="Kartu WiFi · Ruckus vSZ"/>
          <p:cNvSpPr/>
          <p:nvPr/>
        </p:nvSpPr>
        <p:spPr>
          <a:xfrm>
            <a:off x="12145975" y="1645919"/>
            <a:ext cx="5318607" cy="7132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2488875" y="1947672"/>
            <a:ext cx="685800" cy="685800"/>
          </a:xfrm>
          <a:prstGeom prst="ellipse">
            <a:avLst/>
          </a:prstGeom>
          <a:solidFill>
            <a:srgbClr val="25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W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3380415" y="1947672"/>
            <a:ext cx="3809847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WiFi · Ruckus vSZ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2488875" y="2976372"/>
            <a:ext cx="4632807" cy="5596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Client aktif, AP online, sinyal lemah, usage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Portal Users: client SSID portal, status login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Filter band, SSID, zone, lokasi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Riwayat: usage per zone, SSID, client, jam sibuk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Putus sesi (Disconnect, Deauth) untuk role berizin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10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Cyber Security: NDR Palo Alto dan XDR Trend Micro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Kartu Summary"/>
          <p:cNvSpPr/>
          <p:nvPr/>
        </p:nvSpPr>
        <p:spPr>
          <a:xfrm>
            <a:off x="822959" y="1645919"/>
            <a:ext cx="5318607" cy="7132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165860" y="1947672"/>
            <a:ext cx="685800" cy="685800"/>
          </a:xfrm>
          <a:prstGeom prst="ellipse">
            <a:avLst/>
          </a:prstGeom>
          <a:solidFill>
            <a:srgbClr val="0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Σ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57400" y="1947672"/>
            <a:ext cx="3809847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Summary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165860" y="2976372"/>
            <a:ext cx="4632807" cy="5596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Perhatian: event critical/high hanya alert, backlog XDR, data NDR belum lengkap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KPI NDR dan XDR berdampingan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Event dan alert per hari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Severity, model deteksi, host terdampak, teknik MITRE</a:t>
            </a:r>
          </a:p>
        </p:txBody>
      </p:sp>
      <p:sp>
        <p:nvSpPr>
          <p:cNvPr id="206" name="Kartu NDR · Palo Alto"/>
          <p:cNvSpPr/>
          <p:nvPr/>
        </p:nvSpPr>
        <p:spPr>
          <a:xfrm>
            <a:off x="6484467" y="1645919"/>
            <a:ext cx="5318607" cy="7132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6827367" y="1947672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N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718907" y="1947672"/>
            <a:ext cx="3809847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NDR · Palo Alto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827367" y="2976372"/>
            <a:ext cx="4632807" cy="5596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Total event, critical/high, persentase diblokir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Per severity, tindakan, kategori ancaman, URL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Tabel Top mengikuti filter periode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Tarik otomatis 00.00 dan 12.00 WIB, tombol tarik manual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Impor CSV tetap sebagai validasi</a:t>
            </a:r>
          </a:p>
        </p:txBody>
      </p:sp>
      <p:sp>
        <p:nvSpPr>
          <p:cNvPr id="210" name="Kartu XDR · Trend Micro"/>
          <p:cNvSpPr/>
          <p:nvPr/>
        </p:nvSpPr>
        <p:spPr>
          <a:xfrm>
            <a:off x="12145975" y="1645919"/>
            <a:ext cx="5318607" cy="7132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2488875" y="1947672"/>
            <a:ext cx="685800" cy="685800"/>
          </a:xfrm>
          <a:prstGeom prst="ellipse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X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3380415" y="1947672"/>
            <a:ext cx="3809847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XDR · Trend Micro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2488875" y="2976372"/>
            <a:ext cx="4632807" cy="5596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Alert Workbench dengan severity dan status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Host dan akun terdampak (dengan IP)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Teknik MITRE ATT&amp;CK dan insiden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Umur backlog, hasil investigasi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Tautan langsung ke Workbench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11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Devices: kondisi perangkat dari Zabbix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Statistik 1.772"/>
          <p:cNvSpPr/>
          <p:nvPr/>
        </p:nvSpPr>
        <p:spPr>
          <a:xfrm>
            <a:off x="822959" y="1645919"/>
            <a:ext cx="3977639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1097280" y="1851660"/>
            <a:ext cx="34290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10" b="1">
                <a:solidFill>
                  <a:srgbClr val="0B75BB"/>
                </a:solidFill>
                <a:latin typeface="Arial"/>
              </a:rPr>
              <a:t>1.772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097280" y="299008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perangkat dipantau (CCTV, Gate System, jaringan)</a:t>
            </a:r>
          </a:p>
        </p:txBody>
      </p:sp>
      <p:sp>
        <p:nvSpPr>
          <p:cNvPr id="205" name="Statistik 51 + 36"/>
          <p:cNvSpPr/>
          <p:nvPr/>
        </p:nvSpPr>
        <p:spPr>
          <a:xfrm>
            <a:off x="822959" y="4046220"/>
            <a:ext cx="3977639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097280" y="4251960"/>
            <a:ext cx="34290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10" b="1">
                <a:solidFill>
                  <a:srgbClr val="0B75BB"/>
                </a:solidFill>
                <a:latin typeface="Arial"/>
              </a:rPr>
              <a:t>51 + 36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97280" y="539038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kode lokasi dan kode perangkat di kamus</a:t>
            </a:r>
          </a:p>
        </p:txBody>
      </p:sp>
      <p:sp>
        <p:nvSpPr>
          <p:cNvPr id="208" name="Statistik 60 hari"/>
          <p:cNvSpPr/>
          <p:nvPr/>
        </p:nvSpPr>
        <p:spPr>
          <a:xfrm>
            <a:off x="822959" y="6446520"/>
            <a:ext cx="3977639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1097280" y="6652260"/>
            <a:ext cx="34290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10" b="1">
                <a:solidFill>
                  <a:srgbClr val="0B75BB"/>
                </a:solidFill>
                <a:latin typeface="Arial"/>
              </a:rPr>
              <a:t>60 hari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1097280" y="779068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riwayat kejadian down langsung dari Zabbix</a:t>
            </a:r>
          </a:p>
        </p:txBody>
      </p:sp>
      <p:sp>
        <p:nvSpPr>
          <p:cNvPr id="211" name="Kartu Tampilan"/>
          <p:cNvSpPr/>
          <p:nvPr/>
        </p:nvSpPr>
        <p:spPr>
          <a:xfrm>
            <a:off x="5212079" y="1645919"/>
            <a:ext cx="6172200" cy="7132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5554979" y="1947672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Tampilan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5554979" y="2633471"/>
            <a:ext cx="5486400" cy="59390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167" b="0">
                <a:solidFill>
                  <a:srgbClr val="1F2937"/>
                </a:solidFill>
                <a:latin typeface="Arial"/>
              </a:rPr>
              <a:t>Peta lokasi (Leaflet, OpenStreetMap) dengan warna availability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167" b="0">
                <a:solidFill>
                  <a:srgbClr val="1F2937"/>
                </a:solidFill>
                <a:latin typeface="Arial"/>
              </a:rPr>
              <a:t>Status per kategori dan per tipe perangkat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167" b="0">
                <a:solidFill>
                  <a:srgbClr val="1F2937"/>
                </a:solidFill>
                <a:latin typeface="Arial"/>
              </a:rPr>
              <a:t>Down terlama, lama down, down per lokasi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167" b="0">
                <a:solidFill>
                  <a:srgbClr val="1F2937"/>
                </a:solidFill>
                <a:latin typeface="Arial"/>
              </a:rPr>
              <a:t>Filter lokasi, kategori, group, tipe, status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167" b="0">
                <a:solidFill>
                  <a:srgbClr val="1F2937"/>
                </a:solidFill>
                <a:latin typeface="Arial"/>
              </a:rPr>
              <a:t>Widget peta per group (mis. Network-SDWAN)</a:t>
            </a:r>
          </a:p>
        </p:txBody>
      </p:sp>
      <p:sp>
        <p:nvSpPr>
          <p:cNvPr id="214" name="Kartu Riwayat dan kamus"/>
          <p:cNvSpPr/>
          <p:nvPr/>
        </p:nvSpPr>
        <p:spPr>
          <a:xfrm>
            <a:off x="11658600" y="1645919"/>
            <a:ext cx="5801868" cy="7132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2001500" y="1947672"/>
            <a:ext cx="51160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Riwayat dan kamus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2001500" y="2633471"/>
            <a:ext cx="5116068" cy="59390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167" b="0">
                <a:solidFill>
                  <a:srgbClr val="1F2937"/>
                </a:solidFill>
                <a:latin typeface="Arial"/>
              </a:rPr>
              <a:t>Kejadian down, downtime, MTTR, availability periode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167" b="0">
                <a:solidFill>
                  <a:srgbClr val="1F2937"/>
                </a:solidFill>
                <a:latin typeface="Arial"/>
              </a:rPr>
              <a:t>Perangkat paling sering down, masalah dominan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167" b="0">
                <a:solidFill>
                  <a:srgbClr val="1F2937"/>
                </a:solidFill>
                <a:latin typeface="Arial"/>
              </a:rPr>
              <a:t>Kode nama host diurai otomatis: cabang, zona, tipe, urutan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167" b="0">
                <a:solidFill>
                  <a:srgbClr val="1F2937"/>
                </a:solidFill>
                <a:latin typeface="Arial"/>
              </a:rPr>
              <a:t>Kode baru terdaftar otomatis untuk dilengkapi Admin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12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Ticketing, personel, dan serah terima shift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Kartu Ticketing"/>
          <p:cNvSpPr/>
          <p:nvPr/>
        </p:nvSpPr>
        <p:spPr>
          <a:xfrm>
            <a:off x="822959" y="1645919"/>
            <a:ext cx="5318607" cy="7132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165860" y="1947672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T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57400" y="1947672"/>
            <a:ext cx="3809847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Ticketing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165860" y="2976372"/>
            <a:ext cx="4632807" cy="5596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Tiket masuk, close, SLA, durasi median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Ranking teknisi dan group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Kategori, lokasi, jam, hari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Tiket open terlama dan 25 tiket terlama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Sinkron API tiap 15 menit + impor Excel</a:t>
            </a:r>
          </a:p>
        </p:txBody>
      </p:sp>
      <p:sp>
        <p:nvSpPr>
          <p:cNvPr id="206" name="Kartu Personnel"/>
          <p:cNvSpPr/>
          <p:nvPr/>
        </p:nvSpPr>
        <p:spPr>
          <a:xfrm>
            <a:off x="6484467" y="1645919"/>
            <a:ext cx="5318607" cy="7132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6827367" y="1947672"/>
            <a:ext cx="685800" cy="685800"/>
          </a:xfrm>
          <a:prstGeom prst="ellipse">
            <a:avLst/>
          </a:prstGeom>
          <a:solidFill>
            <a:srgbClr val="0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P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718907" y="1947672"/>
            <a:ext cx="3809847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Personnel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827367" y="2976372"/>
            <a:ext cx="4632807" cy="5596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Rotasi 4 tim, 3 shift, jadwal bulanan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Siapa bertugas sekarang dan berikutnya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Kontak eskalasi dan layanan IT Care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Pola rotasi dan anggota dari parameter</a:t>
            </a:r>
          </a:p>
        </p:txBody>
      </p:sp>
      <p:sp>
        <p:nvSpPr>
          <p:cNvPr id="210" name="Kartu Handover dan Data"/>
          <p:cNvSpPr/>
          <p:nvPr/>
        </p:nvSpPr>
        <p:spPr>
          <a:xfrm>
            <a:off x="12145975" y="1645919"/>
            <a:ext cx="5318607" cy="7132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2488875" y="1947672"/>
            <a:ext cx="685800" cy="685800"/>
          </a:xfrm>
          <a:prstGeom prst="ellipse">
            <a:avLst/>
          </a:prstGeom>
          <a:solidFill>
            <a:srgbClr val="25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H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3380415" y="1947672"/>
            <a:ext cx="3809847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Handover dan Data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2488875" y="2976372"/>
            <a:ext cx="4632807" cy="5596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Serah terima shift: prioritas, tindak lanjut, penutupan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Notifikasi webhook (Teams, Slack, Telegram)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Kelengkapan data harian SOC dan log unggah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Riwayat sinkron dan unggahan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13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Report: sepuluh jenis laporan, tiga format, satu tampilan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Rounded Rectangle 201"/>
          <p:cNvSpPr/>
          <p:nvPr/>
        </p:nvSpPr>
        <p:spPr>
          <a:xfrm>
            <a:off x="822959" y="1645919"/>
            <a:ext cx="3154679" cy="850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32688" y="1645919"/>
            <a:ext cx="293522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7" b="1">
                <a:solidFill>
                  <a:srgbClr val="0B2F6B"/>
                </a:solidFill>
                <a:latin typeface="Arial"/>
              </a:rPr>
              <a:t>Summary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4183380" y="1645919"/>
            <a:ext cx="3154679" cy="850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4293108" y="1645919"/>
            <a:ext cx="293522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7" b="1">
                <a:solidFill>
                  <a:srgbClr val="0B2F6B"/>
                </a:solidFill>
                <a:latin typeface="Arial"/>
              </a:rPr>
              <a:t>Network (PRTG + WiFi)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7543800" y="1645919"/>
            <a:ext cx="3154679" cy="850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7653528" y="1645919"/>
            <a:ext cx="293522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7" b="1">
                <a:solidFill>
                  <a:srgbClr val="0B2F6B"/>
                </a:solidFill>
                <a:latin typeface="Arial"/>
              </a:rPr>
              <a:t>Cyber Security (NDR + XDR)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10904220" y="1645919"/>
            <a:ext cx="3154679" cy="850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11013947" y="1645919"/>
            <a:ext cx="293522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7" b="1">
                <a:solidFill>
                  <a:srgbClr val="0B2F6B"/>
                </a:solidFill>
                <a:latin typeface="Arial"/>
              </a:rPr>
              <a:t>Ticketing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14264640" y="1645919"/>
            <a:ext cx="3154679" cy="850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14374368" y="1645919"/>
            <a:ext cx="293522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7" b="1">
                <a:solidFill>
                  <a:srgbClr val="0B2F6B"/>
                </a:solidFill>
                <a:latin typeface="Arial"/>
              </a:rPr>
              <a:t>PRTG (Link)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822959" y="2743199"/>
            <a:ext cx="3154679" cy="850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932688" y="2743199"/>
            <a:ext cx="293522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7" b="1">
                <a:solidFill>
                  <a:srgbClr val="0B2F6B"/>
                </a:solidFill>
                <a:latin typeface="Arial"/>
              </a:rPr>
              <a:t>WiFi (Ruckus)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4183380" y="2743199"/>
            <a:ext cx="3154679" cy="850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4293108" y="2743199"/>
            <a:ext cx="293522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7" b="1">
                <a:solidFill>
                  <a:srgbClr val="0B2F6B"/>
                </a:solidFill>
                <a:latin typeface="Arial"/>
              </a:rPr>
              <a:t>NDR (Palo Alto)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7543800" y="2743199"/>
            <a:ext cx="3154679" cy="850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653528" y="2743199"/>
            <a:ext cx="293522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7" b="1">
                <a:solidFill>
                  <a:srgbClr val="0B2F6B"/>
                </a:solidFill>
                <a:latin typeface="Arial"/>
              </a:rPr>
              <a:t>XDR (Trend Micro)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0904220" y="2743199"/>
            <a:ext cx="3154679" cy="850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11013947" y="2743199"/>
            <a:ext cx="293522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7" b="1">
                <a:solidFill>
                  <a:srgbClr val="0B2F6B"/>
                </a:solidFill>
                <a:latin typeface="Arial"/>
              </a:rPr>
              <a:t>Devices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14264640" y="2743199"/>
            <a:ext cx="3154679" cy="850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14374368" y="2743199"/>
            <a:ext cx="293522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7" b="1">
                <a:solidFill>
                  <a:srgbClr val="0B2F6B"/>
                </a:solidFill>
                <a:latin typeface="Arial"/>
              </a:rPr>
              <a:t>Full</a:t>
            </a:r>
          </a:p>
        </p:txBody>
      </p:sp>
      <p:sp>
        <p:nvSpPr>
          <p:cNvPr id="222" name="Format Excel"/>
          <p:cNvSpPr/>
          <p:nvPr/>
        </p:nvSpPr>
        <p:spPr>
          <a:xfrm>
            <a:off x="822959" y="4251960"/>
            <a:ext cx="5349240" cy="16459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165860" y="4416552"/>
            <a:ext cx="4663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0" b="1">
                <a:solidFill>
                  <a:srgbClr val="0B75BB"/>
                </a:solidFill>
                <a:latin typeface="Arial"/>
              </a:rPr>
              <a:t>Excel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165860" y="514350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84" b="0">
                <a:solidFill>
                  <a:srgbClr val="6B7280"/>
                </a:solidFill>
                <a:latin typeface="Arial"/>
              </a:rPr>
              <a:t>data dan format angka asli</a:t>
            </a:r>
          </a:p>
        </p:txBody>
      </p:sp>
      <p:sp>
        <p:nvSpPr>
          <p:cNvPr id="225" name="Format PDF"/>
          <p:cNvSpPr/>
          <p:nvPr/>
        </p:nvSpPr>
        <p:spPr>
          <a:xfrm>
            <a:off x="6446519" y="4251960"/>
            <a:ext cx="5349240" cy="16459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789419" y="4416552"/>
            <a:ext cx="4663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0" b="1">
                <a:solidFill>
                  <a:srgbClr val="0B75BB"/>
                </a:solidFill>
                <a:latin typeface="Arial"/>
              </a:rPr>
              <a:t>PDF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6789419" y="514350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84" b="0">
                <a:solidFill>
                  <a:srgbClr val="6B7280"/>
                </a:solidFill>
                <a:latin typeface="Arial"/>
              </a:rPr>
              <a:t>siap cetak dan arsip</a:t>
            </a:r>
          </a:p>
        </p:txBody>
      </p:sp>
      <p:sp>
        <p:nvSpPr>
          <p:cNvPr id="228" name="Format PowerPoint"/>
          <p:cNvSpPr/>
          <p:nvPr/>
        </p:nvSpPr>
        <p:spPr>
          <a:xfrm>
            <a:off x="12070080" y="4251960"/>
            <a:ext cx="5349240" cy="16459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12412980" y="4416552"/>
            <a:ext cx="4663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0" b="1">
                <a:solidFill>
                  <a:srgbClr val="0B75BB"/>
                </a:solidFill>
                <a:latin typeface="Arial"/>
              </a:rPr>
              <a:t>PowerPoint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2412980" y="514350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84" b="0">
                <a:solidFill>
                  <a:srgbClr val="6B7280"/>
                </a:solidFill>
                <a:latin typeface="Arial"/>
              </a:rPr>
              <a:t>template Pelindo untuk rapat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822959" y="6377940"/>
            <a:ext cx="16641622" cy="2606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2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Periode, shift, dan lokasi mengikuti filter; ukuran Compact, Standard, Full memilih jumlah grafik</a:t>
            </a:r>
          </a:p>
          <a:p>
            <a:pPr marL="274320" indent="-274320">
              <a:spcAft>
                <a:spcPts val="12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Bagian laporan mengikuti izin role dan lokasi yang dikunci</a:t>
            </a:r>
          </a:p>
          <a:p>
            <a:pPr marL="274320" indent="-274320">
              <a:spcAft>
                <a:spcPts val="12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Status perangkat dan WiFi adalah kondisi saat laporan dibuat; bagian riwayat mengikuti periode</a:t>
            </a:r>
          </a:p>
          <a:p>
            <a:pPr marL="274320" indent="-274320">
              <a:spcAft>
                <a:spcPts val="12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Setiap unduhan tercatat di audit log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14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Tampilan yang bisa diatur tanpa mengubah kode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Kartu Customize per halama"/>
          <p:cNvSpPr/>
          <p:nvPr/>
        </p:nvSpPr>
        <p:spPr>
          <a:xfrm>
            <a:off x="822959" y="1645919"/>
            <a:ext cx="8229600" cy="7132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165860" y="1947672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57400" y="1947672"/>
            <a:ext cx="67208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Customize per halaman dan role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165860" y="2976372"/>
            <a:ext cx="7543800" cy="5596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Pindah (seret), ubah lebar, ganti judul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Sembunyikan, hapus, atau tambah lagi dari katalog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Setiap role bisa punya tata letak sendiri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Reset kembali ke bawaan kapan saja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Filter widget peta (group) langsung di toolbar</a:t>
            </a:r>
          </a:p>
        </p:txBody>
      </p:sp>
      <p:sp>
        <p:nvSpPr>
          <p:cNvPr id="206" name="Kartu Filter seragam di se"/>
          <p:cNvSpPr/>
          <p:nvPr/>
        </p:nvSpPr>
        <p:spPr>
          <a:xfrm>
            <a:off x="9395459" y="1645919"/>
            <a:ext cx="8065008" cy="7132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9738359" y="1947672"/>
            <a:ext cx="685800" cy="685800"/>
          </a:xfrm>
          <a:prstGeom prst="ellipse">
            <a:avLst/>
          </a:prstGeom>
          <a:solidFill>
            <a:srgbClr val="0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F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629900" y="1947672"/>
            <a:ext cx="6556247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Filter seragam di semua menu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9738359" y="2976372"/>
            <a:ext cx="7379208" cy="5596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Period, Shift, Location di bar atas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Filter khusus: Category, Group, Type, Status (Devices)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Band, SSID, Zone (WiFi); Severity (XDR)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Sidebar bisa diciutkan ke mode ikon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Chip On duty hidup: jam berdetik, titik berdenyut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15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Role dan hak akses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aphicFrame>
        <p:nvGraphicFramePr>
          <p:cNvPr id="202" name="Table 201"/>
          <p:cNvGraphicFramePr>
            <a:graphicFrameLocks noGrp="1"/>
          </p:cNvGraphicFramePr>
          <p:nvPr/>
        </p:nvGraphicFramePr>
        <p:xfrm>
          <a:off x="822959" y="1645919"/>
          <a:ext cx="16637508" cy="6007608"/>
        </p:xfrm>
        <a:graphic>
          <a:graphicData uri="http://schemas.openxmlformats.org/drawingml/2006/table">
            <a:tbl>
              <a:tblPr firstRow="0" bandRow="0"/>
              <a:tblGrid>
                <a:gridCol w="2880360"/>
                <a:gridCol w="7818120"/>
                <a:gridCol w="2880360"/>
                <a:gridCol w="3058668"/>
              </a:tblGrid>
              <a:tr h="630936">
                <a:tc>
                  <a:txBody>
                    <a:bodyPr wrap="square"/>
                    <a:lstStyle/>
                    <a:p>
                      <a:r>
                        <a:rPr sz="1784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1">
                          <a:solidFill>
                            <a:srgbClr val="FFFFFF"/>
                          </a:solidFill>
                          <a:latin typeface="Arial"/>
                        </a:rPr>
                        <a:t>Modul yang terlihat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1">
                          <a:solidFill>
                            <a:srgbClr val="FFFFFF"/>
                          </a:solidFill>
                          <a:latin typeface="Arial"/>
                        </a:rPr>
                        <a:t>Lokasi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1">
                          <a:solidFill>
                            <a:srgbClr val="FFFFFF"/>
                          </a:solidFill>
                          <a:latin typeface="Arial"/>
                        </a:rPr>
                        <a:t>Catatan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784" b="1">
                          <a:solidFill>
                            <a:srgbClr val="1F2937"/>
                          </a:solidFill>
                          <a:latin typeface="Arial"/>
                        </a:rPr>
                        <a:t>Super Admin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Semua modul dan Admin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Semua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Kelola pengguna, integrasi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784" b="1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Semua modul, Admin hanya baca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Semua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Koordinator ITOC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784" b="1">
                          <a:solidFill>
                            <a:srgbClr val="1F2937"/>
                          </a:solidFill>
                          <a:latin typeface="Arial"/>
                        </a:rPr>
                        <a:t>ITOC Shift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Overview, Ticketing, Network, Cyber, Devices, Personel, Report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Semua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Operator shift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784" b="1">
                          <a:solidFill>
                            <a:srgbClr val="1F2937"/>
                          </a:solidFill>
                          <a:latin typeface="Arial"/>
                        </a:rPr>
                        <a:t>Management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Overview, Ticketing, Network, Cyber, Devices, Personel, Report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Semua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Hanya melihat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784" b="1">
                          <a:solidFill>
                            <a:srgbClr val="1F2937"/>
                          </a:solidFill>
                          <a:latin typeface="Arial"/>
                        </a:rPr>
                        <a:t>IT Care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Overview, Ticketing, Network, Personel, Report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Kantor pusat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Dikunci ke lokasi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784" b="1">
                          <a:solidFill>
                            <a:srgbClr val="1F2937"/>
                          </a:solidFill>
                          <a:latin typeface="Arial"/>
                        </a:rPr>
                        <a:t>EOS Branch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Overview, Ticketing, Network, Personel, Report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Lokasi akun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Dikunci ke cabang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784" b="1">
                          <a:solidFill>
                            <a:srgbClr val="1F2937"/>
                          </a:solidFill>
                          <a:latin typeface="Arial"/>
                        </a:rPr>
                        <a:t>WiFi Viewer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Hanya WiFi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Semua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Tanpa putus sesi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3" name="TextBox 202"/>
          <p:cNvSpPr txBox="1"/>
          <p:nvPr/>
        </p:nvSpPr>
        <p:spPr>
          <a:xfrm>
            <a:off x="822959" y="8366760"/>
            <a:ext cx="1664162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84" b="1">
                <a:solidFill>
                  <a:srgbClr val="0B2F6B"/>
                </a:solidFill>
                <a:latin typeface="Arial"/>
              </a:rPr>
              <a:t>Aksi sensitif: </a:t>
            </a:r>
            <a:r>
              <a:rPr sz="1784" b="0">
                <a:solidFill>
                  <a:srgbClr val="1F2937"/>
                </a:solidFill>
                <a:latin typeface="Arial"/>
              </a:rPr>
              <a:t>Disconnect dan Deauth client WiFi hanya untuk Super Admin, Admin, dan username yang didaftarkan di parameter; setiap aksi tercatat (siapa, client, SSID, AP, alasan).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16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Keamanan: kontrol yang sudah ada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Kontrol Sesi"/>
          <p:cNvSpPr/>
          <p:nvPr/>
        </p:nvSpPr>
        <p:spPr>
          <a:xfrm>
            <a:off x="822959" y="1645919"/>
            <a:ext cx="3954665" cy="32918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1097280" y="1920239"/>
            <a:ext cx="340602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95" b="1">
                <a:solidFill>
                  <a:srgbClr val="0B75BB"/>
                </a:solidFill>
                <a:latin typeface="Arial"/>
              </a:rPr>
              <a:t>Sesi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097280" y="2606040"/>
            <a:ext cx="3406025" cy="21259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39" b="0">
                <a:solidFill>
                  <a:srgbClr val="1F2937"/>
                </a:solidFill>
                <a:latin typeface="Arial"/>
              </a:rPr>
              <a:t>Cookie HttpOnly, SameSite=Strict, Secure via HTTPS; sesi gugur saat password diganti</a:t>
            </a:r>
          </a:p>
        </p:txBody>
      </p:sp>
      <p:sp>
        <p:nvSpPr>
          <p:cNvPr id="205" name="Kontrol CSRF"/>
          <p:cNvSpPr/>
          <p:nvPr/>
        </p:nvSpPr>
        <p:spPr>
          <a:xfrm>
            <a:off x="5051945" y="1645919"/>
            <a:ext cx="3954665" cy="32918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5326265" y="1920239"/>
            <a:ext cx="340602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95" b="1">
                <a:solidFill>
                  <a:srgbClr val="0B75BB"/>
                </a:solidFill>
                <a:latin typeface="Arial"/>
              </a:rPr>
              <a:t>CSRF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326265" y="2606040"/>
            <a:ext cx="3406025" cy="21259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39" b="0">
                <a:solidFill>
                  <a:srgbClr val="1F2937"/>
                </a:solidFill>
                <a:latin typeface="Arial"/>
              </a:rPr>
              <a:t>Header wajib untuk perubahan data pada sesi cookie</a:t>
            </a:r>
          </a:p>
        </p:txBody>
      </p:sp>
      <p:sp>
        <p:nvSpPr>
          <p:cNvPr id="208" name="Kontrol Login"/>
          <p:cNvSpPr/>
          <p:nvPr/>
        </p:nvSpPr>
        <p:spPr>
          <a:xfrm>
            <a:off x="9280931" y="1645919"/>
            <a:ext cx="3954665" cy="32918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9555251" y="1920239"/>
            <a:ext cx="340602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95" b="1">
                <a:solidFill>
                  <a:srgbClr val="0B75BB"/>
                </a:solidFill>
                <a:latin typeface="Arial"/>
              </a:rPr>
              <a:t>Login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555251" y="2606040"/>
            <a:ext cx="3406025" cy="21259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39" b="0">
                <a:solidFill>
                  <a:srgbClr val="1F2937"/>
                </a:solidFill>
                <a:latin typeface="Arial"/>
              </a:rPr>
              <a:t>bcrypt, lockout 5 gagal per 10 menit lintas worker, pesan galat seragam</a:t>
            </a:r>
          </a:p>
        </p:txBody>
      </p:sp>
      <p:sp>
        <p:nvSpPr>
          <p:cNvPr id="211" name="Kontrol Otorisasi"/>
          <p:cNvSpPr/>
          <p:nvPr/>
        </p:nvSpPr>
        <p:spPr>
          <a:xfrm>
            <a:off x="13509917" y="1645919"/>
            <a:ext cx="3954665" cy="32918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3784237" y="1920239"/>
            <a:ext cx="340602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95" b="1">
                <a:solidFill>
                  <a:srgbClr val="0B75BB"/>
                </a:solidFill>
                <a:latin typeface="Arial"/>
              </a:rPr>
              <a:t>Otorisasi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3784237" y="2606040"/>
            <a:ext cx="3406025" cy="21259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39" b="0">
                <a:solidFill>
                  <a:srgbClr val="1F2937"/>
                </a:solidFill>
                <a:latin typeface="Arial"/>
              </a:rPr>
              <a:t>Semua /api wajib login; modul, admin, unggah, lokasi per role</a:t>
            </a:r>
          </a:p>
        </p:txBody>
      </p:sp>
      <p:sp>
        <p:nvSpPr>
          <p:cNvPr id="214" name="Kontrol Input"/>
          <p:cNvSpPr/>
          <p:nvPr/>
        </p:nvSpPr>
        <p:spPr>
          <a:xfrm>
            <a:off x="822959" y="5280660"/>
            <a:ext cx="3954665" cy="32918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097280" y="5554980"/>
            <a:ext cx="340602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95" b="1">
                <a:solidFill>
                  <a:srgbClr val="0B75BB"/>
                </a:solidFill>
                <a:latin typeface="Arial"/>
              </a:rPr>
              <a:t>Input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097280" y="6240780"/>
            <a:ext cx="3406025" cy="21259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39" b="0">
                <a:solidFill>
                  <a:srgbClr val="1F2937"/>
                </a:solidFill>
                <a:latin typeface="Arial"/>
              </a:rPr>
              <a:t>ORM berparameter, validasi Pydantic, unggahan dibatasi ukuran, ekstensi, isi zip</a:t>
            </a:r>
          </a:p>
        </p:txBody>
      </p:sp>
      <p:sp>
        <p:nvSpPr>
          <p:cNvPr id="217" name="Kontrol Output"/>
          <p:cNvSpPr/>
          <p:nvPr/>
        </p:nvSpPr>
        <p:spPr>
          <a:xfrm>
            <a:off x="5051945" y="5280660"/>
            <a:ext cx="3954665" cy="32918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5326265" y="5554980"/>
            <a:ext cx="340602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95" b="1">
                <a:solidFill>
                  <a:srgbClr val="0B75BB"/>
                </a:solidFill>
                <a:latin typeface="Arial"/>
              </a:rPr>
              <a:t>Output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326265" y="6240780"/>
            <a:ext cx="3406025" cy="21259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39" b="0">
                <a:solidFill>
                  <a:srgbClr val="1F2937"/>
                </a:solidFill>
                <a:latin typeface="Arial"/>
              </a:rPr>
              <a:t>Data luar di-escape, tanpa handler inline, CSP script-src 'self'</a:t>
            </a:r>
          </a:p>
        </p:txBody>
      </p:sp>
      <p:sp>
        <p:nvSpPr>
          <p:cNvPr id="220" name="Kontrol SSRF"/>
          <p:cNvSpPr/>
          <p:nvPr/>
        </p:nvSpPr>
        <p:spPr>
          <a:xfrm>
            <a:off x="9280931" y="5280660"/>
            <a:ext cx="3954665" cy="32918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9555251" y="5554980"/>
            <a:ext cx="340602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95" b="1">
                <a:solidFill>
                  <a:srgbClr val="0B75BB"/>
                </a:solidFill>
                <a:latin typeface="Arial"/>
              </a:rPr>
              <a:t>SSRF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9555251" y="6240780"/>
            <a:ext cx="3406025" cy="21259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39" b="0">
                <a:solidFill>
                  <a:srgbClr val="1F2937"/>
                </a:solidFill>
                <a:latin typeface="Arial"/>
              </a:rPr>
              <a:t>URL webhook dan konektor menolak loopback dan link-local</a:t>
            </a:r>
          </a:p>
        </p:txBody>
      </p:sp>
      <p:sp>
        <p:nvSpPr>
          <p:cNvPr id="223" name="Kontrol Rahasia"/>
          <p:cNvSpPr/>
          <p:nvPr/>
        </p:nvSpPr>
        <p:spPr>
          <a:xfrm>
            <a:off x="13509917" y="5280660"/>
            <a:ext cx="3954665" cy="32918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3784237" y="5554980"/>
            <a:ext cx="340602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95" b="1">
                <a:solidFill>
                  <a:srgbClr val="0B75BB"/>
                </a:solidFill>
                <a:latin typeface="Arial"/>
              </a:rPr>
              <a:t>Rahasia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13784237" y="6240780"/>
            <a:ext cx="3406025" cy="21259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39" b="0">
                <a:solidFill>
                  <a:srgbClr val="1F2937"/>
                </a:solidFill>
                <a:latin typeface="Arial"/>
              </a:rPr>
              <a:t>Fernet di database, .env di luar git dan image, container non-root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17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Hasil audit dan kesiapan VAPT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Kartu Sudah diperbaiki"/>
          <p:cNvSpPr/>
          <p:nvPr/>
        </p:nvSpPr>
        <p:spPr>
          <a:xfrm>
            <a:off x="822959" y="1645919"/>
            <a:ext cx="8229600" cy="7132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165860" y="1947672"/>
            <a:ext cx="685800" cy="685800"/>
          </a:xfrm>
          <a:prstGeom prst="ellipse">
            <a:avLst/>
          </a:prstGeom>
          <a:solidFill>
            <a:srgbClr val="2FB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57400" y="1947672"/>
            <a:ext cx="67208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Sudah diperbaiki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165860" y="2976372"/>
            <a:ext cx="7543800" cy="5596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Password akun uji lemah: direset acak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Sesi di localStorage: pindah ke cookie HttpOnly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Lockout per proses: pindah ke database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Dependensi rentan: pip-audit bersih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SSRF, upload tanpa batas, header keamanan, container root</a:t>
            </a:r>
          </a:p>
        </p:txBody>
      </p:sp>
      <p:sp>
        <p:nvSpPr>
          <p:cNvPr id="206" name="Kartu Perlu dilakukan di s"/>
          <p:cNvSpPr/>
          <p:nvPr/>
        </p:nvSpPr>
        <p:spPr>
          <a:xfrm>
            <a:off x="9395459" y="1645919"/>
            <a:ext cx="8065008" cy="7132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9738359" y="1947672"/>
            <a:ext cx="685800" cy="6858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629900" y="1947672"/>
            <a:ext cx="6556247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Perlu dilakukan di server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9738359" y="2976372"/>
            <a:ext cx="7379208" cy="5596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ITOC_ENV=production dan rahasia kuat di .env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HTTPS lewat reverse proxy (contoh Nginx tersedia)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Verifikasi TLS konektor: aktifkan bila CA internal terpasang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Batasi Super Admin dan jadwalkan backup terenkripsi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295" b="0">
                <a:solidFill>
                  <a:srgbClr val="1F2937"/>
                </a:solidFill>
                <a:latin typeface="Arial"/>
              </a:rPr>
              <a:t>Jalankan security-check sebelum VAPT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18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Deployment dan operasi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Rounded Rectangle 201"/>
          <p:cNvSpPr/>
          <p:nvPr/>
        </p:nvSpPr>
        <p:spPr>
          <a:xfrm>
            <a:off x="822959" y="1714500"/>
            <a:ext cx="3840479" cy="19888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60119" y="1824228"/>
            <a:ext cx="3566159" cy="17693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12" b="1">
                <a:solidFill>
                  <a:srgbClr val="0B2F6B"/>
                </a:solidFill>
                <a:latin typeface="Arial"/>
              </a:rPr>
              <a:t>db</a:t>
            </a:r>
          </a:p>
          <a:p>
            <a:pPr algn="ctr"/>
            <a:r>
              <a:rPr sz="1530" b="0">
                <a:solidFill>
                  <a:srgbClr val="6B7280"/>
                </a:solidFill>
                <a:latin typeface="Arial"/>
              </a:rPr>
              <a:t>PostgreSQL 16</a:t>
            </a:r>
          </a:p>
          <a:p>
            <a:pPr algn="ctr"/>
            <a:r>
              <a:rPr sz="1530" b="0">
                <a:solidFill>
                  <a:srgbClr val="6B7280"/>
                </a:solidFill>
                <a:latin typeface="Arial"/>
              </a:rPr>
              <a:t>hanya 127.0.0.1, volume data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4937760" y="1714500"/>
            <a:ext cx="3840479" cy="1988819"/>
          </a:xfrm>
          <a:prstGeom prst="roundRect">
            <a:avLst>
              <a:gd name="adj" fmla="val 5000"/>
            </a:avLst>
          </a:prstGeom>
          <a:solidFill>
            <a:srgbClr val="0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5074920" y="1824228"/>
            <a:ext cx="3566159" cy="17693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12" b="1">
                <a:solidFill>
                  <a:srgbClr val="FFFFFF"/>
                </a:solidFill>
                <a:latin typeface="Arial"/>
              </a:rPr>
              <a:t>api</a:t>
            </a:r>
          </a:p>
          <a:p>
            <a:pPr algn="ctr"/>
            <a:r>
              <a:rPr sz="1530" b="0">
                <a:solidFill>
                  <a:srgbClr val="CFE3F5"/>
                </a:solidFill>
                <a:latin typeface="Arial"/>
              </a:rPr>
              <a:t>FastAPI + Uvicorn</a:t>
            </a:r>
          </a:p>
          <a:p>
            <a:pPr algn="ctr"/>
            <a:r>
              <a:rPr sz="1530" b="0">
                <a:solidFill>
                  <a:srgbClr val="CFE3F5"/>
                </a:solidFill>
                <a:latin typeface="Arial"/>
              </a:rPr>
              <a:t>non-root, healthcheck, migrasi otomatis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9052559" y="1714500"/>
            <a:ext cx="3840479" cy="19888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9189719" y="1824228"/>
            <a:ext cx="3566159" cy="17693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12" b="1">
                <a:solidFill>
                  <a:srgbClr val="0B2F6B"/>
                </a:solidFill>
                <a:latin typeface="Arial"/>
              </a:rPr>
              <a:t>worker</a:t>
            </a:r>
          </a:p>
          <a:p>
            <a:pPr algn="ctr"/>
            <a:r>
              <a:rPr sz="1530" b="0">
                <a:solidFill>
                  <a:srgbClr val="6B7280"/>
                </a:solidFill>
                <a:latin typeface="Arial"/>
              </a:rPr>
              <a:t>Penjadwal sinkron</a:t>
            </a:r>
          </a:p>
          <a:p>
            <a:pPr algn="ctr"/>
            <a:r>
              <a:rPr sz="1530" b="0">
                <a:solidFill>
                  <a:srgbClr val="6B7280"/>
                </a:solidFill>
                <a:latin typeface="Arial"/>
              </a:rPr>
              <a:t>APScheduler, jam tetap dan interval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13235940" y="1714500"/>
            <a:ext cx="4224528" cy="1988819"/>
          </a:xfrm>
          <a:prstGeom prst="roundRect">
            <a:avLst>
              <a:gd name="adj" fmla="val 5000"/>
            </a:avLst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13373100" y="1824228"/>
            <a:ext cx="3950208" cy="17693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12" b="1">
                <a:solidFill>
                  <a:srgbClr val="FFFFFF"/>
                </a:solidFill>
                <a:latin typeface="Arial"/>
              </a:rPr>
              <a:t>Nginx (TLS)</a:t>
            </a:r>
          </a:p>
          <a:p>
            <a:pPr algn="ctr"/>
            <a:r>
              <a:rPr sz="1530" b="0">
                <a:solidFill>
                  <a:srgbClr val="E6F4FB"/>
                </a:solidFill>
                <a:latin typeface="Arial"/>
              </a:rPr>
              <a:t>HTTPS, HSTS, pembatas laju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822959" y="4251960"/>
            <a:ext cx="82296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1784" b="1">
                <a:solidFill>
                  <a:srgbClr val="1F2937"/>
                </a:solidFill>
                <a:latin typeface="Arial"/>
              </a:rPr>
              <a:t>Konfigurasi: </a:t>
            </a:r>
            <a:r>
              <a:rPr sz="1784" b="0">
                <a:solidFill>
                  <a:srgbClr val="1F2937"/>
                </a:solidFill>
                <a:latin typeface="Arial"/>
              </a:rPr>
              <a:t>rahasia di .env, parameter bisnis di database lewat menu Admin.</a:t>
            </a:r>
          </a:p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1784" b="1">
                <a:solidFill>
                  <a:srgbClr val="1F2937"/>
                </a:solidFill>
                <a:latin typeface="Arial"/>
              </a:rPr>
              <a:t>Perintah: </a:t>
            </a:r>
            <a:r>
              <a:rPr sz="1784" b="0">
                <a:solidFill>
                  <a:srgbClr val="1F2937"/>
                </a:solidFill>
                <a:latin typeface="Arial"/>
              </a:rPr>
              <a:t>migrate, seed-config, create-user, sync, security-check.</a:t>
            </a:r>
          </a:p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1784" b="1">
                <a:solidFill>
                  <a:srgbClr val="1F2937"/>
                </a:solidFill>
                <a:latin typeface="Arial"/>
              </a:rPr>
              <a:t>Pemantauan: </a:t>
            </a:r>
            <a:r>
              <a:rPr sz="1784" b="0">
                <a:solidFill>
                  <a:srgbClr val="1F2937"/>
                </a:solidFill>
                <a:latin typeface="Arial"/>
              </a:rPr>
              <a:t>status sumber di Admin, log sinkron, audit log.</a:t>
            </a:r>
          </a:p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1784" b="1">
                <a:solidFill>
                  <a:srgbClr val="1F2937"/>
                </a:solidFill>
                <a:latin typeface="Arial"/>
              </a:rPr>
              <a:t>Git: </a:t>
            </a:r>
            <a:r>
              <a:rPr sz="1784" b="0">
                <a:solidFill>
                  <a:srgbClr val="1F2937"/>
                </a:solidFill>
                <a:latin typeface="Arial"/>
              </a:rPr>
              <a:t>branch devices-map, belum di-push (push dilakukan pemilik repo).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9395459" y="4251960"/>
            <a:ext cx="8065008" cy="4526279"/>
          </a:xfrm>
          <a:prstGeom prst="roundRect">
            <a:avLst>
              <a:gd name="adj" fmla="val 5000"/>
            </a:avLst>
          </a:prstGeom>
          <a:solidFill>
            <a:srgbClr val="0B2F6B"/>
          </a:solidFill>
          <a:ln>
            <a:noFill/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738359" y="4457700"/>
            <a:ext cx="7406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12" b="1">
                <a:solidFill>
                  <a:srgbClr val="25B7E5"/>
                </a:solidFill>
                <a:latin typeface="Arial"/>
              </a:rPr>
              <a:t>Perintah yang sering dipakai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59" y="5143500"/>
            <a:ext cx="740664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57" b="0">
                <a:solidFill>
                  <a:srgbClr val="FFFFFF"/>
                </a:solidFill>
                <a:latin typeface="Arial"/>
              </a:rPr>
              <a:t>docker compose up -d --build</a:t>
            </a:r>
          </a:p>
          <a:p>
            <a:pPr algn="l">
              <a:spcAft>
                <a:spcPts val="1200"/>
              </a:spcAft>
            </a:pPr>
            <a:r>
              <a:rPr sz="1657" b="0">
                <a:solidFill>
                  <a:srgbClr val="FFFFFF"/>
                </a:solidFill>
                <a:latin typeface="Arial"/>
              </a:rPr>
              <a:t>docker compose exec api python -m app.cli security-check</a:t>
            </a:r>
          </a:p>
          <a:p>
            <a:pPr algn="l">
              <a:spcAft>
                <a:spcPts val="1200"/>
              </a:spcAft>
            </a:pPr>
            <a:r>
              <a:rPr sz="1657" b="0">
                <a:solidFill>
                  <a:srgbClr val="FFFFFF"/>
                </a:solidFill>
                <a:latin typeface="Arial"/>
              </a:rPr>
              <a:t>docker compose exec api python -m app.cli sync zabbix</a:t>
            </a:r>
          </a:p>
          <a:p>
            <a:pPr algn="l">
              <a:spcAft>
                <a:spcPts val="1200"/>
              </a:spcAft>
            </a:pPr>
            <a:r>
              <a:rPr sz="1657" b="0">
                <a:solidFill>
                  <a:srgbClr val="FFFFFF"/>
                </a:solidFill>
                <a:latin typeface="Arial"/>
              </a:rPr>
              <a:t>docker compose logs worker --tail 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19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Batasan yang perlu diketahui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aphicFrame>
        <p:nvGraphicFramePr>
          <p:cNvPr id="202" name="Table 201"/>
          <p:cNvGraphicFramePr>
            <a:graphicFrameLocks noGrp="1"/>
          </p:cNvGraphicFramePr>
          <p:nvPr/>
        </p:nvGraphicFramePr>
        <p:xfrm>
          <a:off x="822959" y="1645919"/>
          <a:ext cx="16637506" cy="6720834"/>
        </p:xfrm>
        <a:graphic>
          <a:graphicData uri="http://schemas.openxmlformats.org/drawingml/2006/table">
            <a:tbl>
              <a:tblPr firstRow="0" bandRow="0"/>
              <a:tblGrid>
                <a:gridCol w="3840479"/>
                <a:gridCol w="7955279"/>
                <a:gridCol w="4841748"/>
              </a:tblGrid>
              <a:tr h="630936">
                <a:tc>
                  <a:txBody>
                    <a:bodyPr wrap="square"/>
                    <a:lstStyle/>
                    <a:p>
                      <a:r>
                        <a:rPr sz="1912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12" b="1">
                          <a:solidFill>
                            <a:srgbClr val="FFFFFF"/>
                          </a:solidFill>
                          <a:latin typeface="Arial"/>
                        </a:rPr>
                        <a:t>Batasan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12" b="1">
                          <a:solidFill>
                            <a:srgbClr val="FFFFFF"/>
                          </a:solidFill>
                          <a:latin typeface="Arial"/>
                        </a:rPr>
                        <a:t>Dampak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</a:tr>
              <a:tr h="1014983">
                <a:tc>
                  <a:txBody>
                    <a:bodyPr wrap="square"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Panorama via API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Dynamic report meringkas IP ke blok /24 dan tanpa nama host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Detail host lebih kasar daripada CSV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14983">
                <a:tc>
                  <a:txBody>
                    <a:bodyPr wrap="square"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Panorama, Mei–Juni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Trafik dan aplikasi belum tercatat di Panorama pada periode itu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Hanya ancaman dan URL yang terisi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</a:tr>
              <a:tr h="1014983">
                <a:tc>
                  <a:txBody>
                    <a:bodyPr wrap="square"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WiFi portal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vSZ hanya menampilkan username bila otentikasi lewat vSZ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Portal QNAP di luar vSZ tampil belum login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14983">
                <a:tc>
                  <a:txBody>
                    <a:bodyPr wrap="square"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WiFi usage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vSZ tidak memberi data aplikasi atau situs yang diakses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Dominan = SSID, zone, AP, client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</a:tr>
              <a:tr h="1014983">
                <a:tc>
                  <a:txBody>
                    <a:bodyPr wrap="square"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Trend Micro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Bentuk jawaban mengikuti API v3 dan hak role API key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Tombol Test menampilkan field diterima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14983">
                <a:tc>
                  <a:txBody>
                    <a:bodyPr wrap="square"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TLS konektor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Sertifikat internal membuat verifikasi dimatikan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Risiko penyadapan di jaringan internal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20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Langkah berikutnya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Langkah 1"/>
          <p:cNvSpPr/>
          <p:nvPr/>
        </p:nvSpPr>
        <p:spPr>
          <a:xfrm>
            <a:off x="822959" y="1645919"/>
            <a:ext cx="16641622" cy="12618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165860" y="1933955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39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194560" y="1783080"/>
            <a:ext cx="4389120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B2F6B"/>
                </a:solidFill>
                <a:latin typeface="Arial"/>
              </a:rPr>
              <a:t>Push dan review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6720840" y="1783080"/>
            <a:ext cx="10469422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39" b="0">
                <a:solidFill>
                  <a:srgbClr val="1F2937"/>
                </a:solidFill>
                <a:latin typeface="Arial"/>
              </a:rPr>
              <a:t>Push branch devices-map oleh pemilik repo, buka PR ke main, review kode dan migrasi</a:t>
            </a:r>
          </a:p>
        </p:txBody>
      </p:sp>
      <p:sp>
        <p:nvSpPr>
          <p:cNvPr id="206" name="Langkah 2"/>
          <p:cNvSpPr/>
          <p:nvPr/>
        </p:nvSpPr>
        <p:spPr>
          <a:xfrm>
            <a:off x="822959" y="3113532"/>
            <a:ext cx="16641622" cy="12618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165860" y="3401568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39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2194560" y="3250692"/>
            <a:ext cx="4389120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B2F6B"/>
                </a:solidFill>
                <a:latin typeface="Arial"/>
              </a:rPr>
              <a:t>Persiapan VAPT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720840" y="3250692"/>
            <a:ext cx="10469422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39" b="0">
                <a:solidFill>
                  <a:srgbClr val="1F2937"/>
                </a:solidFill>
                <a:latin typeface="Arial"/>
              </a:rPr>
              <a:t>Server produksi, HTTPS, rahasia kuat, security-check bersih, backup</a:t>
            </a:r>
          </a:p>
        </p:txBody>
      </p:sp>
      <p:sp>
        <p:nvSpPr>
          <p:cNvPr id="210" name="Langkah 3"/>
          <p:cNvSpPr/>
          <p:nvPr/>
        </p:nvSpPr>
        <p:spPr>
          <a:xfrm>
            <a:off x="822959" y="4581144"/>
            <a:ext cx="16641622" cy="12618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165860" y="4869180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39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2194560" y="4718304"/>
            <a:ext cx="4389120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B2F6B"/>
                </a:solidFill>
                <a:latin typeface="Arial"/>
              </a:rPr>
              <a:t>Uji penerimaan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6720840" y="4718304"/>
            <a:ext cx="10469422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39" b="0">
                <a:solidFill>
                  <a:srgbClr val="1F2937"/>
                </a:solidFill>
                <a:latin typeface="Arial"/>
              </a:rPr>
              <a:t>Operator shift dan koordinator mencoba alur harian dan putus sesi WiFi</a:t>
            </a:r>
          </a:p>
        </p:txBody>
      </p:sp>
      <p:sp>
        <p:nvSpPr>
          <p:cNvPr id="214" name="Langkah 4"/>
          <p:cNvSpPr/>
          <p:nvPr/>
        </p:nvSpPr>
        <p:spPr>
          <a:xfrm>
            <a:off x="822959" y="6048756"/>
            <a:ext cx="16641622" cy="12618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165860" y="6336792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39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2194560" y="6185916"/>
            <a:ext cx="4389120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B2F6B"/>
                </a:solidFill>
                <a:latin typeface="Arial"/>
              </a:rPr>
              <a:t>Go-live bertahap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720840" y="6185916"/>
            <a:ext cx="10469422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39" b="0">
                <a:solidFill>
                  <a:srgbClr val="1F2937"/>
                </a:solidFill>
                <a:latin typeface="Arial"/>
              </a:rPr>
              <a:t>Aktifkan role per kelompok, pantau sinkron dan audit log</a:t>
            </a:r>
          </a:p>
        </p:txBody>
      </p:sp>
      <p:sp>
        <p:nvSpPr>
          <p:cNvPr id="218" name="Langkah 5"/>
          <p:cNvSpPr/>
          <p:nvPr/>
        </p:nvSpPr>
        <p:spPr>
          <a:xfrm>
            <a:off x="822959" y="7516368"/>
            <a:ext cx="16641622" cy="12618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165860" y="7804404"/>
            <a:ext cx="685800" cy="6858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39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2194560" y="7653528"/>
            <a:ext cx="4389120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B2F6B"/>
                </a:solidFill>
                <a:latin typeface="Arial"/>
              </a:rPr>
              <a:t>Usulan lanjutan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6720840" y="7653528"/>
            <a:ext cx="10469422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39" b="0">
                <a:solidFill>
                  <a:srgbClr val="1F2937"/>
                </a:solidFill>
                <a:latin typeface="Arial"/>
              </a:rPr>
              <a:t>Notifikasi alert XDR critical, kebijakan retensi, akun portal WiFi di sisi QNAP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1033</TotalTime>
  <Words>1913</Words>
  <Application>Microsoft Office PowerPoint</Application>
  <PresentationFormat>Custom</PresentationFormat>
  <Paragraphs>1175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Montserrat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Andika Sandy Sutiawan</dc:creator>
  <cp:lastModifiedBy>Andika Sandy Sutiawan</cp:lastModifiedBy>
  <cp:revision>9</cp:revision>
  <dcterms:created xsi:type="dcterms:W3CDTF">2006-08-16T00:00:00Z</dcterms:created>
  <dcterms:modified xsi:type="dcterms:W3CDTF">2026-10-18T17:22:29Z</dcterms:modified>
</cp:coreProperties>
</file>