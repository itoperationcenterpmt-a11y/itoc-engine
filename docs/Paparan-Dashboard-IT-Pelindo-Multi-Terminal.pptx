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Jumlah baris</c:v>
                </c:pt>
              </c:strCache>
            </c:strRef>
          </c:tx>
          <c:spPr>
            <a:solidFill>
              <a:srgbClr val="0FA3B1"/>
            </a:solidFill>
          </c:spPr>
          <c:cat>
            <c:strRef>
              <c:f>Sheet1!$A$2:$A$9</c:f>
              <c:strCache>
                <c:ptCount val="8"/>
                <c:pt idx="0">
                  <c:v>Data trafik PRTG per jam</c:v>
                </c:pt>
                <c:pt idx="1">
                  <c:v>Sesi WiFi</c:v>
                </c:pt>
                <c:pt idx="2">
                  <c:v>Kejadian down Zabbix</c:v>
                </c:pt>
                <c:pt idx="3">
                  <c:v>Tiket</c:v>
                </c:pt>
                <c:pt idx="4">
                  <c:v>Perangkat Zabbix</c:v>
                </c:pt>
                <c:pt idx="5">
                  <c:v>Hari SOC (ringkasan)</c:v>
                </c:pt>
                <c:pt idx="6">
                  <c:v>Access Point</c:v>
                </c:pt>
                <c:pt idx="7">
                  <c:v>Alert XDR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35427</c:v>
                </c:pt>
                <c:pt idx="1">
                  <c:v>13496</c:v>
                </c:pt>
                <c:pt idx="2">
                  <c:v>12946</c:v>
                </c:pt>
                <c:pt idx="3">
                  <c:v>2085</c:v>
                </c:pt>
                <c:pt idx="4">
                  <c:v>1772</c:v>
                </c:pt>
                <c:pt idx="5">
                  <c:v>195</c:v>
                </c:pt>
                <c:pt idx="6">
                  <c:v>186</c:v>
                </c:pt>
                <c:pt idx="7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4243A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CE4EF"/>
            </a:solidFill>
          </a:ln>
        </c:spPr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Pembuka: aplikasi ini adalah satu layar kerja untuk ITOC. Paparan menjelaskan fungsi, arsitektur, data, keamanan, dan langkah berikutnya.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Pesan utama: konsolidasi data dari enam sistem ke satu aplikasi, tersimpan di database sendiri, dengan input manual tetap sebagai validasi.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Prinsip desain yang menjelaskan banyak keputusan teknis: data disimpan sendiri, manual tidak ditimpa, aksi dibatasi, dan konfigurasi bisa diubah dari menu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Menu Network dan Cyber Security memiliki ringkasan gabungan dan sub-menu per sumber. Report memuat Handover dan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Alur: konektor di worker menarik data terjadwal ke PostgreSQL; API FastAPI menghitung tampilan dari database; browser hanya menampilkan. Impor manual masuk ke database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Setiap sumber punya kartu di Admin &gt; Integrations dengan tombol Test dan Sync now. Panorama memakai jam tetap; yang lain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Angka diambil dari database saat dokumen dibuat. Semua tampilan dan laporan dihitung dari tabel-tabel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menampilkan kartu status per bidang dengan warna, daftar perhatian, siapa yang bertugas, dan panel ringkas tiap sumber. Semua panel bisa diatur lewat Customize.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Summary menggabungkan link PRTG dan WiFi Ruckus, termasuk tabel per lokasi. Sub-menu PRTG dan WiFi memuat rincian masing-masing.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 sumber keamanan dipisah sebagai NDR (firewall) dan XDR (endpoint). Summary menggabungkan perhatian dan KPI keduanya.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Devices memakai nama host berpola untuk menurunkan lokasi, zona, dan tipe perangkat; kamus kodenya bisa diubah dari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Bagian operasional harian ITOC: tiket dari ManageEngine, jadwal rotasi, handover antar shift, dan kelengkapan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Semua jenis laporan memakai model yang sama: KPI, grafik, tabel, dan catatan. Format Excel, PDF, dan PowerPoint dibuat dari model yang sama sehingga angkanya identik.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Customize memberi kontrol tata letak per halaman dan per role. Katalog widget memuat panel bawaan halaman dan widget tambahan seperti peta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Akses diatur per role: modul yang terlihat, hak unggah RAW, hak admin, dan kunci lokasi. Putus sesi WiFi dibatasi ke Super Admin, Admin, dan username tambahan (koordinator).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Ringkasan dari Panduan-Keamanan.md. Semua rute API wajib login kecuali login, teks publik, dan health.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Hasil pemeriksaan otomatis (security-check) dan pip-audit. Yang masih terbuka adalah langkah di server saat go-live.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Tiga container: database, API, worker. Migrasi dan seed konfigurasi berjalan otomatis saat start. Panduan keamanan memuat contoh Nginx.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Disampaikan terbuka agar ekspektasi tepat: ini dampak dari data yang tersedia di sumber, bukan kekurangan antarmuka.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Usulan urutan kerja. Item bertanda usulan belum disepakati.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Penutup dan tanya jawab.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17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FD6DF"/>
                </a:solidFill>
                <a:latin typeface="Calibri"/>
              </a:rPr>
              <a:t>PAPARAN APLIKASI</a:t>
            </a:r>
          </a:p>
        </p:txBody>
      </p:sp>
      <p:sp>
        <p:nvSpPr>
          <p:cNvPr id="3" name="Judul"/>
          <p:cNvSpPr txBox="1"/>
          <p:nvPr/>
        </p:nvSpPr>
        <p:spPr>
          <a:xfrm>
            <a:off x="548640" y="19202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Dashboard IT</a:t>
            </a:r>
          </a:p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Pelindo Multi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FE3F5"/>
                </a:solidFill>
                <a:latin typeface="Calibri"/>
              </a:rPr>
              <a:t>Satu layar untuk ticketing, jaringan, keamanan siber, perangkat, dan personel ITOC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FE3F5"/>
                </a:solidFill>
                <a:latin typeface="Calibri"/>
              </a:rPr>
              <a:t>IT Operation Center · Oktober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1208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7FD6DF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257800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sumber data terintegrasi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521208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52578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7FD6DF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5257800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menu dan sub-menu kerja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21208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5257800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7FD6D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5257800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role akses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Satu layar kerja untuk seluruh operasional TI terminal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4243A"/>
                </a:solidFill>
                <a:latin typeface="Calibri"/>
              </a:rPr>
              <a:t>Aplikasi ini menarik data dari enam sistem yang sebelumnya dilihat terpisah, menyimpannya di database sendiri, dan menyajikannya sebagai satu dashboard untuk operator shift, koordinator, dan manajemen.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7607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600" b="1">
                <a:solidFill>
                  <a:srgbClr val="14243A"/>
                </a:solidFill>
                <a:latin typeface="Calibri"/>
              </a:rPr>
              <a:t>Informatif: </a:t>
            </a:r>
            <a:r>
              <a:rPr sz="1600" b="0">
                <a:solidFill>
                  <a:srgbClr val="14243A"/>
                </a:solidFill>
                <a:latin typeface="Calibri"/>
              </a:rPr>
              <a:t>ringkasan gabungan Network dan Cyber Security, plus rincian tiap sumber.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600" b="1">
                <a:solidFill>
                  <a:srgbClr val="14243A"/>
                </a:solidFill>
                <a:latin typeface="Calibri"/>
              </a:rPr>
              <a:t>Terkendali: </a:t>
            </a:r>
            <a:r>
              <a:rPr sz="1600" b="0">
                <a:solidFill>
                  <a:srgbClr val="14243A"/>
                </a:solidFill>
                <a:latin typeface="Calibri"/>
              </a:rPr>
              <a:t>role, audit log, dan aksi sensitif (putus sesi WiFi) dibatasi.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600" b="1">
                <a:solidFill>
                  <a:srgbClr val="14243A"/>
                </a:solidFill>
                <a:latin typeface="Calibri"/>
              </a:rPr>
              <a:t>Tahan banting: </a:t>
            </a:r>
            <a:r>
              <a:rPr sz="1600" b="0">
                <a:solidFill>
                  <a:srgbClr val="14243A"/>
                </a:solidFill>
                <a:latin typeface="Calibri"/>
              </a:rPr>
              <a:t>riwayat tersimpan; bila API gagal, impor manual tetap bisa dipakai.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600" b="1">
                <a:solidFill>
                  <a:srgbClr val="14243A"/>
                </a:solidFill>
                <a:latin typeface="Calibri"/>
              </a:rPr>
              <a:t>Siap diaudit: </a:t>
            </a:r>
            <a:r>
              <a:rPr sz="1600" b="0">
                <a:solidFill>
                  <a:srgbClr val="14243A"/>
                </a:solidFill>
                <a:latin typeface="Calibri"/>
              </a:rPr>
              <a:t>hardening keamanan dan pemeriksaan konfigurasi bawaan.</a:t>
            </a:r>
          </a:p>
        </p:txBody>
      </p:sp>
      <p:sp>
        <p:nvSpPr>
          <p:cNvPr id="7" name="Statistik 6"/>
          <p:cNvSpPr/>
          <p:nvPr/>
        </p:nvSpPr>
        <p:spPr>
          <a:xfrm>
            <a:off x="6766560" y="1371600"/>
            <a:ext cx="2377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5087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0B7C87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6771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sumber data terintegrasi</a:t>
            </a:r>
          </a:p>
        </p:txBody>
      </p:sp>
      <p:sp>
        <p:nvSpPr>
          <p:cNvPr id="10" name="Statistik 38"/>
          <p:cNvSpPr/>
          <p:nvPr/>
        </p:nvSpPr>
        <p:spPr>
          <a:xfrm>
            <a:off x="9326880" y="1371600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59" y="1508760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0B7C87"/>
                </a:solidFill>
                <a:latin typeface="Calibri"/>
              </a:rPr>
              <a:t>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59" y="226771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tabel PostgreSQL dan 26 migrasi</a:t>
            </a:r>
          </a:p>
        </p:txBody>
      </p:sp>
      <p:sp>
        <p:nvSpPr>
          <p:cNvPr id="13" name="Statistik 0"/>
          <p:cNvSpPr/>
          <p:nvPr/>
        </p:nvSpPr>
        <p:spPr>
          <a:xfrm>
            <a:off x="6766560" y="3017520"/>
            <a:ext cx="2377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3154679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2FB67C"/>
                </a:solidFill>
                <a:latin typeface="Calibr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913631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temuan critical/high pada security-check</a:t>
            </a:r>
          </a:p>
        </p:txBody>
      </p:sp>
      <p:sp>
        <p:nvSpPr>
          <p:cNvPr id="16" name="Statistik 10"/>
          <p:cNvSpPr/>
          <p:nvPr/>
        </p:nvSpPr>
        <p:spPr>
          <a:xfrm>
            <a:off x="9326880" y="3017520"/>
            <a:ext cx="2331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59" y="3154679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0B7C87"/>
                </a:solidFill>
                <a:latin typeface="Calibr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59" y="3913631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jenis laporan Excel, PDF, PowerPoint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4663440"/>
            <a:ext cx="4892040" cy="14173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4754880"/>
            <a:ext cx="43891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7FD6DF"/>
                </a:solidFill>
                <a:latin typeface="Calibri"/>
              </a:rPr>
              <a:t>Prinsip: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dashboard membaca dari database sendiri, bukan langsung dari sumber. Data tarikan dan data manual hidup berdampingan.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Empat prinsip yang membentuk aplikasi ini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  <p:sp>
        <p:nvSpPr>
          <p:cNvPr id="5" name="Kartu Satu pandangan"/>
          <p:cNvSpPr/>
          <p:nvPr/>
        </p:nvSpPr>
        <p:spPr>
          <a:xfrm>
            <a:off x="548640" y="1463040"/>
            <a:ext cx="2636443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6420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64208"/>
            <a:ext cx="16306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Satu pandangan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0008"/>
            <a:ext cx="2179243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Overview dan ringkasan gabungan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Status hari ini per bidang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Perhatian dikumpulkan di satu daftar</a:t>
            </a:r>
          </a:p>
        </p:txBody>
      </p:sp>
      <p:sp>
        <p:nvSpPr>
          <p:cNvPr id="9" name="Kartu Data milik sendiri"/>
          <p:cNvSpPr/>
          <p:nvPr/>
        </p:nvSpPr>
        <p:spPr>
          <a:xfrm>
            <a:off x="3367963" y="1463040"/>
            <a:ext cx="2636443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96563" y="166420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23" y="1664208"/>
            <a:ext cx="16306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Data milik sendiri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6563" y="2350008"/>
            <a:ext cx="2179243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Semua tarikan API disimpan di PostgreSQL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Riwayat WiFi, down Zabbix, alert XDR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Laporan dan grafik dihitung dari database</a:t>
            </a:r>
          </a:p>
        </p:txBody>
      </p:sp>
      <p:sp>
        <p:nvSpPr>
          <p:cNvPr id="13" name="Kartu Manual tetap hidup"/>
          <p:cNvSpPr/>
          <p:nvPr/>
        </p:nvSpPr>
        <p:spPr>
          <a:xfrm>
            <a:off x="6187287" y="1463040"/>
            <a:ext cx="2636443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15887" y="166420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1664208"/>
            <a:ext cx="16306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Manual tetap hidup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2350008"/>
            <a:ext cx="2179243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CSV, PDF, Excel tetap bisa diunggah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Tidak tertimpa data API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Selisih dengan API dicatat sebagai validasi</a:t>
            </a:r>
          </a:p>
        </p:txBody>
      </p:sp>
      <p:sp>
        <p:nvSpPr>
          <p:cNvPr id="17" name="Kartu Terkendali"/>
          <p:cNvSpPr/>
          <p:nvPr/>
        </p:nvSpPr>
        <p:spPr>
          <a:xfrm>
            <a:off x="9006611" y="1463040"/>
            <a:ext cx="2636443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211" y="166420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571" y="1664208"/>
            <a:ext cx="16306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Terkendali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211" y="2350008"/>
            <a:ext cx="2179243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Role dan lokasi membatasi data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Aksi tulis dibatasi dan diaudit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400" b="0">
                <a:solidFill>
                  <a:srgbClr val="14243A"/>
                </a:solidFill>
                <a:latin typeface="Calibri"/>
              </a:rPr>
              <a:t>Parameter diatur dari menu Admin, bukan kode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Peta menu: sembilan area kerja dalam satu navigasi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  <p:sp>
        <p:nvSpPr>
          <p:cNvPr id="5" name="Menu Overview"/>
          <p:cNvSpPr/>
          <p:nvPr/>
        </p:nvSpPr>
        <p:spPr>
          <a:xfrm>
            <a:off x="548640" y="137160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status hari ini, perhatian, ringkasan semua bidang</a:t>
            </a:r>
          </a:p>
        </p:txBody>
      </p:sp>
      <p:sp>
        <p:nvSpPr>
          <p:cNvPr id="8" name="Menu Ticketing"/>
          <p:cNvSpPr/>
          <p:nvPr/>
        </p:nvSpPr>
        <p:spPr>
          <a:xfrm>
            <a:off x="3337560" y="137160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53619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Ticketing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93852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ManageEngine: tiket, SLA, teknisi</a:t>
            </a:r>
          </a:p>
        </p:txBody>
      </p:sp>
      <p:sp>
        <p:nvSpPr>
          <p:cNvPr id="11" name="Menu Network"/>
          <p:cNvSpPr/>
          <p:nvPr/>
        </p:nvSpPr>
        <p:spPr>
          <a:xfrm>
            <a:off x="6126480" y="137160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53619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3852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Summary gabungan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560320"/>
            <a:ext cx="2240280" cy="347472"/>
          </a:xfrm>
          <a:prstGeom prst="roundRect">
            <a:avLst>
              <a:gd name="adj" fmla="val 6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6032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B7C87"/>
                </a:solidFill>
                <a:latin typeface="Calibri"/>
              </a:rPr>
              <a:t>PRTG: link, trafik, SLA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80944"/>
            <a:ext cx="2240280" cy="347472"/>
          </a:xfrm>
          <a:prstGeom prst="roundRect">
            <a:avLst>
              <a:gd name="adj" fmla="val 6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980944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B7C87"/>
                </a:solidFill>
                <a:latin typeface="Calibri"/>
              </a:rPr>
              <a:t>WiFi: Ruckus, client, AP</a:t>
            </a:r>
          </a:p>
        </p:txBody>
      </p:sp>
      <p:sp>
        <p:nvSpPr>
          <p:cNvPr id="18" name="Menu Cyber Security"/>
          <p:cNvSpPr/>
          <p:nvPr/>
        </p:nvSpPr>
        <p:spPr>
          <a:xfrm>
            <a:off x="8915400" y="137160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53619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Cyber 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93852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Summary gabungan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2560320"/>
            <a:ext cx="2240280" cy="347472"/>
          </a:xfrm>
          <a:prstGeom prst="roundRect">
            <a:avLst>
              <a:gd name="adj" fmla="val 6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256032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B7C87"/>
                </a:solidFill>
                <a:latin typeface="Calibri"/>
              </a:rPr>
              <a:t>NDR: Palo Alto Panorama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2980944"/>
            <a:ext cx="2240280" cy="347472"/>
          </a:xfrm>
          <a:prstGeom prst="roundRect">
            <a:avLst>
              <a:gd name="adj" fmla="val 6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2980944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B7C87"/>
                </a:solidFill>
                <a:latin typeface="Calibri"/>
              </a:rPr>
              <a:t>XDR: Trend Micro Vision One</a:t>
            </a:r>
          </a:p>
        </p:txBody>
      </p:sp>
      <p:sp>
        <p:nvSpPr>
          <p:cNvPr id="25" name="Menu Devices"/>
          <p:cNvSpPr/>
          <p:nvPr/>
        </p:nvSpPr>
        <p:spPr>
          <a:xfrm>
            <a:off x="548640" y="3749039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91363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Devices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1596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Zabbix: status, peta, riwayat down</a:t>
            </a:r>
          </a:p>
        </p:txBody>
      </p:sp>
      <p:sp>
        <p:nvSpPr>
          <p:cNvPr id="28" name="Menu Personnel"/>
          <p:cNvSpPr/>
          <p:nvPr/>
        </p:nvSpPr>
        <p:spPr>
          <a:xfrm>
            <a:off x="3337560" y="3749039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391363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Personnel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431596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jadwal shift dan on duty</a:t>
            </a:r>
          </a:p>
        </p:txBody>
      </p:sp>
      <p:sp>
        <p:nvSpPr>
          <p:cNvPr id="31" name="Menu Report"/>
          <p:cNvSpPr/>
          <p:nvPr/>
        </p:nvSpPr>
        <p:spPr>
          <a:xfrm>
            <a:off x="6126480" y="3749039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1363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31596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Excel, PDF, PowerPoint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937759"/>
            <a:ext cx="2240280" cy="347472"/>
          </a:xfrm>
          <a:prstGeom prst="roundRect">
            <a:avLst>
              <a:gd name="adj" fmla="val 6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937759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B7C87"/>
                </a:solidFill>
                <a:latin typeface="Calibri"/>
              </a:rPr>
              <a:t>Handover: serah terima shift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5358383"/>
            <a:ext cx="2240280" cy="347472"/>
          </a:xfrm>
          <a:prstGeom prst="roundRect">
            <a:avLst>
              <a:gd name="adj" fmla="val 6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5358383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B7C87"/>
                </a:solidFill>
                <a:latin typeface="Calibri"/>
              </a:rPr>
              <a:t>Data: kelengkapan dan unggah RAW</a:t>
            </a:r>
          </a:p>
        </p:txBody>
      </p:sp>
      <p:sp>
        <p:nvSpPr>
          <p:cNvPr id="38" name="Menu Admin"/>
          <p:cNvSpPr/>
          <p:nvPr/>
        </p:nvSpPr>
        <p:spPr>
          <a:xfrm>
            <a:off x="8915400" y="3749039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391363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Admin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8280" y="4315968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pengguna, role, integrasi, parameter, audit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Arsitektur: sumber, penyimpan, penyaji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246888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99032"/>
            <a:ext cx="22860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ManageEngine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tiket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7520" y="1645920"/>
            <a:ext cx="822960" cy="1920240"/>
          </a:xfrm>
          <a:prstGeom prst="line">
            <a:avLst/>
          </a:prstGeom>
          <a:ln w="15875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2075688"/>
            <a:ext cx="246888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2860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PRTG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link dan trafik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395728"/>
            <a:ext cx="822960" cy="1170432"/>
          </a:xfrm>
          <a:prstGeom prst="line">
            <a:avLst/>
          </a:prstGeom>
          <a:ln w="15875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825496"/>
            <a:ext cx="246888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22860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Zabbix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perangkat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17520" y="3145536"/>
            <a:ext cx="822960" cy="420624"/>
          </a:xfrm>
          <a:prstGeom prst="line">
            <a:avLst/>
          </a:prstGeom>
          <a:ln w="15875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3575304"/>
            <a:ext cx="246888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648456"/>
            <a:ext cx="22860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Ruckus vSZ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WiFi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017520" y="3566160"/>
            <a:ext cx="822960" cy="329184"/>
          </a:xfrm>
          <a:prstGeom prst="line">
            <a:avLst/>
          </a:prstGeom>
          <a:ln w="15875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8640" y="4325112"/>
            <a:ext cx="246888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98264"/>
            <a:ext cx="22860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Palo Alto Panorama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NDR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017520" y="3566160"/>
            <a:ext cx="822960" cy="1078992"/>
          </a:xfrm>
          <a:prstGeom prst="line">
            <a:avLst/>
          </a:prstGeom>
          <a:ln w="15875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" y="5074920"/>
            <a:ext cx="246888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48072"/>
            <a:ext cx="228600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Trend Micro Vision One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XDR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017520" y="3566160"/>
            <a:ext cx="822960" cy="1828799"/>
          </a:xfrm>
          <a:prstGeom prst="line">
            <a:avLst/>
          </a:prstGeom>
          <a:ln w="15875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840480" y="2880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2953512"/>
            <a:ext cx="1828800" cy="1225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Konektor + penjadwal</a:t>
            </a:r>
          </a:p>
          <a:p>
            <a:pPr algn="ctr"/>
            <a:r>
              <a:rPr sz="1200" b="0" i="0">
                <a:solidFill>
                  <a:srgbClr val="E6FAFC"/>
                </a:solidFill>
                <a:latin typeface="Calibri"/>
              </a:rPr>
              <a:t>worker (APScheduler)</a:t>
            </a:r>
          </a:p>
          <a:p>
            <a:pPr algn="ctr"/>
            <a:r>
              <a:rPr sz="1200" b="0" i="0">
                <a:solidFill>
                  <a:srgbClr val="E6FAFC"/>
                </a:solidFill>
                <a:latin typeface="Calibri"/>
              </a:rPr>
              <a:t>API, jam tetap, backfill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852160" y="3566160"/>
            <a:ext cx="640080" cy="0"/>
          </a:xfrm>
          <a:prstGeom prst="line">
            <a:avLst/>
          </a:prstGeom>
          <a:ln w="25400">
            <a:solidFill>
              <a:srgbClr val="0B7C8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92240" y="2697480"/>
            <a:ext cx="2011680" cy="173736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2770632"/>
            <a:ext cx="1828800" cy="1591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/>
            <a:r>
              <a:rPr sz="1200" b="0" i="0">
                <a:solidFill>
                  <a:srgbClr val="CFE3F5"/>
                </a:solidFill>
                <a:latin typeface="Calibri"/>
              </a:rPr>
              <a:t>38 tabel · riwayat</a:t>
            </a:r>
          </a:p>
          <a:p>
            <a:pPr algn="ctr"/>
            <a:r>
              <a:rPr sz="1200" b="0" i="0">
                <a:solidFill>
                  <a:srgbClr val="CFE3F5"/>
                </a:solidFill>
                <a:latin typeface="Calibri"/>
              </a:rPr>
              <a:t>rahasia terenkripsi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03920" y="3566160"/>
            <a:ext cx="548640" cy="0"/>
          </a:xfrm>
          <a:prstGeom prst="line">
            <a:avLst/>
          </a:prstGeom>
          <a:ln w="25400">
            <a:solidFill>
              <a:srgbClr val="0B7C8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052560" y="2880360"/>
            <a:ext cx="1325880" cy="1371600"/>
          </a:xfrm>
          <a:prstGeom prst="roundRect">
            <a:avLst>
              <a:gd name="adj" fmla="val 6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2953512"/>
            <a:ext cx="1143000" cy="1225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200" b="0" i="0">
                <a:solidFill>
                  <a:srgbClr val="CFE3F5"/>
                </a:solidFill>
                <a:latin typeface="Calibri"/>
              </a:rPr>
              <a:t>auth · hitung</a:t>
            </a:r>
          </a:p>
          <a:p>
            <a:pPr algn="ctr"/>
            <a:r>
              <a:rPr sz="1200" b="0" i="0">
                <a:solidFill>
                  <a:srgbClr val="CFE3F5"/>
                </a:solidFill>
                <a:latin typeface="Calibri"/>
              </a:rPr>
              <a:t>laporan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378440" y="3566160"/>
            <a:ext cx="365760" cy="0"/>
          </a:xfrm>
          <a:prstGeom prst="line">
            <a:avLst/>
          </a:prstGeom>
          <a:ln w="25400">
            <a:solidFill>
              <a:srgbClr val="0B7C8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744200" y="2880360"/>
            <a:ext cx="896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35640" y="2953512"/>
            <a:ext cx="713232" cy="1225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UI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browser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0480" y="5029200"/>
            <a:ext cx="2011680" cy="868680"/>
          </a:xfrm>
          <a:prstGeom prst="roundRect">
            <a:avLst>
              <a:gd name="adj" fmla="val 6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0" y="5102352"/>
            <a:ext cx="182880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7C87"/>
                </a:solidFill>
                <a:latin typeface="Calibri"/>
              </a:rPr>
              <a:t>Impor manual</a:t>
            </a:r>
          </a:p>
          <a:p>
            <a:pPr algn="ctr"/>
            <a:r>
              <a:rPr sz="1200" b="0" i="0">
                <a:solidFill>
                  <a:srgbClr val="0B7C87"/>
                </a:solidFill>
                <a:latin typeface="Calibri"/>
              </a:rPr>
              <a:t>CSV · PDF · Excel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4846320" y="4434840"/>
            <a:ext cx="2103120" cy="594360"/>
          </a:xfrm>
          <a:prstGeom prst="line">
            <a:avLst/>
          </a:prstGeom>
          <a:ln w="25400">
            <a:solidFill>
              <a:srgbClr val="0B7C8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92240" y="502920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Backend: FastAPI + SQLAlchemy + Alembic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Frontend: JavaScript murni, Leaflet untuk peta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Rahasia konektor: Fernet di database; sesi: cookie HttpOnly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Enam integrasi, jadwal dan cara tarik masing-masing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91672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34640"/>
                <a:gridCol w="2194560"/>
                <a:gridCol w="3776472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Sumber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Cara tarik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Jadwal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Isi yang disimpan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43A"/>
                          </a:solidFill>
                          <a:latin typeface="Calibri"/>
                        </a:rPr>
                        <a:t>ManageEngine SDP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REST API v3, inkremental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tiap 15 menit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Tiket, kategori, SLA, teknisi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43A"/>
                          </a:solidFill>
                          <a:latin typeface="Calibri"/>
                        </a:rPr>
                        <a:t>PRTG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historicdata per sensor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tiap jam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Trafik, downtime, kejadian per link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43A"/>
                          </a:solidFill>
                          <a:latin typeface="Calibri"/>
                        </a:rPr>
                        <a:t>Zabbix 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JSON-RPC + event.get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tiap 5 menit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Perangkat, status, riwayat down 60 hari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43A"/>
                          </a:solidFill>
                          <a:latin typeface="Calibri"/>
                        </a:rPr>
                        <a:t>Ruckus vSZ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Public REST API v11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tiap 5 menit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Client, AP, sesi, tren, usage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43A"/>
                          </a:solidFill>
                          <a:latin typeface="Calibri"/>
                        </a:rPr>
                        <a:t>Palo Alto Panorama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XML API, dynamic report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00.00 dan 12.00 WIB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Ringkasan harian dan tabel Top (7, 30 hari, bulanan)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43A"/>
                          </a:solidFill>
                          <a:latin typeface="Calibri"/>
                        </a:rPr>
                        <a:t>Trend Micro Vision One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REST API v3 (region Singapura)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tiap 15 menit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43A"/>
                          </a:solidFill>
                          <a:latin typeface="Calibri"/>
                        </a:rPr>
                        <a:t>Alert Workbench: host, akun, MITRE, insiden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4068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Tersedia juga impor manual </a:t>
            </a:r>
            <a:r>
              <a:rPr sz="1500" b="0" i="0">
                <a:solidFill>
                  <a:srgbClr val="14243A"/>
                </a:solidFill>
                <a:latin typeface="Calibri"/>
              </a:rPr>
              <a:t>untuk SOC (CSV Panorama), PRTG (PDF harian), dan tiket (Excel). Impor manual dipakai sebagai validasi dan tidak tertimpa data API.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Yang tersimpan di database server ini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Grafik data tersimpan"/>
          <p:cNvGraphicFramePr>
            <a:graphicFrameLocks noGrp="1"/>
          </p:cNvGraphicFramePr>
          <p:nvPr/>
        </p:nvGraphicFramePr>
        <p:xfrm>
          <a:off x="54864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1463040"/>
            <a:ext cx="379476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Dibaca dari database, </a:t>
            </a:r>
            <a:r>
              <a:rPr sz="1400" b="0">
                <a:solidFill>
                  <a:srgbClr val="14243A"/>
                </a:solidFill>
                <a:latin typeface="Calibri"/>
              </a:rPr>
              <a:t>bukan dari sumber, sehingga halaman cepat dan tetap tampil saat sumber tidak terjangkau.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Riwayat dibangun sendiri: </a:t>
            </a:r>
            <a:r>
              <a:rPr sz="1400" b="0">
                <a:solidFill>
                  <a:srgbClr val="14243A"/>
                </a:solidFill>
                <a:latin typeface="Calibri"/>
              </a:rPr>
              <a:t>sesi WiFi, kejadian down, tren per jam, alert XDR.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Retensi diatur parameter: </a:t>
            </a:r>
            <a:r>
              <a:rPr sz="1400" b="0">
                <a:solidFill>
                  <a:srgbClr val="14243A"/>
                </a:solidFill>
                <a:latin typeface="Calibri"/>
              </a:rPr>
              <a:t>sesi WiFi 90 hari, tren 400 hari.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Rahasia terenkripsi </a:t>
            </a:r>
            <a:r>
              <a:rPr sz="1400" b="0">
                <a:solidFill>
                  <a:srgbClr val="14243A"/>
                </a:solidFill>
                <a:latin typeface="Calibri"/>
              </a:rPr>
              <a:t>(token, password konektor, SMTP, webhook) dan tidak dikirim ke browser.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Backup database </a:t>
            </a:r>
            <a:r>
              <a:rPr sz="1400" b="0">
                <a:solidFill>
                  <a:srgbClr val="14243A"/>
                </a:solidFill>
                <a:latin typeface="Calibri"/>
              </a:rPr>
              <a:t>menjadi sumber kebenaran; jadwalkan terenkripsi di luar server.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Overview: status hari ini dan semua bidang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8</a:t>
            </a:r>
          </a:p>
        </p:txBody>
      </p:sp>
      <p:sp>
        <p:nvSpPr>
          <p:cNvPr id="5" name="Status TICKETING"/>
          <p:cNvSpPr/>
          <p:nvPr/>
        </p:nvSpPr>
        <p:spPr>
          <a:xfrm>
            <a:off x="548640" y="137160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572768"/>
            <a:ext cx="182880" cy="18288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1790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TICKETING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Terkendali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82"/>
                </a:solidFill>
                <a:latin typeface="Calibri"/>
              </a:rPr>
              <a:t>tiket, open, SLA</a:t>
            </a:r>
          </a:p>
        </p:txBody>
      </p:sp>
      <p:sp>
        <p:nvSpPr>
          <p:cNvPr id="10" name="Status NETWORK"/>
          <p:cNvSpPr/>
          <p:nvPr/>
        </p:nvSpPr>
        <p:spPr>
          <a:xfrm>
            <a:off x="2798064" y="137160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80944" y="1572768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51790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190195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AP offline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22860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82"/>
                </a:solidFill>
                <a:latin typeface="Calibri"/>
              </a:rPr>
              <a:t>availability link, client WiFi</a:t>
            </a:r>
          </a:p>
        </p:txBody>
      </p:sp>
      <p:sp>
        <p:nvSpPr>
          <p:cNvPr id="15" name="Status CYBER SECURITY"/>
          <p:cNvSpPr/>
          <p:nvPr/>
        </p:nvSpPr>
        <p:spPr>
          <a:xfrm>
            <a:off x="5047488" y="137160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30368" y="1572768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4688" y="151790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CYBER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190195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Perlu tindak lanjut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22860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82"/>
                </a:solidFill>
                <a:latin typeface="Calibri"/>
              </a:rPr>
              <a:t>event NDR, alert XDR</a:t>
            </a:r>
          </a:p>
        </p:txBody>
      </p:sp>
      <p:sp>
        <p:nvSpPr>
          <p:cNvPr id="20" name="Status DEVICES"/>
          <p:cNvSpPr/>
          <p:nvPr/>
        </p:nvSpPr>
        <p:spPr>
          <a:xfrm>
            <a:off x="7296912" y="137160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79792" y="1572768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2" y="151790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190195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Perangkat 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22860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82"/>
                </a:solidFill>
                <a:latin typeface="Calibri"/>
              </a:rPr>
              <a:t>availability, total perangkat</a:t>
            </a:r>
          </a:p>
        </p:txBody>
      </p:sp>
      <p:sp>
        <p:nvSpPr>
          <p:cNvPr id="25" name="Status HANDOVER"/>
          <p:cNvSpPr/>
          <p:nvPr/>
        </p:nvSpPr>
        <p:spPr>
          <a:xfrm>
            <a:off x="9546336" y="137160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29215" y="1572768"/>
            <a:ext cx="182880" cy="18288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03536" y="151790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HANDOVER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9215" y="190195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Terkendali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9215" y="22860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82"/>
                </a:solidFill>
                <a:latin typeface="Calibri"/>
              </a:rPr>
              <a:t>serah terima shift</a:t>
            </a:r>
          </a:p>
        </p:txBody>
      </p:sp>
      <p:sp>
        <p:nvSpPr>
          <p:cNvPr id="30" name="Kartu Yang ditampilkan"/>
          <p:cNvSpPr/>
          <p:nvPr/>
        </p:nvSpPr>
        <p:spPr>
          <a:xfrm>
            <a:off x="548640" y="306324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2644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Yang ditampilkan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721608"/>
            <a:ext cx="49377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Status Hari Ini per bidang (hijau, kuning, merah)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Attention: tiket lama, link di bawah target, alert tanpa blokir, AP offline, backlog XDR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On Duty dan eskalasi, handover yang masih terbuka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Grafik: tiket, downtime link, event NDR, alert XDR, tren WiFi</a:t>
            </a:r>
          </a:p>
        </p:txBody>
      </p:sp>
      <p:sp>
        <p:nvSpPr>
          <p:cNvPr id="33" name="Kartu Diatur sesuai kebutu"/>
          <p:cNvSpPr/>
          <p:nvPr/>
        </p:nvSpPr>
        <p:spPr>
          <a:xfrm>
            <a:off x="6217920" y="3063240"/>
            <a:ext cx="542239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264408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Diatur sesuai kebutuhan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721608"/>
            <a:ext cx="4965192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Customize: pindah, ubah ukuran, sembunyikan, tambah dari katalog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Tata letak bisa berbeda per role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Filter periode, shift, dan lokasi berlaku di semua panel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Bandingkan dengan periode sebelumnya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Network: ringkasan gabungan PRTG dan WiFi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9</a:t>
            </a:r>
          </a:p>
        </p:txBody>
      </p:sp>
      <p:sp>
        <p:nvSpPr>
          <p:cNvPr id="5" name="Kartu Summary"/>
          <p:cNvSpPr/>
          <p:nvPr/>
        </p:nvSpPr>
        <p:spPr>
          <a:xfrm>
            <a:off x="548640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Perhatian gabungan: link di bawah target, AP offline, sinyal lemah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KPI link dan KPI WiFi berdampingan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Downtime per hari dan top 5 link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Ringkasan per lokasi: link, availability, AP, client</a:t>
            </a:r>
          </a:p>
        </p:txBody>
      </p:sp>
      <p:sp>
        <p:nvSpPr>
          <p:cNvPr id="9" name="Kartu PRTG · link dan traf"/>
          <p:cNvSpPr/>
          <p:nvPr/>
        </p:nvSpPr>
        <p:spPr>
          <a:xfrm>
            <a:off x="4322978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1578" y="157276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5938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PRTG · link dan trafik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Availability terhadap target SLA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Trafik total dan per sensor, utilisasi puncak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Ranking downtime, 20 kejadian terlama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Ringkasan per ISP dan per lokasi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Data per jam dari API; PDF harian tetap terbaca</a:t>
            </a:r>
          </a:p>
        </p:txBody>
      </p:sp>
      <p:sp>
        <p:nvSpPr>
          <p:cNvPr id="13" name="Kartu WiFi · Ruckus vSZ"/>
          <p:cNvSpPr/>
          <p:nvPr/>
        </p:nvSpPr>
        <p:spPr>
          <a:xfrm>
            <a:off x="8097316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5916" y="157276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0276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WiFi · Ruckus vSZ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5916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Client aktif, AP online, sinyal lemah, usage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Portal Users: client SSID portal, status login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Filter band, SSID, zone, lokasi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Riwayat: usage per zone, SSID, client, jam sibuk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Putus sesi (Disconnect, Deauth) untuk role berizin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Cyber Security: NDR Palo Alto dan XDR Trend Micro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10</a:t>
            </a:r>
          </a:p>
        </p:txBody>
      </p:sp>
      <p:sp>
        <p:nvSpPr>
          <p:cNvPr id="5" name="Kartu Summary"/>
          <p:cNvSpPr/>
          <p:nvPr/>
        </p:nvSpPr>
        <p:spPr>
          <a:xfrm>
            <a:off x="548640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Perhatian: event critical/high hanya alert, backlog XDR, data NDR belum lengkap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KPI NDR dan XDR berdampingan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Event dan alert per hari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Severity, model deteksi, host terdampak, teknik MITRE</a:t>
            </a:r>
          </a:p>
        </p:txBody>
      </p:sp>
      <p:sp>
        <p:nvSpPr>
          <p:cNvPr id="9" name="Kartu NDR · Palo Alto"/>
          <p:cNvSpPr/>
          <p:nvPr/>
        </p:nvSpPr>
        <p:spPr>
          <a:xfrm>
            <a:off x="4322978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1578" y="157276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5938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NDR · Palo Alto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Total event, critical/high, persentase diblokir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Per severity, tindakan, kategori ancaman, URL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Tabel Top mengikuti filter periode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Tarik otomatis 00.00 dan 12.00 WIB, tombol tarik manual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Impor CSV tetap sebagai validasi</a:t>
            </a:r>
          </a:p>
        </p:txBody>
      </p:sp>
      <p:sp>
        <p:nvSpPr>
          <p:cNvPr id="13" name="Kartu XDR · Trend Micro"/>
          <p:cNvSpPr/>
          <p:nvPr/>
        </p:nvSpPr>
        <p:spPr>
          <a:xfrm>
            <a:off x="8097316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5916" y="1572768"/>
            <a:ext cx="457200" cy="457200"/>
          </a:xfrm>
          <a:prstGeom prst="ellipse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0276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XDR · Trend Micro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5916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Alert Workbench dengan severity dan status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Host dan akun terdampak (dengan IP)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Teknik MITRE ATT&amp;CK dan insiden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Umur backlog, hasil investigasi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Tautan langsung ke Workbench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Devices: kondisi perangkat dari Zabbix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11</a:t>
            </a:r>
          </a:p>
        </p:txBody>
      </p:sp>
      <p:sp>
        <p:nvSpPr>
          <p:cNvPr id="5" name="Statistik 1.772"/>
          <p:cNvSpPr/>
          <p:nvPr/>
        </p:nvSpPr>
        <p:spPr>
          <a:xfrm>
            <a:off x="548640" y="1371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0B7C87"/>
                </a:solidFill>
                <a:latin typeface="Calibri"/>
              </a:rPr>
              <a:t>1.772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perangkat dipantau (CCTV, Gate System, jaringan)</a:t>
            </a:r>
          </a:p>
        </p:txBody>
      </p:sp>
      <p:sp>
        <p:nvSpPr>
          <p:cNvPr id="8" name="Statistik 51 + 36"/>
          <p:cNvSpPr/>
          <p:nvPr/>
        </p:nvSpPr>
        <p:spPr>
          <a:xfrm>
            <a:off x="548640" y="29718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0B7C87"/>
                </a:solidFill>
                <a:latin typeface="Calibri"/>
              </a:rPr>
              <a:t>51 + 36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6791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kode lokasi dan kode perangkat di kamus</a:t>
            </a:r>
          </a:p>
        </p:txBody>
      </p:sp>
      <p:sp>
        <p:nvSpPr>
          <p:cNvPr id="11" name="Statistik 60 hari"/>
          <p:cNvSpPr/>
          <p:nvPr/>
        </p:nvSpPr>
        <p:spPr>
          <a:xfrm>
            <a:off x="548640" y="45720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7091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0B7C87"/>
                </a:solidFill>
                <a:latin typeface="Calibri"/>
              </a:rPr>
              <a:t>60 hari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6811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riwayat kejadian down langsung dari Zabbix</a:t>
            </a:r>
          </a:p>
        </p:txBody>
      </p:sp>
      <p:sp>
        <p:nvSpPr>
          <p:cNvPr id="14" name="Kartu Tampilan"/>
          <p:cNvSpPr/>
          <p:nvPr/>
        </p:nvSpPr>
        <p:spPr>
          <a:xfrm>
            <a:off x="3474720" y="1371600"/>
            <a:ext cx="411480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15727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Tampilan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029967"/>
            <a:ext cx="3657600" cy="3959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Peta lokasi (Leaflet, OpenStreetMap) dengan warna availability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Status per kategori dan per tipe perangkat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Down terlama, lama down, down per lokasi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Filter lokasi, kategori, group, tipe, status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Widget peta per group (mis. Network-SDWAN)</a:t>
            </a:r>
          </a:p>
        </p:txBody>
      </p:sp>
      <p:sp>
        <p:nvSpPr>
          <p:cNvPr id="17" name="Kartu Riwayat dan kamus"/>
          <p:cNvSpPr/>
          <p:nvPr/>
        </p:nvSpPr>
        <p:spPr>
          <a:xfrm>
            <a:off x="7772400" y="1371600"/>
            <a:ext cx="3867912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572768"/>
            <a:ext cx="3410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Riwayat dan kamus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029967"/>
            <a:ext cx="3410712" cy="3959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Kejadian down, downtime, MTTR, availability periode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Perangkat paling sering down, masalah dominan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Kode nama host diurai otomatis: cabang, zona, tipe, urutan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Kode baru terdaftar otomatis untuk dilengkapi Admin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Ticketing, personel, dan serah terima shift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12</a:t>
            </a:r>
          </a:p>
        </p:txBody>
      </p:sp>
      <p:sp>
        <p:nvSpPr>
          <p:cNvPr id="5" name="Kartu Ticketing"/>
          <p:cNvSpPr/>
          <p:nvPr/>
        </p:nvSpPr>
        <p:spPr>
          <a:xfrm>
            <a:off x="548640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Ticketing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Tiket masuk, close, SLA, durasi median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Ranking teknisi dan group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Kategori, lokasi, jam, hari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Tiket open terlama dan 25 tiket terlama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Sinkron API tiap 15 menit + impor Excel</a:t>
            </a:r>
          </a:p>
        </p:txBody>
      </p:sp>
      <p:sp>
        <p:nvSpPr>
          <p:cNvPr id="9" name="Kartu Personnel"/>
          <p:cNvSpPr/>
          <p:nvPr/>
        </p:nvSpPr>
        <p:spPr>
          <a:xfrm>
            <a:off x="4322978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1578" y="157276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5938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Personnel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Rotasi 4 tim, 3 shift, jadwal bulanan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Siapa bertugas sekarang dan berikutnya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Kontak eskalasi dan layanan IT Care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Pola rotasi dan anggota dari parameter</a:t>
            </a:r>
          </a:p>
        </p:txBody>
      </p:sp>
      <p:sp>
        <p:nvSpPr>
          <p:cNvPr id="13" name="Kartu Handover dan Data"/>
          <p:cNvSpPr/>
          <p:nvPr/>
        </p:nvSpPr>
        <p:spPr>
          <a:xfrm>
            <a:off x="8097316" y="13716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5916" y="157276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0276" y="1572768"/>
            <a:ext cx="25398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Handover dan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5916" y="2258568"/>
            <a:ext cx="3088538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Serah terima shift: prioritas, tindak lanjut, penutupan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Notifikasi webhook (Teams, Slack, Telegram)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Kelengkapan data harian SOC dan log unggah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Riwayat sinkron dan unggahan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Report: sepuluh jenis laporan, tiga format, satu tampilan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7160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37160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62072" y="137160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Network (PRTG + WiFi)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37160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02352" y="137160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Cyber Security (NDR + XDR)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137160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42631" y="137160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Ticketing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137160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82912" y="137160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PRTG (Link)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10312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WiFi (Ruckus)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210312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0312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NDR (Palo Alto)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10312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2352" y="210312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XDR (Trend Micro)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210312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2631" y="210312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Devices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10312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82912" y="2103120"/>
            <a:ext cx="19568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Full</a:t>
            </a:r>
          </a:p>
        </p:txBody>
      </p:sp>
      <p:sp>
        <p:nvSpPr>
          <p:cNvPr id="25" name="Format Excel"/>
          <p:cNvSpPr/>
          <p:nvPr/>
        </p:nvSpPr>
        <p:spPr>
          <a:xfrm>
            <a:off x="548640" y="3108960"/>
            <a:ext cx="35661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2186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7C87"/>
                </a:solidFill>
                <a:latin typeface="Calibri"/>
              </a:rPr>
              <a:t>Excel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2"/>
                </a:solidFill>
                <a:latin typeface="Calibri"/>
              </a:rPr>
              <a:t>data dan format angka asli</a:t>
            </a:r>
          </a:p>
        </p:txBody>
      </p:sp>
      <p:sp>
        <p:nvSpPr>
          <p:cNvPr id="28" name="Format PDF"/>
          <p:cNvSpPr/>
          <p:nvPr/>
        </p:nvSpPr>
        <p:spPr>
          <a:xfrm>
            <a:off x="4297679" y="3108960"/>
            <a:ext cx="35661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79" y="32186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7C87"/>
                </a:solidFill>
                <a:latin typeface="Calibri"/>
              </a:rPr>
              <a:t>PDF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2"/>
                </a:solidFill>
                <a:latin typeface="Calibri"/>
              </a:rPr>
              <a:t>siap cetak dan arsip</a:t>
            </a:r>
          </a:p>
        </p:txBody>
      </p:sp>
      <p:sp>
        <p:nvSpPr>
          <p:cNvPr id="31" name="Format PowerPoint"/>
          <p:cNvSpPr/>
          <p:nvPr/>
        </p:nvSpPr>
        <p:spPr>
          <a:xfrm>
            <a:off x="8046719" y="3108960"/>
            <a:ext cx="35661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19" y="32186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7C87"/>
                </a:solidFill>
                <a:latin typeface="Calibri"/>
              </a:rPr>
              <a:t>PowerPoint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9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2"/>
                </a:solidFill>
                <a:latin typeface="Calibri"/>
              </a:rPr>
              <a:t>template Pelindo untuk rapat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526280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8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Periode, shift, dan lokasi mengikuti filter; ukuran Compact, Standard, Full memilih jumlah grafik</a:t>
            </a:r>
          </a:p>
          <a:p>
            <a:pPr marL="182880" indent="-182880">
              <a:spcAft>
                <a:spcPts val="8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Bagian laporan mengikuti izin role dan lokasi yang dikunci</a:t>
            </a:r>
          </a:p>
          <a:p>
            <a:pPr marL="182880" indent="-182880">
              <a:spcAft>
                <a:spcPts val="8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Status perangkat dan WiFi adalah kondisi saat laporan dibuat; bagian riwayat mengikuti periode</a:t>
            </a:r>
          </a:p>
          <a:p>
            <a:pPr marL="182880" indent="-182880">
              <a:spcAft>
                <a:spcPts val="8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Setiap unduhan tercatat di audit log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Tampilan yang bisa diatur tanpa mengubah kode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14</a:t>
            </a:r>
          </a:p>
        </p:txBody>
      </p:sp>
      <p:sp>
        <p:nvSpPr>
          <p:cNvPr id="5" name="Kartu Customize per halama"/>
          <p:cNvSpPr/>
          <p:nvPr/>
        </p:nvSpPr>
        <p:spPr>
          <a:xfrm>
            <a:off x="548640" y="1371600"/>
            <a:ext cx="548640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7276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Customize per halaman dan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58568"/>
            <a:ext cx="5029200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Pindah (seret), ubah lebar, ganti judul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Sembunyikan, hapus, atau tambah lagi dari katalog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Setiap role bisa punya tata letak sendiri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Reset kembali ke bawaan kapan saja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Filter widget peta (group) langsung di toolbar</a:t>
            </a:r>
          </a:p>
        </p:txBody>
      </p:sp>
      <p:sp>
        <p:nvSpPr>
          <p:cNvPr id="9" name="Kartu Filter seragam di se"/>
          <p:cNvSpPr/>
          <p:nvPr/>
        </p:nvSpPr>
        <p:spPr>
          <a:xfrm>
            <a:off x="6263640" y="1371600"/>
            <a:ext cx="5376672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157276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72768"/>
            <a:ext cx="4370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Filter seragam di semua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58568"/>
            <a:ext cx="4919472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Period, Shift, Location di bar atas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Filter khusus: Category, Group, Type, Status (Devices)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Band, SSID, Zone (WiFi); Severity (XDR)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Sidebar bisa diciutkan ke mode ikon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Chip On duty hidup: jam berdetik, titik berdenyut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Role dan hak akses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91672" cy="4133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212080"/>
                <a:gridCol w="1920240"/>
                <a:gridCol w="2039112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Modul yang terlihat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Lokasi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Catatan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Super Admin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Semua modul dan Admin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Semua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Kelola pengguna, integrasi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Semua modul, Admin hanya baca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Semua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Koordinator ITOC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ITOC Shift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Overview, Ticketing, Network, Cyber, Devices, Personel, Report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Semua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Operator shift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Management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Overview, Ticketing, Network, Cyber, Devices, Personel, Report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Semua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Hanya melihat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IT Care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Overview, Ticketing, Network, Personel, Report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Kantor pusat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Dikunci ke lokasi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EOS Branch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Overview, Ticketing, Network, Personel, Report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Lokasi akun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Dikunci ke cabang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WiFi Viewer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Hanya WiFi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Semua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Tanpa putus sesi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2356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Calibri"/>
              </a:rPr>
              <a:t>Aksi sensitif: </a:t>
            </a:r>
            <a:r>
              <a:rPr sz="1400" b="0" i="0">
                <a:solidFill>
                  <a:srgbClr val="14243A"/>
                </a:solidFill>
                <a:latin typeface="Calibri"/>
              </a:rPr>
              <a:t>Disconnect dan Deauth client WiFi hanya untuk Super Admin, Admin, dan username yang didaftarkan di parameter; setiap aksi tercatat (siapa, client, SSID, AP, alasan).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Keamanan: kontrol yang sudah ada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16</a:t>
            </a:r>
          </a:p>
        </p:txBody>
      </p:sp>
      <p:sp>
        <p:nvSpPr>
          <p:cNvPr id="5" name="Kontrol Sesi"/>
          <p:cNvSpPr/>
          <p:nvPr/>
        </p:nvSpPr>
        <p:spPr>
          <a:xfrm>
            <a:off x="548640" y="1371600"/>
            <a:ext cx="263644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7C87"/>
                </a:solidFill>
                <a:latin typeface="Calibri"/>
              </a:rPr>
              <a:t>Sesi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2270683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243A"/>
                </a:solidFill>
                <a:latin typeface="Calibri"/>
              </a:rPr>
              <a:t>Cookie HttpOnly, SameSite=Strict, Secure via HTTPS; sesi gugur saat password diganti</a:t>
            </a:r>
          </a:p>
        </p:txBody>
      </p:sp>
      <p:sp>
        <p:nvSpPr>
          <p:cNvPr id="8" name="Kontrol CSRF"/>
          <p:cNvSpPr/>
          <p:nvPr/>
        </p:nvSpPr>
        <p:spPr>
          <a:xfrm>
            <a:off x="3367963" y="1371600"/>
            <a:ext cx="263644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0843" y="1554480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7C87"/>
                </a:solidFill>
                <a:latin typeface="Calibri"/>
              </a:rPr>
              <a:t>CSRF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0843" y="2011680"/>
            <a:ext cx="2270683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243A"/>
                </a:solidFill>
                <a:latin typeface="Calibri"/>
              </a:rPr>
              <a:t>Header wajib untuk perubahan data pada sesi cookie</a:t>
            </a:r>
          </a:p>
        </p:txBody>
      </p:sp>
      <p:sp>
        <p:nvSpPr>
          <p:cNvPr id="11" name="Kontrol Login"/>
          <p:cNvSpPr/>
          <p:nvPr/>
        </p:nvSpPr>
        <p:spPr>
          <a:xfrm>
            <a:off x="6187287" y="1371600"/>
            <a:ext cx="263644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7C87"/>
                </a:solidFill>
                <a:latin typeface="Calibri"/>
              </a:rPr>
              <a:t>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011680"/>
            <a:ext cx="2270683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243A"/>
                </a:solidFill>
                <a:latin typeface="Calibri"/>
              </a:rPr>
              <a:t>bcrypt, lockout 5 gagal per 10 menit lintas worker, pesan galat seragam</a:t>
            </a:r>
          </a:p>
        </p:txBody>
      </p:sp>
      <p:sp>
        <p:nvSpPr>
          <p:cNvPr id="14" name="Kontrol Otorisasi"/>
          <p:cNvSpPr/>
          <p:nvPr/>
        </p:nvSpPr>
        <p:spPr>
          <a:xfrm>
            <a:off x="9006611" y="1371600"/>
            <a:ext cx="263644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491" y="1554480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7C87"/>
                </a:solidFill>
                <a:latin typeface="Calibri"/>
              </a:rPr>
              <a:t>Otorisasi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491" y="2011680"/>
            <a:ext cx="2270683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243A"/>
                </a:solidFill>
                <a:latin typeface="Calibri"/>
              </a:rPr>
              <a:t>Semua /api wajib login; modul, admin, unggah, lokasi per role</a:t>
            </a:r>
          </a:p>
        </p:txBody>
      </p:sp>
      <p:sp>
        <p:nvSpPr>
          <p:cNvPr id="17" name="Kontrol Input"/>
          <p:cNvSpPr/>
          <p:nvPr/>
        </p:nvSpPr>
        <p:spPr>
          <a:xfrm>
            <a:off x="548640" y="3794760"/>
            <a:ext cx="263644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77640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7C87"/>
                </a:solidFill>
                <a:latin typeface="Calibri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34840"/>
            <a:ext cx="2270683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243A"/>
                </a:solidFill>
                <a:latin typeface="Calibri"/>
              </a:rPr>
              <a:t>ORM berparameter, validasi Pydantic, unggahan dibatasi ukuran, ekstensi, isi zip</a:t>
            </a:r>
          </a:p>
        </p:txBody>
      </p:sp>
      <p:sp>
        <p:nvSpPr>
          <p:cNvPr id="20" name="Kontrol Output"/>
          <p:cNvSpPr/>
          <p:nvPr/>
        </p:nvSpPr>
        <p:spPr>
          <a:xfrm>
            <a:off x="3367963" y="3794760"/>
            <a:ext cx="263644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0843" y="3977640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7C87"/>
                </a:solidFill>
                <a:latin typeface="Calibri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0843" y="4434840"/>
            <a:ext cx="2270683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243A"/>
                </a:solidFill>
                <a:latin typeface="Calibri"/>
              </a:rPr>
              <a:t>Data luar di-escape, tanpa handler inline, CSP script-src 'self'</a:t>
            </a:r>
          </a:p>
        </p:txBody>
      </p:sp>
      <p:sp>
        <p:nvSpPr>
          <p:cNvPr id="23" name="Kontrol SSRF"/>
          <p:cNvSpPr/>
          <p:nvPr/>
        </p:nvSpPr>
        <p:spPr>
          <a:xfrm>
            <a:off x="6187287" y="3794760"/>
            <a:ext cx="263644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3977640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7C87"/>
                </a:solidFill>
                <a:latin typeface="Calibri"/>
              </a:rPr>
              <a:t>SSRF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434840"/>
            <a:ext cx="2270683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243A"/>
                </a:solidFill>
                <a:latin typeface="Calibri"/>
              </a:rPr>
              <a:t>URL webhook dan konektor menolak loopback dan link-local</a:t>
            </a:r>
          </a:p>
        </p:txBody>
      </p:sp>
      <p:sp>
        <p:nvSpPr>
          <p:cNvPr id="26" name="Kontrol Rahasia"/>
          <p:cNvSpPr/>
          <p:nvPr/>
        </p:nvSpPr>
        <p:spPr>
          <a:xfrm>
            <a:off x="9006611" y="3794760"/>
            <a:ext cx="263644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491" y="3977640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7C87"/>
                </a:solidFill>
                <a:latin typeface="Calibri"/>
              </a:rPr>
              <a:t>Rahasia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491" y="4434840"/>
            <a:ext cx="2270683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243A"/>
                </a:solidFill>
                <a:latin typeface="Calibri"/>
              </a:rPr>
              <a:t>Fernet di database, .env di luar git dan image, container non-root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Hasil audit dan kesiapan VAPT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17</a:t>
            </a:r>
          </a:p>
        </p:txBody>
      </p:sp>
      <p:sp>
        <p:nvSpPr>
          <p:cNvPr id="5" name="Kartu Sudah diperbaiki"/>
          <p:cNvSpPr/>
          <p:nvPr/>
        </p:nvSpPr>
        <p:spPr>
          <a:xfrm>
            <a:off x="548640" y="1371600"/>
            <a:ext cx="548640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7276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Sudah diperbaiki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58568"/>
            <a:ext cx="5029200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Password akun uji lemah: direset acak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Sesi di localStorage: pindah ke cookie HttpOnly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Lockout per proses: pindah ke database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Dependensi rentan: pip-audit bersih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SSRF, upload tanpa batas, header keamanan, container root</a:t>
            </a:r>
          </a:p>
        </p:txBody>
      </p:sp>
      <p:sp>
        <p:nvSpPr>
          <p:cNvPr id="9" name="Kartu Perlu dilakukan di s"/>
          <p:cNvSpPr/>
          <p:nvPr/>
        </p:nvSpPr>
        <p:spPr>
          <a:xfrm>
            <a:off x="6263640" y="1371600"/>
            <a:ext cx="5376672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157276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72768"/>
            <a:ext cx="4370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Perlu dilakukan di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58568"/>
            <a:ext cx="4919472" cy="3730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ITOC_ENV=production dan rahasia kuat di .env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HTTPS lewat reverse proxy (contoh Nginx tersedia)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Verifikasi TLS konektor: aktifkan bila CA internal terpasang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Batasi Super Admin dan jadwalkan backup terenkripsi</a:t>
            </a:r>
          </a:p>
          <a:p>
            <a:pPr marL="182880" indent="-182880">
              <a:spcAft>
                <a:spcPts val="600"/>
              </a:spcAft>
              <a:buClr>
                <a:srgbClr val="0FA3B1"/>
              </a:buClr>
              <a:buFont typeface="Arial"/>
              <a:buChar char="•"/>
            </a:pPr>
            <a:r>
              <a:rPr sz="1600" b="0">
                <a:solidFill>
                  <a:srgbClr val="14243A"/>
                </a:solidFill>
                <a:latin typeface="Calibri"/>
              </a:rPr>
              <a:t>Jalankan security-check sebelum VAPT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Deployment dan operasi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56032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90472"/>
            <a:ext cx="2377439" cy="1179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db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PostgreSQL 16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hanya 127.0.0.1, volume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560320" cy="13258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490472"/>
            <a:ext cx="2377439" cy="1179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api</a:t>
            </a:r>
          </a:p>
          <a:p>
            <a:pPr algn="ctr"/>
            <a:r>
              <a:rPr sz="1200" b="0" i="0">
                <a:solidFill>
                  <a:srgbClr val="CFE3F5"/>
                </a:solidFill>
                <a:latin typeface="Calibri"/>
              </a:rPr>
              <a:t>FastAPI + Uvicorn</a:t>
            </a:r>
          </a:p>
          <a:p>
            <a:pPr algn="ctr"/>
            <a:r>
              <a:rPr sz="1200" b="0" i="0">
                <a:solidFill>
                  <a:srgbClr val="CFE3F5"/>
                </a:solidFill>
                <a:latin typeface="Calibri"/>
              </a:rPr>
              <a:t>non-root, healthcheck, migrasi otomatis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417320"/>
            <a:ext cx="256032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F"/>
            </a:solidFill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79" y="1490472"/>
            <a:ext cx="2377439" cy="1179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1F3A"/>
                </a:solidFill>
                <a:latin typeface="Calibri"/>
              </a:rPr>
              <a:t>worker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Penjadwal sinkron</a:t>
            </a:r>
          </a:p>
          <a:p>
            <a:pPr algn="ctr"/>
            <a:r>
              <a:rPr sz="1200" b="0" i="0">
                <a:solidFill>
                  <a:srgbClr val="5B6B82"/>
                </a:solidFill>
                <a:latin typeface="Calibri"/>
              </a:rPr>
              <a:t>APScheduler, jam tetap dan interval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17320"/>
            <a:ext cx="2816352" cy="1325880"/>
          </a:xfrm>
          <a:prstGeom prst="roundRect">
            <a:avLst>
              <a:gd name="adj" fmla="val 6000"/>
            </a:avLst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490472"/>
            <a:ext cx="2633472" cy="1179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Nginx (TLS)</a:t>
            </a:r>
          </a:p>
          <a:p>
            <a:pPr algn="ctr"/>
            <a:r>
              <a:rPr sz="1200" b="0" i="0">
                <a:solidFill>
                  <a:srgbClr val="E6FAFC"/>
                </a:solidFill>
                <a:latin typeface="Calibri"/>
              </a:rPr>
              <a:t>HTTPS, HSTS, pembatas laju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0896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Konfigurasi: </a:t>
            </a:r>
            <a:r>
              <a:rPr sz="1400" b="0">
                <a:solidFill>
                  <a:srgbClr val="14243A"/>
                </a:solidFill>
                <a:latin typeface="Calibri"/>
              </a:rPr>
              <a:t>rahasia di .env, parameter bisnis di database lewat menu Admin.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Perintah: </a:t>
            </a:r>
            <a:r>
              <a:rPr sz="1400" b="0">
                <a:solidFill>
                  <a:srgbClr val="14243A"/>
                </a:solidFill>
                <a:latin typeface="Calibri"/>
              </a:rPr>
              <a:t>migrate, seed-config, create-user, sync, security-check.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Pemantauan: </a:t>
            </a:r>
            <a:r>
              <a:rPr sz="1400" b="0">
                <a:solidFill>
                  <a:srgbClr val="14243A"/>
                </a:solidFill>
                <a:latin typeface="Calibri"/>
              </a:rPr>
              <a:t>status sumber di Admin, log sinkron, audit log.</a:t>
            </a:r>
          </a:p>
          <a:p>
            <a:pPr marL="182880" indent="-182880">
              <a:spcAft>
                <a:spcPts val="1000"/>
              </a:spcAft>
              <a:buClr>
                <a:srgbClr val="0FA3B1"/>
              </a:buClr>
              <a:buFont typeface="Arial"/>
              <a:buChar char="•"/>
            </a:pPr>
            <a:r>
              <a:rPr sz="1400" b="1">
                <a:solidFill>
                  <a:srgbClr val="14243A"/>
                </a:solidFill>
                <a:latin typeface="Calibri"/>
              </a:rPr>
              <a:t>Git: </a:t>
            </a:r>
            <a:r>
              <a:rPr sz="1400" b="0">
                <a:solidFill>
                  <a:srgbClr val="14243A"/>
                </a:solidFill>
                <a:latin typeface="Calibri"/>
              </a:rPr>
              <a:t>branch devices-map, 34 commit, belum di-push.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108960"/>
            <a:ext cx="5376672" cy="3017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FD6DF"/>
                </a:solidFill>
                <a:latin typeface="Calibri"/>
              </a:rPr>
              <a:t>Perintah yang sering dipakai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03320"/>
            <a:ext cx="49377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docker compose up -d --build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docker compose exec api python -m app.cli security-check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docker compose exec api python -m app.cli sync zabbix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docker compose logs worker --tail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Batasan yang perlu diketahui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91672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5303520"/>
                <a:gridCol w="3227832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Batasan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Dampak</a:t>
                      </a:r>
                    </a:p>
                  </a:txBody>
                  <a:tcPr marL="91440" marR="91440" marT="36576" marB="36576" anchor="ctr">
                    <a:solidFill>
                      <a:srgbClr val="0B1F3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Panorama via API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Dynamic report meringkas IP ke blok /24 dan tanpa nama host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Detail host lebih kasar daripada CSV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Panorama, Mei–Juni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Trafik dan aplikasi belum tercatat di Panorama pada periode itu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Hanya ancaman dan URL yang terisi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WiFi portal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vSZ hanya menampilkan username bila otentikasi lewat vSZ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Portal QNAP di luar vSZ tampil belum login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WiFi usage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vSZ tidak memberi data aplikasi atau situs yang diakses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Dominan = SSID, zone, AP, client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Trend Micro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Bentuk jawaban mengikuti API v3 dan hak role API key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Tombol Test menampilkan field diterima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43A"/>
                          </a:solidFill>
                          <a:latin typeface="Calibri"/>
                        </a:rPr>
                        <a:t>TLS konektor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Sertifikat internal membuat verifikasi dimatikan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43A"/>
                          </a:solidFill>
                          <a:latin typeface="Calibri"/>
                        </a:rPr>
                        <a:t>Risiko penyadapan di jaringan internal</a:t>
                      </a:r>
                    </a:p>
                  </a:txBody>
                  <a:tcPr marL="91440" marR="91440" marT="36576" marB="36576" anchor="ctr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libri"/>
              </a:rPr>
              <a:t>Langkah berikutnya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Dashboard IT Pelindo Multi Terminal · IT Operation Center</a:t>
            </a:r>
          </a:p>
        </p:txBody>
      </p:sp>
      <p:sp>
        <p:nvSpPr>
          <p:cNvPr id="4" name="Nomor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82"/>
                </a:solidFill>
                <a:latin typeface="Calibri"/>
              </a:rPr>
              <a:t>20</a:t>
            </a:r>
          </a:p>
        </p:txBody>
      </p:sp>
      <p:sp>
        <p:nvSpPr>
          <p:cNvPr id="5" name="Langkah 1"/>
          <p:cNvSpPr/>
          <p:nvPr/>
        </p:nvSpPr>
        <p:spPr>
          <a:xfrm>
            <a:off x="548640" y="1371600"/>
            <a:ext cx="110944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563624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463040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Push dan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1463040"/>
            <a:ext cx="697961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243A"/>
                </a:solidFill>
                <a:latin typeface="Calibri"/>
              </a:rPr>
              <a:t>Push branch devices-map, buka PR ke main, review kode dan migrasi</a:t>
            </a:r>
          </a:p>
        </p:txBody>
      </p:sp>
      <p:sp>
        <p:nvSpPr>
          <p:cNvPr id="9" name="Langkah 2"/>
          <p:cNvSpPr/>
          <p:nvPr/>
        </p:nvSpPr>
        <p:spPr>
          <a:xfrm>
            <a:off x="548640" y="2350008"/>
            <a:ext cx="110944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542032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441448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Persiapan VAPT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441448"/>
            <a:ext cx="697961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243A"/>
                </a:solidFill>
                <a:latin typeface="Calibri"/>
              </a:rPr>
              <a:t>Server produksi, HTTPS, rahasia kuat, security-check bersih, backup</a:t>
            </a:r>
          </a:p>
        </p:txBody>
      </p:sp>
      <p:sp>
        <p:nvSpPr>
          <p:cNvPr id="13" name="Langkah 3"/>
          <p:cNvSpPr/>
          <p:nvPr/>
        </p:nvSpPr>
        <p:spPr>
          <a:xfrm>
            <a:off x="548640" y="3328416"/>
            <a:ext cx="110944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Uji penerimaan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419856"/>
            <a:ext cx="697961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243A"/>
                </a:solidFill>
                <a:latin typeface="Calibri"/>
              </a:rPr>
              <a:t>Operator shift dan koordinator mencoba alur harian dan putus sesi WiFi</a:t>
            </a:r>
          </a:p>
        </p:txBody>
      </p:sp>
      <p:sp>
        <p:nvSpPr>
          <p:cNvPr id="17" name="Langkah 4"/>
          <p:cNvSpPr/>
          <p:nvPr/>
        </p:nvSpPr>
        <p:spPr>
          <a:xfrm>
            <a:off x="548640" y="4306824"/>
            <a:ext cx="110944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4498848"/>
            <a:ext cx="457200" cy="457200"/>
          </a:xfrm>
          <a:prstGeom prst="ellipse">
            <a:avLst/>
          </a:prstGeom>
          <a:solidFill>
            <a:srgbClr val="0FA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98264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Go-live bertahap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4398264"/>
            <a:ext cx="697961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243A"/>
                </a:solidFill>
                <a:latin typeface="Calibri"/>
              </a:rPr>
              <a:t>Aktifkan role per kelompok, pantau sinkron dan audit log</a:t>
            </a:r>
          </a:p>
        </p:txBody>
      </p:sp>
      <p:sp>
        <p:nvSpPr>
          <p:cNvPr id="21" name="Langkah 5"/>
          <p:cNvSpPr/>
          <p:nvPr/>
        </p:nvSpPr>
        <p:spPr>
          <a:xfrm>
            <a:off x="548640" y="5285232"/>
            <a:ext cx="11094415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0B1F3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376672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Usulan lanjutan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76672"/>
            <a:ext cx="697961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243A"/>
                </a:solidFill>
                <a:latin typeface="Calibri"/>
              </a:rPr>
              <a:t>Notifikasi alert XDR critical, kebijakan retensi, akun portal WiFi di sisi QNAP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Judul"/>
          <p:cNvSpPr txBox="1"/>
          <p:nvPr/>
        </p:nvSpPr>
        <p:spPr>
          <a:xfrm>
            <a:off x="548640" y="22860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47472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CFE3F5"/>
                </a:solidFill>
                <a:latin typeface="Calibri"/>
              </a:rPr>
              <a:t>Dashboard IT Pelindo Multi Terminal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CFE3F5"/>
                </a:solidFill>
                <a:latin typeface="Calibri"/>
              </a:rPr>
              <a:t>IT Operation Center · Pelindo Multi Terminal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CFE3F5"/>
                </a:solidFill>
                <a:latin typeface="Calibri"/>
              </a:rPr>
              <a:t>Panduan lengkap: docs/Tutorial-Integrasi.md dan docs/Panduan-Keamanan.md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