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5" r:id="rId21"/>
    <p:sldId id="276" r:id="rId20"/>
    <p:sldId id="277" r:id="rId19"/>
    <p:sldId id="278" r:id="rId18"/>
    <p:sldId id="279" r:id="rId17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72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0MzjfnR98qwBSfw9Js9uMyno1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28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Jumlah baris</c:v>
                </c:pt>
              </c:strCache>
            </c:strRef>
          </c:tx>
          <c:spPr>
            <a:solidFill>
              <a:srgbClr val="0B75BB"/>
            </a:solidFill>
          </c:spPr>
          <c:cat>
            <c:strRef>
              <c:f>Sheet1!$A$2:$A$9</c:f>
              <c:strCache>
                <c:ptCount val="8"/>
                <c:pt idx="0">
                  <c:v>Sesi WiFi (30 hari)</c:v>
                </c:pt>
                <c:pt idx="1">
                  <c:v>Data trafik PRTG per jam</c:v>
                </c:pt>
                <c:pt idx="2">
                  <c:v>Kejadian down Zabbix</c:v>
                </c:pt>
                <c:pt idx="3">
                  <c:v>Tiket</c:v>
                </c:pt>
                <c:pt idx="4">
                  <c:v>Perangkat Zabbix</c:v>
                </c:pt>
                <c:pt idx="5">
                  <c:v>Kamera dan speaker Milestone</c:v>
                </c:pt>
                <c:pt idx="6">
                  <c:v>Hardware Milestone</c:v>
                </c:pt>
                <c:pt idx="7">
                  <c:v>Access Point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40167</c:v>
                </c:pt>
                <c:pt idx="1">
                  <c:v>37877</c:v>
                </c:pt>
                <c:pt idx="2">
                  <c:v>13612</c:v>
                </c:pt>
                <c:pt idx="3">
                  <c:v>2150</c:v>
                </c:pt>
                <c:pt idx="4">
                  <c:v>1767</c:v>
                </c:pt>
                <c:pt idx="5">
                  <c:v>1183</c:v>
                </c:pt>
                <c:pt idx="6">
                  <c:v>785</c:v>
                </c:pt>
                <c:pt idx="7">
                  <c:v>186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57">
                  <a:solidFill>
                    <a:srgbClr val="1F293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C"/>
            </a:solidFill>
          </a:ln>
        </c:spPr>
        <c:txPr>
          <a:bodyPr/>
          <a:lstStyle/>
          <a:p>
            <a:pPr>
              <a:defRPr sz="1657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Pembuka: TERA adalah satu layar kerja untuk ITOC. Paparan menjelaskan nama, fungsi, data, keamanan, kebutuhan server, dan langkah berikutnya.</a:t>
            </a:r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Pesan utama: konsolidasi data dari tujuh sistem ke satu aplikasi, tersimpan di database sendiri, dengan input manual tetap sebagai validasi.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TERA adalah nama pendek yang dipakai sehari-hari. Nama panjang hanya muncul di tagline. Dashboard dan Console adalah dua produk dengan logo yang sama.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Prinsip desain yang menjelaskan banyak keputusan teknis: data disimpan sendiri, manual tidak ditimpa, aksi dibatasi, dan konfigurasi bisa diubah dari menu Admin.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Network, Cyber Security, dan Devices adalah kelompok menu dengan ringkasan dan sub-menu. Insights, Handover, dan Data ada di dalam Report.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Alur: konektor di worker menarik data terjadwal ke PostgreSQL; API FastAPI menghitung tampilan dari database; browser hanya menampilkan. Impor manual masuk ke database yang sama.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Setiap sumber punya kartu di Admin &gt; Data Sources &gt; Integrations dengan tombol Test dan Sync now. Panorama berjalan tiap 12 jam; yang lain interval pendek.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Angka diambil dari database pada 23 Oktober 2026. Semua tampilan dan laporan dihitung dari tabel-tabel ini.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Overview menampilkan kartu status per bidang dengan warna, daftar perhatian, siapa yang bertugas, dan panel ringkas tiap sumber. Semua panel bisa diatur lewat Customize.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Network Summary menggabungkan link PRTG dan WiFi Ruckus, termasuk tabel per lokasi. Sub-menu ISP dan WiFi memuat rincian masing-masing.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Dua sumber keamanan dipisah sebagai NDR (firewall) dan XDR (endpoint). Summary menggabungkan perhatian dan KPI keduanya.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Devices dibagi menurut kategori Zabbix (prefix host group). Pemetaan sub-menu ke kategori ada di parameter dev.tab_kinds. Milestone adalah inventaris kamera dari sistem Milestone.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Milestone REST API hanya memberi konfigurasi, jadi status online/offline diambil dari Zabbix dengan pencocokan IP atau nama. Lisensi resmi tidak bisa dibaca dengan akun Basic user; total lisensi diisi manual per server.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Dihitung tiap 30 menit dari data tersimpan. Setiap temuan membawa angka dan pembandingnya. Tidak ada layanan luar dan tidak ada model bahasa.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Bagian operasional harian ITOC: tiket dari ManageEngine, jadwal rotasi, handover antar shift, dan kelengkapan data.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Semua jenis laporan memakai model yang sama: KPI, grafik, tabel, dan catatan. Excel, PDF, dan PowerPoint dibuat dari model yang sama sehingga angkanya identik. Custom memilih kombinasi section.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Menu Admin dikelompokkan agar jelas. Halaman krusial bisa dikunci atau disembunyikan, hanya oleh Super Admin. Kartu integrasi bisa dilipat dan memuat status tiap sumber.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Akses diatur per role: menu yang terlihat, hak unggah RAW, hak Admin, dan kunci lokasi. Putus sesi WiFi dibatasi ke Super Admin, Admin, dan username tambahan.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Ringkasan dari Panduan-Keamanan.md dan Panduan-Backup.md. Semua rute API wajib login kecuali login, teks publik, dan health.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Hasil pemeriksaan otomatis (security-check) dan pip-audit. Yang masih terbuka adalah langkah di server saat go-live.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Diukur pada 23 Oktober 2026 di server pengembangan (Docker, 11 GB RAM terlihat). Waktu respons diukur di sisi server, tanpa jaringan.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Rekomendasi untuk 3 sampai 5 tahun ke depan. Angka pertumbuhan adalah estimasi dari data 22 sampai 32 hari; sebaiknya dikonfirmasi dengan uji beban singkat sebelum pengadaan.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Tiga container: database, API, worker. Migrasi dan seed konfigurasi berjalan otomatis saat start. Proxy HTTPS dan backup harian adalah profil opsional.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Disampaikan terbuka agar ekspektasi tepat: ini dampak dari data yang tersedia di sumber, bukan kekurangan antarmuka.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Usulan urutan kerja. Item bertanda usulan belum disepakati.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7.xml"/><Relationship Id="rId6" Type="http://schemas.openxmlformats.org/officeDocument/2006/relationships/chart" Target="../charts/char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"/>
          <p:cNvPicPr preferRelativeResize="0"/>
          <p:nvPr/>
        </p:nvPicPr>
        <p:blipFill rotWithShape="1">
          <a:blip r:embed="rId3">
            <a:alphaModFix/>
          </a:blip>
          <a:srcRect t="7812" b="7812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"/>
          <p:cNvSpPr/>
          <p:nvPr/>
        </p:nvSpPr>
        <p:spPr>
          <a:xfrm>
            <a:off x="826964" y="5815525"/>
            <a:ext cx="16687724" cy="3628044"/>
          </a:xfrm>
          <a:custGeom>
            <a:avLst/>
            <a:gdLst/>
            <a:ahLst/>
            <a:cxnLst/>
            <a:rect l="l" t="t" r="r" b="b"/>
            <a:pathLst>
              <a:path w="4365657" h="955377" extrusionOk="0">
                <a:moveTo>
                  <a:pt x="4365657" y="23353"/>
                </a:moveTo>
                <a:lnTo>
                  <a:pt x="4365657" y="932024"/>
                </a:lnTo>
                <a:cubicBezTo>
                  <a:pt x="4365657" y="938218"/>
                  <a:pt x="4363196" y="944158"/>
                  <a:pt x="4358817" y="948537"/>
                </a:cubicBezTo>
                <a:cubicBezTo>
                  <a:pt x="4354437" y="952917"/>
                  <a:pt x="4348497" y="955377"/>
                  <a:pt x="4342304" y="955377"/>
                </a:cubicBezTo>
                <a:lnTo>
                  <a:pt x="23353" y="955377"/>
                </a:lnTo>
                <a:cubicBezTo>
                  <a:pt x="17159" y="955377"/>
                  <a:pt x="11219" y="952917"/>
                  <a:pt x="6840" y="948537"/>
                </a:cubicBezTo>
                <a:cubicBezTo>
                  <a:pt x="2460" y="944158"/>
                  <a:pt x="0" y="938218"/>
                  <a:pt x="0" y="932024"/>
                </a:cubicBezTo>
                <a:lnTo>
                  <a:pt x="0" y="23353"/>
                </a:lnTo>
                <a:cubicBezTo>
                  <a:pt x="0" y="17159"/>
                  <a:pt x="2460" y="11219"/>
                  <a:pt x="6840" y="6840"/>
                </a:cubicBezTo>
                <a:cubicBezTo>
                  <a:pt x="11219" y="2460"/>
                  <a:pt x="17159" y="0"/>
                  <a:pt x="23353" y="0"/>
                </a:cubicBezTo>
                <a:lnTo>
                  <a:pt x="4342304" y="0"/>
                </a:lnTo>
                <a:cubicBezTo>
                  <a:pt x="4348497" y="0"/>
                  <a:pt x="4354437" y="2460"/>
                  <a:pt x="4358817" y="6840"/>
                </a:cubicBezTo>
                <a:cubicBezTo>
                  <a:pt x="4363196" y="11219"/>
                  <a:pt x="4365657" y="17159"/>
                  <a:pt x="4365657" y="23353"/>
                </a:cubicBezTo>
                <a:close/>
              </a:path>
            </a:pathLst>
          </a:cu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-3336150" y="7831835"/>
            <a:ext cx="21624153" cy="1625991"/>
          </a:xfrm>
          <a:custGeom>
            <a:avLst/>
            <a:gdLst/>
            <a:ahLst/>
            <a:cxnLst/>
            <a:rect l="l" t="t" r="r" b="b"/>
            <a:pathLst>
              <a:path w="20994323" h="1578632" extrusionOk="0">
                <a:moveTo>
                  <a:pt x="0" y="0"/>
                </a:moveTo>
                <a:lnTo>
                  <a:pt x="20994323" y="0"/>
                </a:lnTo>
                <a:lnTo>
                  <a:pt x="20994323" y="1578632"/>
                </a:lnTo>
                <a:lnTo>
                  <a:pt x="0" y="157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9889"/>
            </a:stretch>
          </a:blipFill>
          <a:ln>
            <a:noFill/>
          </a:ln>
        </p:spPr>
      </p:sp>
      <p:sp>
        <p:nvSpPr>
          <p:cNvPr id="162" name="Google Shape;162;p1"/>
          <p:cNvSpPr txBox="1"/>
          <p:nvPr/>
        </p:nvSpPr>
        <p:spPr>
          <a:xfrm>
            <a:off x="11353986" y="9069732"/>
            <a:ext cx="62130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FEFDFF"/>
                </a:solidFill>
                <a:latin typeface="Arial"/>
                <a:ea typeface="Arial"/>
                <a:cs typeface="Arial"/>
                <a:sym typeface="Arial"/>
              </a:rPr>
              <a:t>www.pelindomultiterminal.co.id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17452472" y="9824852"/>
            <a:ext cx="56388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1590707" y="6270898"/>
            <a:ext cx="14511023" cy="153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  <a:t>TERA Dashboard</a:t>
            </a:r>
            <a:b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167" name="Google Shape;167;p1"/>
          <p:cNvSpPr txBox="1"/>
          <p:nvPr/>
        </p:nvSpPr>
        <p:spPr>
          <a:xfrm>
            <a:off x="1603452" y="7776223"/>
            <a:ext cx="14726539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1" i="0" u="none" strike="noStrike" cap="none" dirty="0" err="1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Terminal Event, Response &amp; Analytics · by IT Operation Center</a:t>
            </a:r>
          </a:p>
        </p:txBody>
      </p:sp>
      <p:sp>
        <p:nvSpPr>
          <p:cNvPr id="168" name="Google Shape;168;p1"/>
          <p:cNvSpPr txBox="1"/>
          <p:nvPr/>
        </p:nvSpPr>
        <p:spPr>
          <a:xfrm>
            <a:off x="1590707" y="8424682"/>
            <a:ext cx="34814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Oktober 2026</a:t>
            </a:r>
          </a:p>
        </p:txBody>
      </p:sp>
      <p:sp>
        <p:nvSpPr>
          <p:cNvPr id="169" name="Google Shape;169;p1"/>
          <p:cNvSpPr/>
          <p:nvPr/>
        </p:nvSpPr>
        <p:spPr>
          <a:xfrm>
            <a:off x="14119030" y="578428"/>
            <a:ext cx="3448721" cy="987645"/>
          </a:xfrm>
          <a:custGeom>
            <a:avLst/>
            <a:gdLst/>
            <a:ahLst/>
            <a:cxnLst/>
            <a:rect l="l" t="t" r="r" b="b"/>
            <a:pathLst>
              <a:path w="3448721" h="987645" extrusionOk="0">
                <a:moveTo>
                  <a:pt x="0" y="0"/>
                </a:moveTo>
                <a:lnTo>
                  <a:pt x="3448721" y="0"/>
                </a:lnTo>
                <a:lnTo>
                  <a:pt x="3448721" y="987644"/>
                </a:lnTo>
                <a:lnTo>
                  <a:pt x="0" y="98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30951" r="-6104" b="-23251"/>
            </a:stretch>
          </a:blipFill>
          <a:ln>
            <a:noFill/>
          </a:ln>
        </p:spPr>
      </p:sp>
      <p:sp>
        <p:nvSpPr>
          <p:cNvPr id="170" name="Google Shape;170;p1"/>
          <p:cNvSpPr/>
          <p:nvPr/>
        </p:nvSpPr>
        <p:spPr>
          <a:xfrm>
            <a:off x="1086389" y="660493"/>
            <a:ext cx="2423402" cy="727021"/>
          </a:xfrm>
          <a:custGeom>
            <a:avLst/>
            <a:gdLst/>
            <a:ahLst/>
            <a:cxnLst/>
            <a:rect l="l" t="t" r="r" b="b"/>
            <a:pathLst>
              <a:path w="2423402" h="727021" extrusionOk="0">
                <a:moveTo>
                  <a:pt x="0" y="0"/>
                </a:moveTo>
                <a:lnTo>
                  <a:pt x="2423402" y="0"/>
                </a:lnTo>
                <a:lnTo>
                  <a:pt x="2423402" y="727021"/>
                </a:lnTo>
                <a:lnTo>
                  <a:pt x="0" y="727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grpSp>
        <p:nvGrpSpPr>
          <p:cNvPr id="443" name="Google Shape;443;p7"/>
          <p:cNvGrpSpPr/>
          <p:nvPr/>
        </p:nvGrpSpPr>
        <p:grpSpPr>
          <a:xfrm rot="10800000">
            <a:off x="1733817" y="4849217"/>
            <a:ext cx="10925827" cy="4110777"/>
            <a:chOff x="0" y="-66675"/>
            <a:chExt cx="5583383" cy="2100714"/>
          </a:xfrm>
        </p:grpSpPr>
        <p:sp>
          <p:nvSpPr>
            <p:cNvPr id="444" name="Google Shape;444;p7"/>
            <p:cNvSpPr/>
            <p:nvPr/>
          </p:nvSpPr>
          <p:spPr>
            <a:xfrm>
              <a:off x="0" y="0"/>
              <a:ext cx="5583383" cy="2034039"/>
            </a:xfrm>
            <a:custGeom>
              <a:avLst/>
              <a:gdLst/>
              <a:ahLst/>
              <a:cxnLst/>
              <a:rect l="l" t="t" r="r" b="b"/>
              <a:pathLst>
                <a:path w="5583383" h="2034039" extrusionOk="0">
                  <a:moveTo>
                    <a:pt x="18423" y="0"/>
                  </a:moveTo>
                  <a:lnTo>
                    <a:pt x="5564960" y="0"/>
                  </a:lnTo>
                  <a:cubicBezTo>
                    <a:pt x="5569846" y="0"/>
                    <a:pt x="5574532" y="1941"/>
                    <a:pt x="5577987" y="5396"/>
                  </a:cubicBezTo>
                  <a:cubicBezTo>
                    <a:pt x="5581442" y="8851"/>
                    <a:pt x="5583383" y="13537"/>
                    <a:pt x="5583383" y="18423"/>
                  </a:cubicBezTo>
                  <a:lnTo>
                    <a:pt x="5583383" y="2015616"/>
                  </a:lnTo>
                  <a:cubicBezTo>
                    <a:pt x="5583383" y="2020502"/>
                    <a:pt x="5581442" y="2025188"/>
                    <a:pt x="5577987" y="2028643"/>
                  </a:cubicBezTo>
                  <a:cubicBezTo>
                    <a:pt x="5574532" y="2032098"/>
                    <a:pt x="5569846" y="2034039"/>
                    <a:pt x="5564960" y="2034039"/>
                  </a:cubicBezTo>
                  <a:lnTo>
                    <a:pt x="18423" y="2034039"/>
                  </a:lnTo>
                  <a:cubicBezTo>
                    <a:pt x="13537" y="2034039"/>
                    <a:pt x="8851" y="2032098"/>
                    <a:pt x="5396" y="2028643"/>
                  </a:cubicBezTo>
                  <a:cubicBezTo>
                    <a:pt x="1941" y="2025188"/>
                    <a:pt x="0" y="2020502"/>
                    <a:pt x="0" y="2015616"/>
                  </a:cubicBezTo>
                  <a:lnTo>
                    <a:pt x="0" y="18423"/>
                  </a:lnTo>
                  <a:cubicBezTo>
                    <a:pt x="0" y="13537"/>
                    <a:pt x="1941" y="8851"/>
                    <a:pt x="5396" y="5396"/>
                  </a:cubicBezTo>
                  <a:cubicBezTo>
                    <a:pt x="8851" y="1941"/>
                    <a:pt x="13537" y="0"/>
                    <a:pt x="18423" y="0"/>
                  </a:cubicBezTo>
                  <a:close/>
                </a:path>
              </a:pathLst>
            </a:custGeom>
            <a:solidFill>
              <a:srgbClr val="001E51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 txBox="1"/>
            <p:nvPr/>
          </p:nvSpPr>
          <p:spPr>
            <a:xfrm>
              <a:off x="0" y="-66675"/>
              <a:ext cx="5583383" cy="2100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7"/>
          <p:cNvSpPr/>
          <p:nvPr/>
        </p:nvSpPr>
        <p:spPr>
          <a:xfrm>
            <a:off x="2248327" y="5438735"/>
            <a:ext cx="475063" cy="554009"/>
          </a:xfrm>
          <a:custGeom>
            <a:avLst/>
            <a:gdLst/>
            <a:ahLst/>
            <a:cxnLst/>
            <a:rect l="l" t="t" r="r" b="b"/>
            <a:pathLst>
              <a:path w="475063" h="554009" extrusionOk="0">
                <a:moveTo>
                  <a:pt x="0" y="0"/>
                </a:moveTo>
                <a:lnTo>
                  <a:pt x="475063" y="0"/>
                </a:lnTo>
                <a:lnTo>
                  <a:pt x="475063" y="554010"/>
                </a:lnTo>
                <a:lnTo>
                  <a:pt x="0" y="554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7"/>
          <p:cNvSpPr/>
          <p:nvPr/>
        </p:nvSpPr>
        <p:spPr>
          <a:xfrm>
            <a:off x="2219724" y="6246966"/>
            <a:ext cx="532270" cy="341318"/>
          </a:xfrm>
          <a:custGeom>
            <a:avLst/>
            <a:gdLst/>
            <a:ahLst/>
            <a:cxnLst/>
            <a:rect l="l" t="t" r="r" b="b"/>
            <a:pathLst>
              <a:path w="532270" h="341318" extrusionOk="0">
                <a:moveTo>
                  <a:pt x="0" y="0"/>
                </a:moveTo>
                <a:lnTo>
                  <a:pt x="532270" y="0"/>
                </a:lnTo>
                <a:lnTo>
                  <a:pt x="532270" y="341318"/>
                </a:lnTo>
                <a:lnTo>
                  <a:pt x="0" y="34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9" name="Google Shape;449;p7"/>
          <p:cNvSpPr/>
          <p:nvPr/>
        </p:nvSpPr>
        <p:spPr>
          <a:xfrm>
            <a:off x="2292845" y="7038595"/>
            <a:ext cx="386027" cy="588232"/>
          </a:xfrm>
          <a:custGeom>
            <a:avLst/>
            <a:gdLst/>
            <a:ahLst/>
            <a:cxnLst/>
            <a:rect l="l" t="t" r="r" b="b"/>
            <a:pathLst>
              <a:path w="386027" h="588232" extrusionOk="0">
                <a:moveTo>
                  <a:pt x="0" y="0"/>
                </a:moveTo>
                <a:lnTo>
                  <a:pt x="386027" y="0"/>
                </a:lnTo>
                <a:lnTo>
                  <a:pt x="386027" y="588232"/>
                </a:lnTo>
                <a:lnTo>
                  <a:pt x="0" y="588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1" name="Google Shape;451;p7"/>
          <p:cNvSpPr txBox="1"/>
          <p:nvPr/>
        </p:nvSpPr>
        <p:spPr>
          <a:xfrm>
            <a:off x="2999804" y="5435481"/>
            <a:ext cx="3662471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6"/>
              </a:lnSpc>
            </a:pPr>
            <a:r>
              <a:rPr lang="en-US" sz="2499" dirty="0">
                <a:solidFill>
                  <a:srgbClr val="FFFFFF"/>
                </a:solidFill>
              </a:rPr>
              <a:t>+62 81262484858</a:t>
            </a:r>
            <a:endParaRPr dirty="0"/>
          </a:p>
        </p:txBody>
      </p:sp>
      <p:sp>
        <p:nvSpPr>
          <p:cNvPr id="452" name="Google Shape;452;p7"/>
          <p:cNvSpPr txBox="1"/>
          <p:nvPr/>
        </p:nvSpPr>
        <p:spPr>
          <a:xfrm>
            <a:off x="1897809" y="3340710"/>
            <a:ext cx="10321028" cy="113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78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453" name="Google Shape;453;p7"/>
          <p:cNvSpPr txBox="1"/>
          <p:nvPr/>
        </p:nvSpPr>
        <p:spPr>
          <a:xfrm>
            <a:off x="2999804" y="6180073"/>
            <a:ext cx="4245822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dirty="0">
                <a:solidFill>
                  <a:srgbClr val="FFFFFF"/>
                </a:solidFill>
              </a:rPr>
              <a:t>i</a:t>
            </a:r>
            <a:r>
              <a:rPr lang="en-US" sz="24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t.care_spmt@pelindo.co.id</a:t>
            </a:r>
            <a:endParaRPr dirty="0"/>
          </a:p>
        </p:txBody>
      </p:sp>
      <p:sp>
        <p:nvSpPr>
          <p:cNvPr id="456" name="Google Shape;456;p7"/>
          <p:cNvSpPr txBox="1"/>
          <p:nvPr/>
        </p:nvSpPr>
        <p:spPr>
          <a:xfrm>
            <a:off x="2999804" y="6933820"/>
            <a:ext cx="9007891" cy="1529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GRHA PELINDO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Jalan </a:t>
            </a:r>
            <a:r>
              <a:rPr lang="en-US" sz="2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Lingkar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Pelabuhan No. 1, </a:t>
            </a:r>
            <a:r>
              <a:rPr lang="en-US" sz="2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Belawan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II, Medan </a:t>
            </a:r>
            <a:r>
              <a:rPr lang="en-US" sz="2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Belawan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Kota Medan, Sumatera Utara 20411</a:t>
            </a:r>
            <a:endParaRPr dirty="0"/>
          </a:p>
        </p:txBody>
      </p:sp>
      <p:sp>
        <p:nvSpPr>
          <p:cNvPr id="457" name="Google Shape;457;p7"/>
          <p:cNvSpPr txBox="1"/>
          <p:nvPr/>
        </p:nvSpPr>
        <p:spPr>
          <a:xfrm>
            <a:off x="16995272" y="9663760"/>
            <a:ext cx="102412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26</a:t>
            </a:r>
            <a:endParaRPr/>
          </a:p>
        </p:txBody>
      </p:sp>
      <p:sp>
        <p:nvSpPr>
          <p:cNvPr id="458" name="Google Shape;458;p7"/>
          <p:cNvSpPr/>
          <p:nvPr/>
        </p:nvSpPr>
        <p:spPr>
          <a:xfrm>
            <a:off x="14119030" y="578428"/>
            <a:ext cx="3448721" cy="987645"/>
          </a:xfrm>
          <a:custGeom>
            <a:avLst/>
            <a:gdLst/>
            <a:ahLst/>
            <a:cxnLst/>
            <a:rect l="l" t="t" r="r" b="b"/>
            <a:pathLst>
              <a:path w="3448721" h="987645" extrusionOk="0">
                <a:moveTo>
                  <a:pt x="0" y="0"/>
                </a:moveTo>
                <a:lnTo>
                  <a:pt x="3448721" y="0"/>
                </a:lnTo>
                <a:lnTo>
                  <a:pt x="3448721" y="987644"/>
                </a:lnTo>
                <a:lnTo>
                  <a:pt x="0" y="98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30951" r="-6104" b="-23251"/>
            </a:stretch>
          </a:blipFill>
          <a:ln>
            <a:noFill/>
          </a:ln>
        </p:spPr>
      </p:sp>
      <p:sp>
        <p:nvSpPr>
          <p:cNvPr id="459" name="Google Shape;459;p7"/>
          <p:cNvSpPr/>
          <p:nvPr/>
        </p:nvSpPr>
        <p:spPr>
          <a:xfrm>
            <a:off x="1086389" y="660493"/>
            <a:ext cx="2423402" cy="727021"/>
          </a:xfrm>
          <a:custGeom>
            <a:avLst/>
            <a:gdLst/>
            <a:ahLst/>
            <a:cxnLst/>
            <a:rect l="l" t="t" r="r" b="b"/>
            <a:pathLst>
              <a:path w="2423402" h="727021" extrusionOk="0">
                <a:moveTo>
                  <a:pt x="0" y="0"/>
                </a:moveTo>
                <a:lnTo>
                  <a:pt x="2423402" y="0"/>
                </a:lnTo>
                <a:lnTo>
                  <a:pt x="2423402" y="727021"/>
                </a:lnTo>
                <a:lnTo>
                  <a:pt x="0" y="727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Satu layar kerja untuk seluruh operasional TI terminal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TextBox 201"/>
          <p:cNvSpPr txBox="1"/>
          <p:nvPr/>
        </p:nvSpPr>
        <p:spPr>
          <a:xfrm>
            <a:off x="822959" y="1577339"/>
            <a:ext cx="8641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67" b="0">
                <a:solidFill>
                  <a:srgbClr val="1F2937"/>
                </a:solidFill>
                <a:latin typeface="Arial"/>
              </a:rPr>
              <a:t>TERA menarik data dari tujuh sistem yang sebelumnya dilihat terpisah, menyimpannya di database sendiri, menganalisisnya secara otomatis, dan menyajikannya untuk operator shift, koordinator, dan manajemen.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22959" y="4114800"/>
            <a:ext cx="86410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2039" b="1">
                <a:solidFill>
                  <a:srgbClr val="1F2937"/>
                </a:solidFill>
                <a:latin typeface="Arial"/>
              </a:rPr>
              <a:t>Informatif: </a:t>
            </a:r>
            <a:r>
              <a:rPr sz="2039" b="0">
                <a:solidFill>
                  <a:srgbClr val="1F2937"/>
                </a:solidFill>
                <a:latin typeface="Arial"/>
              </a:rPr>
              <a:t>ringkasan per bidang, status hari ini, dan daftar perhatian.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2039" b="1">
                <a:solidFill>
                  <a:srgbClr val="1F2937"/>
                </a:solidFill>
                <a:latin typeface="Arial"/>
              </a:rPr>
              <a:t>Proaktif: </a:t>
            </a:r>
            <a:r>
              <a:rPr sz="2039" b="0">
                <a:solidFill>
                  <a:srgbClr val="1F2937"/>
                </a:solidFill>
                <a:latin typeface="Arial"/>
              </a:rPr>
              <a:t>Insight otomatis dan ringkasan shift siap salin, tanpa AI.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2039" b="1">
                <a:solidFill>
                  <a:srgbClr val="1F2937"/>
                </a:solidFill>
                <a:latin typeface="Arial"/>
              </a:rPr>
              <a:t>Terkendali: </a:t>
            </a:r>
            <a:r>
              <a:rPr sz="2039" b="0">
                <a:solidFill>
                  <a:srgbClr val="1F2937"/>
                </a:solidFill>
                <a:latin typeface="Arial"/>
              </a:rPr>
              <a:t>role, kunci halaman, audit log, dan data sensitif terenkripsi.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2039" b="1">
                <a:solidFill>
                  <a:srgbClr val="1F2937"/>
                </a:solidFill>
                <a:latin typeface="Arial"/>
              </a:rPr>
              <a:t>Tahan banting: </a:t>
            </a:r>
            <a:r>
              <a:rPr sz="2039" b="0">
                <a:solidFill>
                  <a:srgbClr val="1F2937"/>
                </a:solidFill>
                <a:latin typeface="Arial"/>
              </a:rPr>
              <a:t>riwayat tersimpan; bila API gagal, impor manual tetap bisa dipakai.</a:t>
            </a:r>
          </a:p>
        </p:txBody>
      </p:sp>
      <p:sp>
        <p:nvSpPr>
          <p:cNvPr id="204" name="Statistik 7"/>
          <p:cNvSpPr/>
          <p:nvPr/>
        </p:nvSpPr>
        <p:spPr>
          <a:xfrm>
            <a:off x="10149840" y="1645919"/>
            <a:ext cx="3566160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424160" y="18516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7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424160" y="299008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sumber data terintegrasi</a:t>
            </a:r>
          </a:p>
        </p:txBody>
      </p:sp>
      <p:sp>
        <p:nvSpPr>
          <p:cNvPr id="207" name="Statistik 41"/>
          <p:cNvSpPr/>
          <p:nvPr/>
        </p:nvSpPr>
        <p:spPr>
          <a:xfrm>
            <a:off x="13990319" y="1645919"/>
            <a:ext cx="349757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4264639" y="1851660"/>
            <a:ext cx="294893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41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264639" y="2990088"/>
            <a:ext cx="29489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tabel PostgreSQL dan 42 migrasi</a:t>
            </a:r>
          </a:p>
        </p:txBody>
      </p:sp>
      <p:sp>
        <p:nvSpPr>
          <p:cNvPr id="210" name="Statistik 1.125"/>
          <p:cNvSpPr/>
          <p:nvPr/>
        </p:nvSpPr>
        <p:spPr>
          <a:xfrm>
            <a:off x="10149840" y="4114800"/>
            <a:ext cx="3566160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0424160" y="432054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1.125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424160" y="5458967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kamera Milestone dari 12 server</a:t>
            </a:r>
          </a:p>
        </p:txBody>
      </p:sp>
      <p:sp>
        <p:nvSpPr>
          <p:cNvPr id="213" name="Statistik 3"/>
          <p:cNvSpPr/>
          <p:nvPr/>
        </p:nvSpPr>
        <p:spPr>
          <a:xfrm>
            <a:off x="13990319" y="4114800"/>
            <a:ext cx="349757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4264639" y="4320540"/>
            <a:ext cx="294893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2FB67C"/>
                </a:solidFill>
                <a:latin typeface="Arial"/>
              </a:rPr>
              <a:t>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4264639" y="5458967"/>
            <a:ext cx="29489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format laporan: Excel, PDF, PowerPoint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0149840" y="6583679"/>
            <a:ext cx="7338059" cy="2125980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561320" y="6720840"/>
            <a:ext cx="6583679" cy="1851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Prinsip: </a:t>
            </a:r>
            <a:r>
              <a:rPr sz="1912" b="0">
                <a:solidFill>
                  <a:srgbClr val="FFFFFF"/>
                </a:solidFill>
                <a:latin typeface="Arial"/>
              </a:rPr>
              <a:t>dashboard membaca dari database sendiri, bukan langsung dari sumber. Data tarikan dan data manual hidup berdampingan.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TERA: nama dan identitas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Arti nama"/>
          <p:cNvSpPr/>
          <p:nvPr/>
        </p:nvSpPr>
        <p:spPr>
          <a:xfrm>
            <a:off x="822959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4767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Arti nama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Terminal Event, Response &amp; Analytics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Event: alert dari semua sumber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Response: serah terima dan tindak lanjut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Analytics: Insights dan laporan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Tidak memuat nama sistem sumber, sehingga tetap berlaku bila sumber berganti</a:t>
            </a:r>
          </a:p>
        </p:txBody>
      </p:sp>
      <p:sp>
        <p:nvSpPr>
          <p:cNvPr id="206" name="Kartu Keluarga produk"/>
          <p:cNvSpPr/>
          <p:nvPr/>
        </p:nvSpPr>
        <p:spPr>
          <a:xfrm>
            <a:off x="6484467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827367" y="1947672"/>
            <a:ext cx="685800" cy="685800"/>
          </a:xfrm>
          <a:prstGeom prst="ellipse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18907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Keluarga produk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27367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TERA Dashboard: memantau, menganalisis, melapor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TERA Console: sumber data, pemetaan, akses, konfigurasi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Logo dan tulisan TERA sama; hanya label produk berbeda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Rencana: keduanya terintegrasi, satu login, mode Watch dan Configure</a:t>
            </a:r>
          </a:p>
        </p:txBody>
      </p:sp>
      <p:sp>
        <p:nvSpPr>
          <p:cNvPr id="210" name="Kartu Identitas visual"/>
          <p:cNvSpPr/>
          <p:nvPr/>
        </p:nvSpPr>
        <p:spPr>
          <a:xfrm>
            <a:off x="12145975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488875" y="1947672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380415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Identitas visual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2488875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Logo kit ITOC-TERA dari Divisi TI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Navy, biru Pelindo, biru muda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Huruf Montserrat untuk tulisan TERA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Baris penanda: by IT Operation Center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Ikon penuh untuk sidebar dan login; huruf T untuk favicon</a:t>
            </a:r>
          </a:p>
        </p:txBody>
      </p:sp>
      <p:sp>
        <p:nvSpPr>
          <p:cNvPr id="214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Satu nama, dua produk: Dashboard untuk memantau dan menganalisis, Console untuk mengatur sumber data dan akses.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Empat prinsip yang membentuk aplikasi ini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Satu pandangan"/>
          <p:cNvSpPr/>
          <p:nvPr/>
        </p:nvSpPr>
        <p:spPr>
          <a:xfrm>
            <a:off x="822959" y="1783080"/>
            <a:ext cx="3954665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208483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2084832"/>
            <a:ext cx="244590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Satu pandangan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3113532"/>
            <a:ext cx="3268865" cy="3538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Overview dan ringkasan gabungan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Status hari ini per bidang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Perhatian dikumpulkan di satu daftar</a:t>
            </a:r>
          </a:p>
        </p:txBody>
      </p:sp>
      <p:sp>
        <p:nvSpPr>
          <p:cNvPr id="206" name="Kartu Data milik sendiri"/>
          <p:cNvSpPr/>
          <p:nvPr/>
        </p:nvSpPr>
        <p:spPr>
          <a:xfrm>
            <a:off x="5051945" y="1783080"/>
            <a:ext cx="3954665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394845" y="208483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286385" y="2084832"/>
            <a:ext cx="244590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Data milik sendiri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394845" y="3113532"/>
            <a:ext cx="3268865" cy="3538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Semua tarikan API disimpan di PostgreSQL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Riwayat WiFi, down Zabbix, alert XDR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Laporan dan grafik dihitung dari database</a:t>
            </a:r>
          </a:p>
        </p:txBody>
      </p:sp>
      <p:sp>
        <p:nvSpPr>
          <p:cNvPr id="210" name="Kartu Manual tetap hidup"/>
          <p:cNvSpPr/>
          <p:nvPr/>
        </p:nvSpPr>
        <p:spPr>
          <a:xfrm>
            <a:off x="9280931" y="1783080"/>
            <a:ext cx="3954665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623831" y="208483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515371" y="2084832"/>
            <a:ext cx="244590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Manual tetap hidup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623831" y="3113532"/>
            <a:ext cx="3268865" cy="3538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CSV, PDF, Excel tetap bisa diunggah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Tidak tertimpa data API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Selisih dengan API dicatat sebagai validasi</a:t>
            </a:r>
          </a:p>
        </p:txBody>
      </p:sp>
      <p:sp>
        <p:nvSpPr>
          <p:cNvPr id="214" name="Kartu Terkendali"/>
          <p:cNvSpPr/>
          <p:nvPr/>
        </p:nvSpPr>
        <p:spPr>
          <a:xfrm>
            <a:off x="13509917" y="1783080"/>
            <a:ext cx="3954665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3852817" y="208483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4744357" y="2084832"/>
            <a:ext cx="244590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Terkendali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3852817" y="3113532"/>
            <a:ext cx="3268865" cy="3538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Role dan lokasi membatasi data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Aksi tulis dibatasi dan diaudit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2039" b="0">
                <a:solidFill>
                  <a:srgbClr val="1F2937"/>
                </a:solidFill>
                <a:latin typeface="Arial"/>
              </a:rPr>
              <a:t>Parameter diatur dari menu Admin, bukan kode</a:t>
            </a:r>
          </a:p>
        </p:txBody>
      </p:sp>
      <p:sp>
        <p:nvSpPr>
          <p:cNvPr id="218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Empat prinsip ini menjelaskan hampir semua keputusan teknis di aplikasi.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5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Peta menu: delapan area kerja dalam satu navigasi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Menu Overview"/>
          <p:cNvSpPr/>
          <p:nvPr/>
        </p:nvSpPr>
        <p:spPr>
          <a:xfrm>
            <a:off x="822959" y="164591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97280" y="189280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Overview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" y="249631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status hari ini, perhatian, petugas jaga, Insights</a:t>
            </a:r>
          </a:p>
        </p:txBody>
      </p:sp>
      <p:sp>
        <p:nvSpPr>
          <p:cNvPr id="205" name="Menu Ticketing"/>
          <p:cNvSpPr/>
          <p:nvPr/>
        </p:nvSpPr>
        <p:spPr>
          <a:xfrm>
            <a:off x="5006340" y="164591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280660" y="189280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Ticketing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280660" y="249631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ManageEngine: tiket, SLA, teknisi</a:t>
            </a:r>
          </a:p>
        </p:txBody>
      </p:sp>
      <p:sp>
        <p:nvSpPr>
          <p:cNvPr id="208" name="Menu Network"/>
          <p:cNvSpPr/>
          <p:nvPr/>
        </p:nvSpPr>
        <p:spPr>
          <a:xfrm>
            <a:off x="9189720" y="164591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464040" y="189280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Network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464040" y="249631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Summary gabungan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464040" y="3429000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601200" y="3429000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ISP: PRTG, link, trafik, SLA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464040" y="4059935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601200" y="4059935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WiFi: Ruckus, client, AP</a:t>
            </a:r>
          </a:p>
        </p:txBody>
      </p:sp>
      <p:sp>
        <p:nvSpPr>
          <p:cNvPr id="215" name="Menu Cyber Security"/>
          <p:cNvSpPr/>
          <p:nvPr/>
        </p:nvSpPr>
        <p:spPr>
          <a:xfrm>
            <a:off x="13373100" y="164591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3647419" y="189280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Cyber Security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3647419" y="249631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Summary gabungan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3647419" y="3429000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3784580" y="3429000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NDR: Palo Alto Panorama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3647419" y="4059935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3784580" y="4059935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XDR: Trend Micro Vision One</a:t>
            </a:r>
          </a:p>
        </p:txBody>
      </p:sp>
      <p:sp>
        <p:nvSpPr>
          <p:cNvPr id="222" name="Menu Devices"/>
          <p:cNvSpPr/>
          <p:nvPr/>
        </p:nvSpPr>
        <p:spPr>
          <a:xfrm>
            <a:off x="822959" y="521207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97280" y="545896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Devices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97280" y="606247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Summary; satu sub-menu per kategori Zabbix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097280" y="6995159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234439" y="6995159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Network · CCTV · Operational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097280" y="7626096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234439" y="7626096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Milestone: kamera dan speaker</a:t>
            </a:r>
          </a:p>
        </p:txBody>
      </p:sp>
      <p:sp>
        <p:nvSpPr>
          <p:cNvPr id="229" name="Menu Personnel"/>
          <p:cNvSpPr/>
          <p:nvPr/>
        </p:nvSpPr>
        <p:spPr>
          <a:xfrm>
            <a:off x="5006340" y="521207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280660" y="545896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Personnel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280660" y="606247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jadwal rotasi shift, tim, kontak</a:t>
            </a:r>
          </a:p>
        </p:txBody>
      </p:sp>
      <p:sp>
        <p:nvSpPr>
          <p:cNvPr id="232" name="Menu Report"/>
          <p:cNvSpPr/>
          <p:nvPr/>
        </p:nvSpPr>
        <p:spPr>
          <a:xfrm>
            <a:off x="9189720" y="521207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464040" y="545896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Report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464040" y="606247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laporan Excel, PDF, PowerPoint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9464040" y="6995159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9601200" y="6995159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Insights: temuan otomatis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9464040" y="7626096"/>
            <a:ext cx="3360420" cy="521208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601200" y="7626096"/>
            <a:ext cx="308610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0" b="1">
                <a:solidFill>
                  <a:srgbClr val="0B75BB"/>
                </a:solidFill>
                <a:latin typeface="Arial"/>
              </a:rPr>
              <a:t>Handover dan Data (unggah RAW)</a:t>
            </a:r>
          </a:p>
        </p:txBody>
      </p:sp>
      <p:sp>
        <p:nvSpPr>
          <p:cNvPr id="239" name="Menu Admin"/>
          <p:cNvSpPr/>
          <p:nvPr/>
        </p:nvSpPr>
        <p:spPr>
          <a:xfrm>
            <a:off x="13373100" y="5212079"/>
            <a:ext cx="3909060" cy="3223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3647419" y="5458967"/>
            <a:ext cx="33604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2F6B"/>
                </a:solidFill>
                <a:latin typeface="Arial"/>
              </a:rPr>
              <a:t>Admin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3647419" y="6062472"/>
            <a:ext cx="33604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akses, sumber data, operasional, notifikasi, sistem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6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Arsitektur: sumber, penyimpan, penyaji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822959" y="1508760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60119" y="1618488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ManageEngine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tiket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4526280" y="1947672"/>
            <a:ext cx="1234440" cy="2990088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822959" y="2523743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60119" y="2633471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PRTG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link dan trafik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4526280" y="2962656"/>
            <a:ext cx="1234440" cy="1975104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ounded Rectangle 207"/>
          <p:cNvSpPr/>
          <p:nvPr/>
        </p:nvSpPr>
        <p:spPr>
          <a:xfrm>
            <a:off x="822959" y="3538728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60119" y="3648456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Zabbix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perangkat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4526280" y="3977640"/>
            <a:ext cx="1234440" cy="960120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822959" y="4553712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60119" y="4663440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Milestone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kamera, 12 server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4526280" y="4937760"/>
            <a:ext cx="1234440" cy="54863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ounded Rectangle 213"/>
          <p:cNvSpPr/>
          <p:nvPr/>
        </p:nvSpPr>
        <p:spPr>
          <a:xfrm>
            <a:off x="822959" y="5568696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60119" y="5678423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Ruckus vSZ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WiFi</a:t>
            </a:r>
          </a:p>
        </p:txBody>
      </p:sp>
      <p:cxnSp>
        <p:nvCxnSpPr>
          <p:cNvPr id="216" name="Connector 215"/>
          <p:cNvCxnSpPr/>
          <p:nvPr/>
        </p:nvCxnSpPr>
        <p:spPr>
          <a:xfrm flipV="1">
            <a:off x="4526280" y="4937760"/>
            <a:ext cx="1234440" cy="1069848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ounded Rectangle 216"/>
          <p:cNvSpPr/>
          <p:nvPr/>
        </p:nvSpPr>
        <p:spPr>
          <a:xfrm>
            <a:off x="822959" y="6583679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60119" y="6693408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Palo Alto Panorama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NDR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4526280" y="4937760"/>
            <a:ext cx="1234440" cy="2084832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ounded Rectangle 219"/>
          <p:cNvSpPr/>
          <p:nvPr/>
        </p:nvSpPr>
        <p:spPr>
          <a:xfrm>
            <a:off x="822959" y="7598664"/>
            <a:ext cx="370332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60119" y="7708392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84" b="1">
                <a:solidFill>
                  <a:srgbClr val="0B2F6B"/>
                </a:solidFill>
                <a:latin typeface="Arial"/>
              </a:rPr>
              <a:t>Trend Micro Vision One</a:t>
            </a:r>
          </a:p>
          <a:p>
            <a:pPr algn="ctr"/>
            <a:r>
              <a:rPr sz="1402" b="0">
                <a:solidFill>
                  <a:srgbClr val="6B7280"/>
                </a:solidFill>
                <a:latin typeface="Arial"/>
              </a:rPr>
              <a:t>XDR</a:t>
            </a:r>
          </a:p>
        </p:txBody>
      </p:sp>
      <p:cxnSp>
        <p:nvCxnSpPr>
          <p:cNvPr id="222" name="Connector 221"/>
          <p:cNvCxnSpPr/>
          <p:nvPr/>
        </p:nvCxnSpPr>
        <p:spPr>
          <a:xfrm flipV="1">
            <a:off x="4526280" y="4937760"/>
            <a:ext cx="1234440" cy="3099815"/>
          </a:xfrm>
          <a:prstGeom prst="line">
            <a:avLst/>
          </a:prstGeom>
          <a:ln w="23812">
            <a:solidFill>
              <a:srgbClr val="8FA3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2"/>
          <p:cNvSpPr/>
          <p:nvPr/>
        </p:nvSpPr>
        <p:spPr>
          <a:xfrm>
            <a:off x="5760720" y="3909060"/>
            <a:ext cx="3017520" cy="2057400"/>
          </a:xfrm>
          <a:prstGeom prst="roundRect">
            <a:avLst>
              <a:gd name="adj" fmla="val 5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897879" y="4018788"/>
            <a:ext cx="2743200" cy="183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FFFFFF"/>
                </a:solidFill>
                <a:latin typeface="Arial"/>
              </a:rPr>
              <a:t>Konektor + penjadwal</a:t>
            </a:r>
          </a:p>
          <a:p>
            <a:pPr algn="ctr"/>
            <a:r>
              <a:rPr sz="1530" b="0">
                <a:solidFill>
                  <a:srgbClr val="E6F4FB"/>
                </a:solidFill>
                <a:latin typeface="Arial"/>
              </a:rPr>
              <a:t>worker (APScheduler)</a:t>
            </a:r>
          </a:p>
          <a:p>
            <a:pPr algn="ctr"/>
            <a:r>
              <a:rPr sz="1530" b="0">
                <a:solidFill>
                  <a:srgbClr val="E6F4FB"/>
                </a:solidFill>
                <a:latin typeface="Arial"/>
              </a:rPr>
              <a:t>API, jam tetap, backfill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8778240" y="4937760"/>
            <a:ext cx="960119" cy="0"/>
          </a:xfrm>
          <a:prstGeom prst="line">
            <a:avLst/>
          </a:prstGeom>
          <a:ln w="38100">
            <a:solidFill>
              <a:srgbClr val="0B75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ounded Rectangle 225"/>
          <p:cNvSpPr/>
          <p:nvPr/>
        </p:nvSpPr>
        <p:spPr>
          <a:xfrm>
            <a:off x="9738359" y="3634740"/>
            <a:ext cx="3017520" cy="260603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875519" y="3744468"/>
            <a:ext cx="2743200" cy="2386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FFFFFF"/>
                </a:solidFill>
                <a:latin typeface="Arial"/>
              </a:rPr>
              <a:t>PostgreSQL 16</a:t>
            </a:r>
          </a:p>
          <a:p>
            <a:pPr algn="ctr"/>
            <a:r>
              <a:rPr sz="1530" b="0">
                <a:solidFill>
                  <a:srgbClr val="CFE3F5"/>
                </a:solidFill>
                <a:latin typeface="Arial"/>
              </a:rPr>
              <a:t>41 tabel · riwayat</a:t>
            </a:r>
          </a:p>
          <a:p>
            <a:pPr algn="ctr"/>
            <a:r>
              <a:rPr sz="1530" b="0">
                <a:solidFill>
                  <a:srgbClr val="CFE3F5"/>
                </a:solidFill>
                <a:latin typeface="Arial"/>
              </a:rPr>
              <a:t>rahasia terenkripsi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12755880" y="4937760"/>
            <a:ext cx="822960" cy="0"/>
          </a:xfrm>
          <a:prstGeom prst="line">
            <a:avLst/>
          </a:prstGeom>
          <a:ln w="38100">
            <a:solidFill>
              <a:srgbClr val="0B75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ounded Rectangle 228"/>
          <p:cNvSpPr/>
          <p:nvPr/>
        </p:nvSpPr>
        <p:spPr>
          <a:xfrm>
            <a:off x="13578840" y="3909060"/>
            <a:ext cx="1988819" cy="2057400"/>
          </a:xfrm>
          <a:prstGeom prst="roundRect">
            <a:avLst>
              <a:gd name="adj" fmla="val 5000"/>
            </a:avLst>
          </a:prstGeom>
          <a:solidFill>
            <a:srgbClr val="164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3716000" y="4018788"/>
            <a:ext cx="1714500" cy="183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FFFFFF"/>
                </a:solidFill>
                <a:latin typeface="Arial"/>
              </a:rPr>
              <a:t>FastAPI</a:t>
            </a:r>
          </a:p>
          <a:p>
            <a:pPr algn="ctr"/>
            <a:r>
              <a:rPr sz="1530" b="0">
                <a:solidFill>
                  <a:srgbClr val="CFE3F5"/>
                </a:solidFill>
                <a:latin typeface="Arial"/>
              </a:rPr>
              <a:t>auth · hitung</a:t>
            </a:r>
          </a:p>
          <a:p>
            <a:pPr algn="ctr"/>
            <a:r>
              <a:rPr sz="1530" b="0">
                <a:solidFill>
                  <a:srgbClr val="CFE3F5"/>
                </a:solidFill>
                <a:latin typeface="Arial"/>
              </a:rPr>
              <a:t>laporan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15567659" y="4937760"/>
            <a:ext cx="548641" cy="0"/>
          </a:xfrm>
          <a:prstGeom prst="line">
            <a:avLst/>
          </a:prstGeom>
          <a:ln w="38100">
            <a:solidFill>
              <a:srgbClr val="0B75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ounded Rectangle 231"/>
          <p:cNvSpPr/>
          <p:nvPr/>
        </p:nvSpPr>
        <p:spPr>
          <a:xfrm>
            <a:off x="16116300" y="3909060"/>
            <a:ext cx="1344168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6253459" y="4018788"/>
            <a:ext cx="1069848" cy="183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0B2F6B"/>
                </a:solidFill>
                <a:latin typeface="Arial"/>
              </a:rPr>
              <a:t>UI</a:t>
            </a:r>
          </a:p>
          <a:p>
            <a:pPr algn="ctr"/>
            <a:r>
              <a:rPr sz="1530" b="0">
                <a:solidFill>
                  <a:srgbClr val="6B7280"/>
                </a:solidFill>
                <a:latin typeface="Arial"/>
              </a:rPr>
              <a:t>browser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5760720" y="7132320"/>
            <a:ext cx="3017520" cy="1303019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897879" y="7242048"/>
            <a:ext cx="2743200" cy="10835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0B75BB"/>
                </a:solidFill>
                <a:latin typeface="Arial"/>
              </a:rPr>
              <a:t>Impor manual</a:t>
            </a:r>
          </a:p>
          <a:p>
            <a:pPr algn="ctr"/>
            <a:r>
              <a:rPr sz="1530" b="0">
                <a:solidFill>
                  <a:srgbClr val="0B75BB"/>
                </a:solidFill>
                <a:latin typeface="Arial"/>
              </a:rPr>
              <a:t>CSV · PDF · Excel</a:t>
            </a:r>
          </a:p>
        </p:txBody>
      </p:sp>
      <p:cxnSp>
        <p:nvCxnSpPr>
          <p:cNvPr id="236" name="Connector 235"/>
          <p:cNvCxnSpPr/>
          <p:nvPr/>
        </p:nvCxnSpPr>
        <p:spPr>
          <a:xfrm flipV="1">
            <a:off x="7269479" y="6240779"/>
            <a:ext cx="3154680" cy="891541"/>
          </a:xfrm>
          <a:prstGeom prst="line">
            <a:avLst/>
          </a:prstGeom>
          <a:ln w="38100">
            <a:solidFill>
              <a:srgbClr val="0B75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9738359" y="7132320"/>
            <a:ext cx="768095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84" b="0">
                <a:solidFill>
                  <a:srgbClr val="6B7280"/>
                </a:solidFill>
                <a:latin typeface="Arial"/>
              </a:rPr>
              <a:t>Backend: FastAPI + SQLAlchemy + Alembic</a:t>
            </a:r>
          </a:p>
          <a:p>
            <a:pPr algn="l">
              <a:spcAft>
                <a:spcPts val="600"/>
              </a:spcAft>
            </a:pPr>
            <a:r>
              <a:rPr sz="1784" b="0">
                <a:solidFill>
                  <a:srgbClr val="6B7280"/>
                </a:solidFill>
                <a:latin typeface="Arial"/>
              </a:rPr>
              <a:t>Frontend: JavaScript murni, Leaflet untuk peta</a:t>
            </a:r>
          </a:p>
          <a:p>
            <a:pPr algn="l">
              <a:spcAft>
                <a:spcPts val="600"/>
              </a:spcAft>
            </a:pPr>
            <a:r>
              <a:rPr sz="1784" b="0">
                <a:solidFill>
                  <a:srgbClr val="6B7280"/>
                </a:solidFill>
                <a:latin typeface="Arial"/>
              </a:rPr>
              <a:t>Rahasia konektor: Fernet; sesi: cookie HttpOnly; backup: 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7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Tujuh integrasi, jadwal dan cara tarik masing-masing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822959" y="1645919"/>
          <a:ext cx="16637508" cy="658368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114800"/>
                <a:gridCol w="2743200"/>
                <a:gridCol w="621334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Sumber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Cara tarik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Jadwal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Isi yang disimpan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ManageEngine SDP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REST API v3, inkremental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15 menit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Tiket, kategori, SLA, teknisi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PRTG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historicdata per sensor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jam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Trafik, downtime, kejadian per link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Zabbix 7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JSON-RPC + event.get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5 menit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Perangkat, status, IP, riwayat down 60 hari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Milestone XProtect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REST API, 12 server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10 menit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Kamera, hardware, speaker, status aktif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Ruckus vSZ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Public REST API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5 menit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Client, AP, sesi, tren, usage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Trend Micro Vision One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REST API v3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15 menit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Alert Workbench: host, akun, MITRE, insiden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Palo Alto Panorama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XML API, dynamic report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tiap 12 jam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Ringkasan harian dan tabel Top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TextBox 202"/>
          <p:cNvSpPr txBox="1"/>
          <p:nvPr/>
        </p:nvSpPr>
        <p:spPr>
          <a:xfrm>
            <a:off x="822959" y="8641080"/>
            <a:ext cx="16641622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1">
                <a:solidFill>
                  <a:srgbClr val="0B2F6B"/>
                </a:solidFill>
                <a:latin typeface="Arial"/>
              </a:rPr>
              <a:t>Tersedia juga impor manual </a:t>
            </a:r>
            <a:r>
              <a:rPr sz="1912" b="0">
                <a:solidFill>
                  <a:srgbClr val="1F2937"/>
                </a:solidFill>
                <a:latin typeface="Arial"/>
              </a:rPr>
              <a:t>untuk SOC (CSV Panorama), PRTG (PDF harian), dan tiket (Excel). Impor manual dipakai sebagai validasi dan tidak tertimpa data 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8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Yang tersimpan di database server ini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Grafik data tersimpan"/>
          <p:cNvGraphicFramePr>
            <a:graphicFrameLocks noGrp="1"/>
          </p:cNvGraphicFramePr>
          <p:nvPr/>
        </p:nvGraphicFramePr>
        <p:xfrm>
          <a:off x="822959" y="1645919"/>
          <a:ext cx="10424159" cy="726947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03" name="TextBox 202"/>
          <p:cNvSpPr txBox="1"/>
          <p:nvPr/>
        </p:nvSpPr>
        <p:spPr>
          <a:xfrm>
            <a:off x="11795759" y="1783080"/>
            <a:ext cx="5692140" cy="7132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Dibaca dari database, </a:t>
            </a:r>
            <a:r>
              <a:rPr sz="1784" b="0">
                <a:solidFill>
                  <a:srgbClr val="1F2937"/>
                </a:solidFill>
                <a:latin typeface="Arial"/>
              </a:rPr>
              <a:t>bukan dari sumber, sehingga halaman cepat dan tetap tampil saat sumber tidak terjangkau.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Riwayat dibangun sendiri: </a:t>
            </a:r>
            <a:r>
              <a:rPr sz="1784" b="0">
                <a:solidFill>
                  <a:srgbClr val="1F2937"/>
                </a:solidFill>
                <a:latin typeface="Arial"/>
              </a:rPr>
              <a:t>sesi WiFi, kejadian down, tren per jam, alert XDR.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Retensi diatur parameter: </a:t>
            </a:r>
            <a:r>
              <a:rPr sz="1784" b="0">
                <a:solidFill>
                  <a:srgbClr val="1F2937"/>
                </a:solidFill>
                <a:latin typeface="Arial"/>
              </a:rPr>
              <a:t>sesi WiFi 30 hari, riwayat down Zabbix 60 hari.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Rahasia terenkripsi </a:t>
            </a:r>
            <a:r>
              <a:rPr sz="1784" b="0">
                <a:solidFill>
                  <a:srgbClr val="1F2937"/>
                </a:solidFill>
                <a:latin typeface="Arial"/>
              </a:rPr>
              <a:t>(token, password konektor, SMTP, webhook) dan tidak dikirim ke browser.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Seluruh database </a:t>
            </a:r>
            <a:r>
              <a:rPr sz="1784" b="0">
                <a:solidFill>
                  <a:srgbClr val="1F2937"/>
                </a:solidFill>
                <a:latin typeface="Arial"/>
              </a:rPr>
              <a:t>baru 50 MB; backup terenkripsi harian sekitar 3 MB.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9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Overview: status hari ini dan semua bidang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Status TICKETING"/>
          <p:cNvSpPr/>
          <p:nvPr/>
        </p:nvSpPr>
        <p:spPr>
          <a:xfrm>
            <a:off x="822959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014983" y="1920239"/>
            <a:ext cx="219456" cy="219456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344168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TICKETING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14983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Terkendali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14983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tiket, open, SLA</a:t>
            </a:r>
          </a:p>
        </p:txBody>
      </p:sp>
      <p:sp>
        <p:nvSpPr>
          <p:cNvPr id="207" name="Status NETWORK"/>
          <p:cNvSpPr/>
          <p:nvPr/>
        </p:nvSpPr>
        <p:spPr>
          <a:xfrm>
            <a:off x="3223847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415871" y="192023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745055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NETWORK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415871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Link di bawah target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415871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availability, WiFi</a:t>
            </a:r>
          </a:p>
        </p:txBody>
      </p:sp>
      <p:sp>
        <p:nvSpPr>
          <p:cNvPr id="212" name="Status CYBER"/>
          <p:cNvSpPr/>
          <p:nvPr/>
        </p:nvSpPr>
        <p:spPr>
          <a:xfrm>
            <a:off x="5624735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816759" y="192023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145943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CYBER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816759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Perlu tindak lanjut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816759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event NDR, alert XDR</a:t>
            </a:r>
          </a:p>
        </p:txBody>
      </p:sp>
      <p:sp>
        <p:nvSpPr>
          <p:cNvPr id="217" name="Status DEVICES"/>
          <p:cNvSpPr/>
          <p:nvPr/>
        </p:nvSpPr>
        <p:spPr>
          <a:xfrm>
            <a:off x="8025623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217647" y="192023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8546831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DEVICES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217647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Perangkat down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217647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availability, jumlah</a:t>
            </a:r>
          </a:p>
        </p:txBody>
      </p:sp>
      <p:sp>
        <p:nvSpPr>
          <p:cNvPr id="222" name="Status MILESTONE"/>
          <p:cNvSpPr/>
          <p:nvPr/>
        </p:nvSpPr>
        <p:spPr>
          <a:xfrm>
            <a:off x="10426511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618535" y="1920239"/>
            <a:ext cx="219456" cy="219456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947719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MILESTONE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618535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Kamera merekam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618535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kamera dan hardware</a:t>
            </a:r>
          </a:p>
        </p:txBody>
      </p:sp>
      <p:sp>
        <p:nvSpPr>
          <p:cNvPr id="227" name="Status HANDOVER"/>
          <p:cNvSpPr/>
          <p:nvPr/>
        </p:nvSpPr>
        <p:spPr>
          <a:xfrm>
            <a:off x="12827399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3019423" y="1920239"/>
            <a:ext cx="219456" cy="219456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3348607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HANDOVER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3019423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Tidak ada terbuka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3019423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serah terima shift</a:t>
            </a:r>
          </a:p>
        </p:txBody>
      </p:sp>
      <p:sp>
        <p:nvSpPr>
          <p:cNvPr id="232" name="Status INSIGHTS"/>
          <p:cNvSpPr/>
          <p:nvPr/>
        </p:nvSpPr>
        <p:spPr>
          <a:xfrm>
            <a:off x="15228286" y="1645919"/>
            <a:ext cx="2236295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5420310" y="1920239"/>
            <a:ext cx="219456" cy="219456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5749494" y="1837943"/>
            <a:ext cx="1619075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>
                <a:solidFill>
                  <a:srgbClr val="6B7280"/>
                </a:solidFill>
                <a:latin typeface="Arial"/>
              </a:rPr>
              <a:t>INSIGHTS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420310" y="2400299"/>
            <a:ext cx="18933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1">
                <a:solidFill>
                  <a:srgbClr val="0B2F6B"/>
                </a:solidFill>
                <a:latin typeface="Arial"/>
              </a:rPr>
              <a:t>Temuan aktif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5420310" y="3182112"/>
            <a:ext cx="189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8" b="0">
                <a:solidFill>
                  <a:srgbClr val="6B7280"/>
                </a:solidFill>
                <a:latin typeface="Arial"/>
              </a:rPr>
              <a:t>kritis dan peringatan</a:t>
            </a:r>
          </a:p>
        </p:txBody>
      </p:sp>
      <p:sp>
        <p:nvSpPr>
          <p:cNvPr id="237" name="Kartu Yang ditampilkan"/>
          <p:cNvSpPr/>
          <p:nvPr/>
        </p:nvSpPr>
        <p:spPr>
          <a:xfrm>
            <a:off x="822959" y="4183380"/>
            <a:ext cx="809244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165860" y="4485132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Yang ditampilkan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165860" y="5170932"/>
            <a:ext cx="7406640" cy="3470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Status Hari Ini per bidang (hijau, kuning, merah)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Needs Attention: tiket lama, link di bawah target, alert tanpa blokir, AP offline, backlog XDR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On Duty dan eskalasi, handover terbuka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Panel Insights dan grafik ringkas tiap sumber</a:t>
            </a:r>
          </a:p>
        </p:txBody>
      </p:sp>
      <p:sp>
        <p:nvSpPr>
          <p:cNvPr id="240" name="Kartu Diatur sesuai kebutu"/>
          <p:cNvSpPr/>
          <p:nvPr/>
        </p:nvSpPr>
        <p:spPr>
          <a:xfrm>
            <a:off x="9326880" y="4183380"/>
            <a:ext cx="8133588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669780" y="4485132"/>
            <a:ext cx="74477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Diatur sesuai kebutuhan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9669780" y="5170932"/>
            <a:ext cx="7447788" cy="3470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Customize: pindah, ubah ukuran, sembunyikan, tambah dari katalog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Tata letak bisa berbeda per role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Filter periode, shift, dan lokasi berlaku di semua panel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Bandingkan dengan periode sebelumnya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10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Network: ringkasan gabungan PRTG dan WiFi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Summary"/>
          <p:cNvSpPr/>
          <p:nvPr/>
        </p:nvSpPr>
        <p:spPr>
          <a:xfrm>
            <a:off x="822959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47672"/>
            <a:ext cx="685800" cy="685800"/>
          </a:xfrm>
          <a:prstGeom prst="ellipse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Σ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Summary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Perhatian gabungan: link di bawah target, AP offline, sinyal lemah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KPI link dan KPI WiFi berdampingan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Downtime per hari dan top 5 link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Ringkasan per lokasi: link, availability, AP, client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Panel Insights khusus jaringan</a:t>
            </a:r>
          </a:p>
        </p:txBody>
      </p:sp>
      <p:sp>
        <p:nvSpPr>
          <p:cNvPr id="206" name="Kartu ISP · PRTG"/>
          <p:cNvSpPr/>
          <p:nvPr/>
        </p:nvSpPr>
        <p:spPr>
          <a:xfrm>
            <a:off x="6484467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827367" y="194767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18907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ISP · PRTG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27367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Availability terhadap target SLA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Trafik total dan per sensor, utilisasi puncak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Ranking downtime, kejadian terlama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Ringkasan per ISP dan per lokasi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Data per jam dari API; PDF harian sebagai validasi</a:t>
            </a:r>
          </a:p>
        </p:txBody>
      </p:sp>
      <p:sp>
        <p:nvSpPr>
          <p:cNvPr id="210" name="Kartu WiFi · Ruckus vSZ"/>
          <p:cNvSpPr/>
          <p:nvPr/>
        </p:nvSpPr>
        <p:spPr>
          <a:xfrm>
            <a:off x="12145975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488875" y="1947672"/>
            <a:ext cx="685800" cy="685800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380415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WiFi · Ruckus vSZ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2488875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Client aktif, AP online, sinyal lemah, usage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Portal Users: client SSID portal, status login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Filter band, SSID, zone, lokasi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Riwayat: usage per zone, SSID, client, jam sibuk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Putus sesi client (Disconnect, Deauth) dengan audit</a:t>
            </a:r>
          </a:p>
        </p:txBody>
      </p:sp>
      <p:sp>
        <p:nvSpPr>
          <p:cNvPr id="214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Satu halaman Summary menjawab apakah jaringan sehat; rincian per ISP dan WiFi hanya berjarak satu klik.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11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Cyber Security: NDR Palo Alto dan XDR Trend Micro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Summary"/>
          <p:cNvSpPr/>
          <p:nvPr/>
        </p:nvSpPr>
        <p:spPr>
          <a:xfrm>
            <a:off x="822959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47672"/>
            <a:ext cx="685800" cy="685800"/>
          </a:xfrm>
          <a:prstGeom prst="ellipse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Σ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Summary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Perhatian: event critical/high hanya alert, backlog XDR, data NDR belum lengkap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KPI NDR dan XDR berdampingan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Event dan alert per hari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Severity, model deteksi, host terdampak, teknik MITRE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Panel Insights keamanan</a:t>
            </a:r>
          </a:p>
        </p:txBody>
      </p:sp>
      <p:sp>
        <p:nvSpPr>
          <p:cNvPr id="206" name="Kartu NDR · Palo Alto"/>
          <p:cNvSpPr/>
          <p:nvPr/>
        </p:nvSpPr>
        <p:spPr>
          <a:xfrm>
            <a:off x="6484467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827367" y="194767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18907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NDR · Palo Alto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27367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Total event, critical/high, persentase diblokir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Per severity, tindakan, kategori ancaman, URL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Tabel Top mengikuti filter periode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Tarik otomatis tiap 12 jam, tombol tarik manual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Impor CSV sebagai cadangan dan validasi</a:t>
            </a:r>
          </a:p>
        </p:txBody>
      </p:sp>
      <p:sp>
        <p:nvSpPr>
          <p:cNvPr id="210" name="Kartu XDR · Trend Micro"/>
          <p:cNvSpPr/>
          <p:nvPr/>
        </p:nvSpPr>
        <p:spPr>
          <a:xfrm>
            <a:off x="12145975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488875" y="1947672"/>
            <a:ext cx="685800" cy="68580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380415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XDR · Trend Micro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2488875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Alert Workbench dengan severity dan status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Host dan akun terdampak (dengan IP)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Teknik MITRE ATT&amp;CK dan insiden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Umur backlog, hasil investigasi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Tautan langsung ke Workbench</a:t>
            </a:r>
          </a:p>
        </p:txBody>
      </p:sp>
      <p:sp>
        <p:nvSpPr>
          <p:cNvPr id="214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Perhatian keamanan yang paling penting (critical/high tanpa blokir, backlog XDR) selalu muncul di Summary dan Overview.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12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Devices: satu kelompok menu untuk semua perangkat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Statistik 1.767"/>
          <p:cNvSpPr/>
          <p:nvPr/>
        </p:nvSpPr>
        <p:spPr>
          <a:xfrm>
            <a:off x="822959" y="1645919"/>
            <a:ext cx="397763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97280" y="18516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1.767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" y="299008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perangkat dipantau dari Zabbix</a:t>
            </a:r>
          </a:p>
        </p:txBody>
      </p:sp>
      <p:sp>
        <p:nvSpPr>
          <p:cNvPr id="205" name="Statistik 51 + 117"/>
          <p:cNvSpPr/>
          <p:nvPr/>
        </p:nvSpPr>
        <p:spPr>
          <a:xfrm>
            <a:off x="822959" y="4046220"/>
            <a:ext cx="397763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97280" y="42519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51 + 117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97280" y="539038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kode lokasi dan kode perangkat di kamus</a:t>
            </a:r>
          </a:p>
        </p:txBody>
      </p:sp>
      <p:sp>
        <p:nvSpPr>
          <p:cNvPr id="208" name="Statistik 60 hari"/>
          <p:cNvSpPr/>
          <p:nvPr/>
        </p:nvSpPr>
        <p:spPr>
          <a:xfrm>
            <a:off x="822959" y="6446520"/>
            <a:ext cx="397763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97280" y="66522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60 hari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97280" y="779068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riwayat kejadian down langsung dari Zabbix</a:t>
            </a:r>
          </a:p>
        </p:txBody>
      </p:sp>
      <p:sp>
        <p:nvSpPr>
          <p:cNvPr id="211" name="Kartu Sub-menu"/>
          <p:cNvSpPr/>
          <p:nvPr/>
        </p:nvSpPr>
        <p:spPr>
          <a:xfrm>
            <a:off x="5212079" y="1645919"/>
            <a:ext cx="6172200" cy="713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554979" y="194767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Sub-menu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554979" y="2633471"/>
            <a:ext cx="5486400" cy="5939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Summary: semua kategori sekaligus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Network, CCTV, Operational: satu kategori Zabbix masing-masing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Milestone: kamera dan speaker dari Milestone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Peta lokasi (OpenStreetMap) dengan warna availability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Filter lokasi, group, tipe, status</a:t>
            </a:r>
          </a:p>
        </p:txBody>
      </p:sp>
      <p:sp>
        <p:nvSpPr>
          <p:cNvPr id="214" name="Kartu Riwayat dan kamus"/>
          <p:cNvSpPr/>
          <p:nvPr/>
        </p:nvSpPr>
        <p:spPr>
          <a:xfrm>
            <a:off x="11658600" y="1645919"/>
            <a:ext cx="5801868" cy="713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001500" y="1947672"/>
            <a:ext cx="51160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Riwayat dan kamus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2001500" y="2633471"/>
            <a:ext cx="5116068" cy="5939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Kejadian down, downtime, MTTR, availability periode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Perangkat paling sering down, masalah dominan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Nama host diurai otomatis: cabang, zona, tipe, urutan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Kode baru terdaftar otomatis untuk dilengkapi di Admin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Milestone: inventaris kamera dan status dari Zabbix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Inventaris"/>
          <p:cNvSpPr/>
          <p:nvPr/>
        </p:nvSpPr>
        <p:spPr>
          <a:xfrm>
            <a:off x="822959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4767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K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Inventaris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12 server Milestone, ditambah sendiri dari Admin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Kamera dibagi FIX dan PTZ; speaker dihitung Public Announcer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Enabled dan Recording: angka bulat bila lengkap, pecahan bila ada yang tidak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Filter server, hardware, tipe, status</a:t>
            </a:r>
          </a:p>
        </p:txBody>
      </p:sp>
      <p:sp>
        <p:nvSpPr>
          <p:cNvPr id="206" name="Kartu Status dan lisensi"/>
          <p:cNvSpPr/>
          <p:nvPr/>
        </p:nvSpPr>
        <p:spPr>
          <a:xfrm>
            <a:off x="6484467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827367" y="1947672"/>
            <a:ext cx="685800" cy="685800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18907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Status dan lisensi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27367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Online/Offline dari Zabbix, cocok lewat IP atau nama kamera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Ikon hijau, merah, abu-abu; masalah Zabbix ditampilkan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Lisensi per server, misalnya 10/100, dari total yang diisi manual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Hardware Interconnect tidak memakai lisensi di server pusat</a:t>
            </a:r>
          </a:p>
        </p:txBody>
      </p:sp>
      <p:sp>
        <p:nvSpPr>
          <p:cNvPr id="210" name="Kartu Perlu diketahui"/>
          <p:cNvSpPr/>
          <p:nvPr/>
        </p:nvSpPr>
        <p:spPr>
          <a:xfrm>
            <a:off x="12145975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488875" y="1947672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380415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Perlu diketahui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2488875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Milestone tidak melaporkan status live kamera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Pencocokan Zabbix baru sekitar 20% kamera; penamaan perlu diseragamkan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Server Trisakti belum punya REST API (API Gateway belum terpasang)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Lisensi resmi butuh akun peran Administrator</a:t>
            </a:r>
          </a:p>
        </p:txBody>
      </p:sp>
      <p:sp>
        <p:nvSpPr>
          <p:cNvPr id="214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Inventaris cukup untuk menghitung kamera, rekaman, dan lisensi; status online bergantung pada Zabbix.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14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Insights: temuan otomatis tanpa AI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Cara menilai"/>
          <p:cNvSpPr/>
          <p:nvPr/>
        </p:nvSpPr>
        <p:spPr>
          <a:xfrm>
            <a:off x="822959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4767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Cara menilai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Anomali: nilai terbaru dibanding median dan simpangan robust hari-hari sebelumnya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Tren 21 hari dan perkiraan terhadap target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Berulang, berkelompok, dan korelasi satu lokasi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Risiko SLA dari umur tiket</a:t>
            </a:r>
          </a:p>
        </p:txBody>
      </p:sp>
      <p:sp>
        <p:nvSpPr>
          <p:cNvPr id="206" name="Kartu Di mana terlihat"/>
          <p:cNvSpPr/>
          <p:nvPr/>
        </p:nvSpPr>
        <p:spPr>
          <a:xfrm>
            <a:off x="6484467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827367" y="1947672"/>
            <a:ext cx="685800" cy="685800"/>
          </a:xfrm>
          <a:prstGeom prst="ellipse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18907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Di mana terlihat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27367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Report &gt; Insights: temuan, ranking, kesehatan lokasi, riwayat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Panel Insights di Overview, Ticketing, Network, Cyber, Devices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Baca, tunda dengan alasan, atau jadikan serah terima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Temuan penting dikirim lewat webhook</a:t>
            </a:r>
          </a:p>
        </p:txBody>
      </p:sp>
      <p:sp>
        <p:nvSpPr>
          <p:cNvPr id="210" name="Kartu Ringkasan shift"/>
          <p:cNvSpPr/>
          <p:nvPr/>
        </p:nvSpPr>
        <p:spPr>
          <a:xfrm>
            <a:off x="12145975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488875" y="1947672"/>
            <a:ext cx="685800" cy="685800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380415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Ringkasan shift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2488875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24 jam, hari penuh, setengah hari, atau satu shift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Bahasa Indonesia dengan istilah teknis Inggris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Tiket, jaringan, keamanan, perangkat, handover, temuan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Siap salin ke laporan atau WhatsApp</a:t>
            </a:r>
          </a:p>
        </p:txBody>
      </p:sp>
      <p:sp>
        <p:nvSpPr>
          <p:cNvPr id="214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Setiap temuan membawa angka dan pembandingnya, sehingga bisa dijelaskan dan dipertanggungjawabkan.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15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Ticketing, personel, dan serah terima shift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Ticketing"/>
          <p:cNvSpPr/>
          <p:nvPr/>
        </p:nvSpPr>
        <p:spPr>
          <a:xfrm>
            <a:off x="822959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4767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7400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Ticketing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Tiket masuk, close, SLA, durasi median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Ranking teknisi dan group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Kategori, lokasi, jam, hari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Tiket open terlama, kualitas input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Sinkron API tiap 15 menit + impor Excel</a:t>
            </a:r>
          </a:p>
        </p:txBody>
      </p:sp>
      <p:sp>
        <p:nvSpPr>
          <p:cNvPr id="206" name="Kartu Personnel"/>
          <p:cNvSpPr/>
          <p:nvPr/>
        </p:nvSpPr>
        <p:spPr>
          <a:xfrm>
            <a:off x="6484467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827367" y="1947672"/>
            <a:ext cx="685800" cy="685800"/>
          </a:xfrm>
          <a:prstGeom prst="ellipse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718907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Personnel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827367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Rotasi 4 tim, 3 shift, jadwal bulanan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Siapa bertugas sekarang dan berikutnya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Kontak eskalasi dan layanan IT Care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Pola rotasi dan anggota dari parameter</a:t>
            </a:r>
          </a:p>
        </p:txBody>
      </p:sp>
      <p:sp>
        <p:nvSpPr>
          <p:cNvPr id="210" name="Kartu Handover dan Data"/>
          <p:cNvSpPr/>
          <p:nvPr/>
        </p:nvSpPr>
        <p:spPr>
          <a:xfrm>
            <a:off x="12145975" y="1645919"/>
            <a:ext cx="5318607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488875" y="1947672"/>
            <a:ext cx="685800" cy="685800"/>
          </a:xfrm>
          <a:prstGeom prst="ellipse">
            <a:avLst/>
          </a:prstGeom>
          <a:solidFill>
            <a:srgbClr val="2FB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7" b="1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380415" y="1947672"/>
            <a:ext cx="3809847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Handover dan Data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2488875" y="2976372"/>
            <a:ext cx="4632807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Serah terima shift: prioritas, tindak lanjut, penutupan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Notifikasi webhook (Teams, Slack, Telegram)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Kelengkapan data harian SOC dan log unggah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Riwayat sinkron dan unggahan</a:t>
            </a:r>
          </a:p>
        </p:txBody>
      </p:sp>
      <p:sp>
        <p:nvSpPr>
          <p:cNvPr id="214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Tiket, jadwal, dan serah terima ada di satu aplikasi, sehingga pergantian shift tidak bergantung pada pesan chat.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16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Report: laporan siap pakai atau susun sendiri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822959" y="164591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32688" y="164591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Summary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183380" y="164591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293108" y="164591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Network (PRTG + WiFi)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7543800" y="164591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653528" y="164591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Cyber Security (NDR + XDR)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0904220" y="164591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1013947" y="164591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Ticketing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4264640" y="164591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4374368" y="164591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PRTG (Link)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822959" y="274319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32688" y="274319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WiFi (Ruckus)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183380" y="274319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293108" y="274319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NDR (Palo Alto)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7543800" y="274319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653528" y="274319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XDR (Trend Micro)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0904220" y="274319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1013947" y="274319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Devices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4264640" y="2743199"/>
            <a:ext cx="3154679" cy="850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4374368" y="2743199"/>
            <a:ext cx="2935224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7" b="1">
                <a:solidFill>
                  <a:srgbClr val="0B2F6B"/>
                </a:solidFill>
                <a:latin typeface="Arial"/>
              </a:rPr>
              <a:t>Full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822959" y="3840480"/>
            <a:ext cx="16641622" cy="850392"/>
          </a:xfrm>
          <a:prstGeom prst="roundRect">
            <a:avLst>
              <a:gd name="adj" fmla="val 5000"/>
            </a:avLst>
          </a:prstGeom>
          <a:solidFill>
            <a:srgbClr val="E6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97280" y="3840480"/>
            <a:ext cx="16092982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84" b="1">
                <a:solidFill>
                  <a:srgbClr val="0B75BB"/>
                </a:solidFill>
                <a:latin typeface="Arial"/>
              </a:rPr>
              <a:t>Custom: </a:t>
            </a:r>
            <a:r>
              <a:rPr sz="1784" b="0">
                <a:solidFill>
                  <a:srgbClr val="1F2937"/>
                </a:solidFill>
                <a:latin typeface="Arial"/>
              </a:rPr>
              <a:t>centang section sesuai kebutuhan, misalnya Ticketing + Devices, atau Ticketing + NDR.</a:t>
            </a:r>
          </a:p>
        </p:txBody>
      </p:sp>
      <p:sp>
        <p:nvSpPr>
          <p:cNvPr id="224" name="Format Excel"/>
          <p:cNvSpPr/>
          <p:nvPr/>
        </p:nvSpPr>
        <p:spPr>
          <a:xfrm>
            <a:off x="822959" y="5006340"/>
            <a:ext cx="53492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165860" y="511606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B75BB"/>
                </a:solidFill>
                <a:latin typeface="Arial"/>
              </a:rPr>
              <a:t>Excel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165860" y="58293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6B7280"/>
                </a:solidFill>
                <a:latin typeface="Arial"/>
              </a:rPr>
              <a:t>data dan format angka asli</a:t>
            </a:r>
          </a:p>
        </p:txBody>
      </p:sp>
      <p:sp>
        <p:nvSpPr>
          <p:cNvPr id="227" name="Format PDF"/>
          <p:cNvSpPr/>
          <p:nvPr/>
        </p:nvSpPr>
        <p:spPr>
          <a:xfrm>
            <a:off x="6446519" y="5006340"/>
            <a:ext cx="53492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789419" y="511606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B75BB"/>
                </a:solidFill>
                <a:latin typeface="Arial"/>
              </a:rPr>
              <a:t>PDF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789419" y="58293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6B7280"/>
                </a:solidFill>
                <a:latin typeface="Arial"/>
              </a:rPr>
              <a:t>siap cetak dan arsip</a:t>
            </a:r>
          </a:p>
        </p:txBody>
      </p:sp>
      <p:sp>
        <p:nvSpPr>
          <p:cNvPr id="230" name="Format PowerPoint"/>
          <p:cNvSpPr/>
          <p:nvPr/>
        </p:nvSpPr>
        <p:spPr>
          <a:xfrm>
            <a:off x="12070080" y="5006340"/>
            <a:ext cx="534924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2412980" y="511606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0B75BB"/>
                </a:solidFill>
                <a:latin typeface="Arial"/>
              </a:rPr>
              <a:t>PowerPoint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2412980" y="58293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6B7280"/>
                </a:solidFill>
                <a:latin typeface="Arial"/>
              </a:rPr>
              <a:t>template Pelindo untuk rapat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22959" y="6926579"/>
            <a:ext cx="16641622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Periode, shift, dan lokasi mengikuti filter; ukuran Compact, Standard, Full memilih jumlah grafik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Bagian laporan mengikuti izin role dan lokasi yang dikunci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Status perangkat dan WiFi adalah kondisi saat laporan dibuat; bagian riwayat mengikuti periode; setiap unduhan tercatat di audit log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17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Admin: lima kelompok pengaturan, tanpa mengubah kode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Admin Access"/>
          <p:cNvSpPr/>
          <p:nvPr/>
        </p:nvSpPr>
        <p:spPr>
          <a:xfrm>
            <a:off x="822959" y="1645919"/>
            <a:ext cx="5280660" cy="3360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97280" y="1892807"/>
            <a:ext cx="47320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75BB"/>
                </a:solidFill>
                <a:latin typeface="Arial"/>
              </a:rPr>
              <a:t>Access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" y="2633471"/>
            <a:ext cx="47320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1F2937"/>
                </a:solidFill>
                <a:latin typeface="Arial"/>
              </a:rPr>
              <a:t>Pengguna, Role dan matriks menu, API key (bisa diedit), kunci halaman, audit log dan ekspor CSV</a:t>
            </a:r>
          </a:p>
        </p:txBody>
      </p:sp>
      <p:sp>
        <p:nvSpPr>
          <p:cNvPr id="205" name="Admin Data Sources"/>
          <p:cNvSpPr/>
          <p:nvPr/>
        </p:nvSpPr>
        <p:spPr>
          <a:xfrm>
            <a:off x="6377940" y="1645919"/>
            <a:ext cx="5280660" cy="3360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652259" y="1892807"/>
            <a:ext cx="47320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75BB"/>
                </a:solidFill>
                <a:latin typeface="Arial"/>
              </a:rPr>
              <a:t>Data Sources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652259" y="2633471"/>
            <a:ext cx="47320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1F2937"/>
                </a:solidFill>
                <a:latin typeface="Arial"/>
              </a:rPr>
              <a:t>Integrations (kartu per sumber, tombol Test dan Sync), Mapping lokasi, kode, ISP, sensor</a:t>
            </a:r>
          </a:p>
        </p:txBody>
      </p:sp>
      <p:sp>
        <p:nvSpPr>
          <p:cNvPr id="208" name="Admin Operations"/>
          <p:cNvSpPr/>
          <p:nvPr/>
        </p:nvSpPr>
        <p:spPr>
          <a:xfrm>
            <a:off x="11932919" y="1645919"/>
            <a:ext cx="5280660" cy="3360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2207239" y="1892807"/>
            <a:ext cx="47320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75BB"/>
                </a:solidFill>
                <a:latin typeface="Arial"/>
              </a:rPr>
              <a:t>Operations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2207239" y="2633471"/>
            <a:ext cx="47320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1F2937"/>
                </a:solidFill>
                <a:latin typeface="Arial"/>
              </a:rPr>
              <a:t>Targets dan Parameters, SLA, rumus, personel, tim dan shift, menu dan widget</a:t>
            </a:r>
          </a:p>
        </p:txBody>
      </p:sp>
      <p:sp>
        <p:nvSpPr>
          <p:cNvPr id="211" name="Admin Notifications"/>
          <p:cNvSpPr/>
          <p:nvPr/>
        </p:nvSpPr>
        <p:spPr>
          <a:xfrm>
            <a:off x="822959" y="5349240"/>
            <a:ext cx="5280660" cy="3360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97280" y="5596128"/>
            <a:ext cx="47320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75BB"/>
                </a:solidFill>
                <a:latin typeface="Arial"/>
              </a:rPr>
              <a:t>Notifications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97280" y="6336792"/>
            <a:ext cx="47320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1F2937"/>
                </a:solidFill>
                <a:latin typeface="Arial"/>
              </a:rPr>
              <a:t>SMTP, webhook, peristiwa yang dikirim</a:t>
            </a:r>
          </a:p>
        </p:txBody>
      </p:sp>
      <p:sp>
        <p:nvSpPr>
          <p:cNvPr id="214" name="Admin System"/>
          <p:cNvSpPr/>
          <p:nvPr/>
        </p:nvSpPr>
        <p:spPr>
          <a:xfrm>
            <a:off x="6377940" y="5349240"/>
            <a:ext cx="5280660" cy="3360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652259" y="5596128"/>
            <a:ext cx="47320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22" b="1">
                <a:solidFill>
                  <a:srgbClr val="0B75BB"/>
                </a:solidFill>
                <a:latin typeface="Arial"/>
              </a:rPr>
              <a:t>System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652259" y="6336792"/>
            <a:ext cx="47320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0">
                <a:solidFill>
                  <a:srgbClr val="1F2937"/>
                </a:solidFill>
                <a:latin typeface="Arial"/>
              </a:rPr>
              <a:t>Perlu Dilengkapi (data yang belum lengkap), Source Status, pemeriksaan keamanan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1932919" y="5349240"/>
            <a:ext cx="5280660" cy="3360420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2207239" y="5623560"/>
            <a:ext cx="4732020" cy="2811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1">
                <a:solidFill>
                  <a:srgbClr val="25B7E5"/>
                </a:solidFill>
                <a:latin typeface="Arial"/>
              </a:rPr>
              <a:t>Sumber baru? </a:t>
            </a:r>
            <a:r>
              <a:rPr sz="1784" b="0">
                <a:solidFill>
                  <a:srgbClr val="FFFFFF"/>
                </a:solidFill>
                <a:latin typeface="Arial"/>
              </a:rPr>
              <a:t>Alamat, kredensial, interval, dan daftar server (misalnya Milestone) diubah dari Admin. Konektor sistem baru masih lewat kode; konektor REST generik direncanakan.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18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Role dan hak akses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822959" y="1645919"/>
          <a:ext cx="16637508" cy="6007608"/>
        </p:xfrm>
        <a:graphic>
          <a:graphicData uri="http://schemas.openxmlformats.org/drawingml/2006/table">
            <a:tbl>
              <a:tblPr firstRow="0" bandRow="0"/>
              <a:tblGrid>
                <a:gridCol w="2880360"/>
                <a:gridCol w="7818120"/>
                <a:gridCol w="2880360"/>
                <a:gridCol w="305866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Menu yang terlihat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Lokasi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Catatan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Super Admin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 menu dan Admin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Kelola pengguna, integrasi, kunci halaman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ITOC Coordinator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 menu, Admin hanya baca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Koordinator shift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ITOC Shift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Overview, Ticketing, Network, Cyber, Devices, Personnel, Report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Operator shift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Management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Overview, Ticketing, Network, Cyber, Devices, Personnel, Report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Hanya melihat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IT Care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Overview, Ticketing, Network, Personnel, Report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Kantor pusat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Dikunci ke lokasi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EOS Branch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Overview, Ticketing, Network, Personnel, Report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Lokasi akun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Dikunci ke cabang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WiFi Viewer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Hanya WiFi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Semua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Tanpa putus sesi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TextBox 202"/>
          <p:cNvSpPr txBox="1"/>
          <p:nvPr/>
        </p:nvSpPr>
        <p:spPr>
          <a:xfrm>
            <a:off x="822959" y="8366760"/>
            <a:ext cx="1664162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1">
                <a:solidFill>
                  <a:srgbClr val="0B2F6B"/>
                </a:solidFill>
                <a:latin typeface="Arial"/>
              </a:rPr>
              <a:t>Aksi sensitif: </a:t>
            </a:r>
            <a:r>
              <a:rPr sz="1784" b="0">
                <a:solidFill>
                  <a:srgbClr val="1F2937"/>
                </a:solidFill>
                <a:latin typeface="Arial"/>
              </a:rPr>
              <a:t>Disconnect dan Deauth client WiFi hanya untuk Super Admin dan username yang didaftarkan; setiap aksi tercatat (siapa, client, SSID, AP, alasan).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19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Keamanan: kontrol yang sudah ada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ontrol Sesi"/>
          <p:cNvSpPr/>
          <p:nvPr/>
        </p:nvSpPr>
        <p:spPr>
          <a:xfrm>
            <a:off x="822959" y="1645919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97280" y="1920239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Sesi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" y="260604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Cookie HttpOnly, SameSite=Strict, Secure via HTTPS; sesi gugur saat password diganti</a:t>
            </a:r>
          </a:p>
        </p:txBody>
      </p:sp>
      <p:sp>
        <p:nvSpPr>
          <p:cNvPr id="205" name="Kontrol CSRF"/>
          <p:cNvSpPr/>
          <p:nvPr/>
        </p:nvSpPr>
        <p:spPr>
          <a:xfrm>
            <a:off x="5051945" y="1645919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326265" y="1920239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CSRF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326265" y="260604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Header wajib untuk perubahan data pada sesi cookie</a:t>
            </a:r>
          </a:p>
        </p:txBody>
      </p:sp>
      <p:sp>
        <p:nvSpPr>
          <p:cNvPr id="208" name="Kontrol Login"/>
          <p:cNvSpPr/>
          <p:nvPr/>
        </p:nvSpPr>
        <p:spPr>
          <a:xfrm>
            <a:off x="9280931" y="1645919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555251" y="1920239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Login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555251" y="260604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bcrypt, lockout 5 gagal per 10 menit lintas worker, pesan galat seragam</a:t>
            </a:r>
          </a:p>
        </p:txBody>
      </p:sp>
      <p:sp>
        <p:nvSpPr>
          <p:cNvPr id="211" name="Kontrol Otorisasi"/>
          <p:cNvSpPr/>
          <p:nvPr/>
        </p:nvSpPr>
        <p:spPr>
          <a:xfrm>
            <a:off x="13509917" y="1645919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3784237" y="1920239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Otorisasi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3784237" y="260604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Semua /api wajib login; menu, Admin, unggah, lokasi per role; halaman Admin bisa dikunci</a:t>
            </a:r>
          </a:p>
        </p:txBody>
      </p:sp>
      <p:sp>
        <p:nvSpPr>
          <p:cNvPr id="214" name="Kontrol Input"/>
          <p:cNvSpPr/>
          <p:nvPr/>
        </p:nvSpPr>
        <p:spPr>
          <a:xfrm>
            <a:off x="822959" y="5280660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97280" y="5554980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Input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97280" y="624078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ORM berparameter, validasi, unggahan dibatasi ukuran dan isi zip</a:t>
            </a:r>
          </a:p>
        </p:txBody>
      </p:sp>
      <p:sp>
        <p:nvSpPr>
          <p:cNvPr id="217" name="Kontrol Output"/>
          <p:cNvSpPr/>
          <p:nvPr/>
        </p:nvSpPr>
        <p:spPr>
          <a:xfrm>
            <a:off x="5051945" y="5280660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326265" y="5554980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Output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326265" y="624078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Data luar di-escape, tanpa handler inline, CSP ketat</a:t>
            </a:r>
          </a:p>
        </p:txBody>
      </p:sp>
      <p:sp>
        <p:nvSpPr>
          <p:cNvPr id="220" name="Kontrol SSRF"/>
          <p:cNvSpPr/>
          <p:nvPr/>
        </p:nvSpPr>
        <p:spPr>
          <a:xfrm>
            <a:off x="9280931" y="5280660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555251" y="5554980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SSRF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555251" y="624078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URL webhook dan konektor menolak loopback dan link-local</a:t>
            </a:r>
          </a:p>
        </p:txBody>
      </p:sp>
      <p:sp>
        <p:nvSpPr>
          <p:cNvPr id="223" name="Kontrol Rahasia"/>
          <p:cNvSpPr/>
          <p:nvPr/>
        </p:nvSpPr>
        <p:spPr>
          <a:xfrm>
            <a:off x="13509917" y="5280660"/>
            <a:ext cx="3954665" cy="3291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3784237" y="5554980"/>
            <a:ext cx="34060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95" b="1">
                <a:solidFill>
                  <a:srgbClr val="0B75BB"/>
                </a:solidFill>
                <a:latin typeface="Arial"/>
              </a:rPr>
              <a:t>Rahasia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3784237" y="6240780"/>
            <a:ext cx="3406025" cy="21259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Fernet di database dengan rotasi kunci, backup harian terenkripsi (age), container non-root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20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Hasil audit dan kesiapan VAPT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Kartu Sudah diperbaiki"/>
          <p:cNvSpPr/>
          <p:nvPr/>
        </p:nvSpPr>
        <p:spPr>
          <a:xfrm>
            <a:off x="822959" y="1645919"/>
            <a:ext cx="8229600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165860" y="1947672"/>
            <a:ext cx="7543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Sudah diperbaiki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65860" y="2633471"/>
            <a:ext cx="7543800" cy="40187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Password akun uji lemah: direset acak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Sesi di localStorage: pindah ke cookie HttpOnly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Lockout per proses: pindah ke database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Dependensi rentan: pip-audit bersih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SSRF, unggahan tanpa batas, header keamanan: ditutup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Log audit: bisa difilter, diekspor, dan ekspor itu tercatat</a:t>
            </a:r>
          </a:p>
        </p:txBody>
      </p:sp>
      <p:sp>
        <p:nvSpPr>
          <p:cNvPr id="205" name="Kartu Perlu dilakukan di s"/>
          <p:cNvSpPr/>
          <p:nvPr/>
        </p:nvSpPr>
        <p:spPr>
          <a:xfrm>
            <a:off x="9395459" y="1645919"/>
            <a:ext cx="8065008" cy="52120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738359" y="1947672"/>
            <a:ext cx="7379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77" b="1">
                <a:solidFill>
                  <a:srgbClr val="0B2F6B"/>
                </a:solidFill>
                <a:latin typeface="Arial"/>
              </a:rPr>
              <a:t>Perlu dilakukan di server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738359" y="2633471"/>
            <a:ext cx="7379208" cy="40187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ITOC_ENV=production dan rahasia kuat di .env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HTTPS lewat Caddy atau nginx (contoh tersedia)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Verifikasi TLS konektor: aktifkan bila CA internal terpasang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Batasi akun Super Admin dan jadwalkan backup terenkripsi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912" b="0">
                <a:solidFill>
                  <a:srgbClr val="1F2937"/>
                </a:solidFill>
                <a:latin typeface="Arial"/>
              </a:rPr>
              <a:t>Salin backup ke penyimpanan lain</a:t>
            </a:r>
          </a:p>
        </p:txBody>
      </p:sp>
      <p:sp>
        <p:nvSpPr>
          <p:cNvPr id="208" name="Pesan kunci"/>
          <p:cNvSpPr/>
          <p:nvPr/>
        </p:nvSpPr>
        <p:spPr>
          <a:xfrm>
            <a:off x="822959" y="7132320"/>
            <a:ext cx="16641622" cy="16459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234439" y="7132320"/>
            <a:ext cx="15818662" cy="1645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Pesan kunci: </a:t>
            </a:r>
            <a:r>
              <a:rPr sz="1912" b="0">
                <a:solidFill>
                  <a:srgbClr val="FFFFFF"/>
                </a:solidFill>
                <a:latin typeface="Arial"/>
              </a:rPr>
              <a:t>Perbaikan kode sudah selesai; sisa pekerjaan ada di sisi server dan operasional.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21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Pemakaian sumber daya saat ini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Statistik 0,7 GB"/>
          <p:cNvSpPr/>
          <p:nvPr/>
        </p:nvSpPr>
        <p:spPr>
          <a:xfrm>
            <a:off x="822959" y="1645919"/>
            <a:ext cx="397763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97280" y="18516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0,7 GB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" y="299008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RAM total tiga container saat idle</a:t>
            </a:r>
          </a:p>
        </p:txBody>
      </p:sp>
      <p:sp>
        <p:nvSpPr>
          <p:cNvPr id="205" name="Statistik 50 MB"/>
          <p:cNvSpPr/>
          <p:nvPr/>
        </p:nvSpPr>
        <p:spPr>
          <a:xfrm>
            <a:off x="822959" y="4046220"/>
            <a:ext cx="397763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97280" y="42519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0B75BB"/>
                </a:solidFill>
                <a:latin typeface="Arial"/>
              </a:rPr>
              <a:t>50 MB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97280" y="539038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ukuran seluruh database</a:t>
            </a:r>
          </a:p>
        </p:txBody>
      </p:sp>
      <p:sp>
        <p:nvSpPr>
          <p:cNvPr id="208" name="Statistik &lt; 1%"/>
          <p:cNvSpPr/>
          <p:nvPr/>
        </p:nvSpPr>
        <p:spPr>
          <a:xfrm>
            <a:off x="822959" y="6446520"/>
            <a:ext cx="3977639" cy="21259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97280" y="66522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10" b="1">
                <a:solidFill>
                  <a:srgbClr val="2FB67C"/>
                </a:solidFill>
                <a:latin typeface="Arial"/>
              </a:rPr>
              <a:t>&lt; 1%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97280" y="779068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7" b="0">
                <a:solidFill>
                  <a:srgbClr val="6B7280"/>
                </a:solidFill>
                <a:latin typeface="Arial"/>
              </a:rPr>
              <a:t>CPU saat idle</a:t>
            </a:r>
          </a:p>
        </p:txBody>
      </p:sp>
      <p:graphicFrame>
        <p:nvGraphicFramePr>
          <p:cNvPr id="211" name="Table 210"/>
          <p:cNvGraphicFramePr>
            <a:graphicFrameLocks noGrp="1"/>
          </p:cNvGraphicFramePr>
          <p:nvPr/>
        </p:nvGraphicFramePr>
        <p:xfrm>
          <a:off x="5349240" y="1645919"/>
          <a:ext cx="12111227" cy="2688336"/>
        </p:xfrm>
        <a:graphic>
          <a:graphicData uri="http://schemas.openxmlformats.org/drawingml/2006/table">
            <a:tbl>
              <a:tblPr firstRow="0" bandRow="0"/>
              <a:tblGrid>
                <a:gridCol w="5486400"/>
                <a:gridCol w="3291839"/>
                <a:gridCol w="333298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Komponen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api (2 proses uvicorn)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290 MB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worker (penjadwal)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225 MB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0,01%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db (PostgreSQL 16)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158 MB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" name="Table 211"/>
          <p:cNvGraphicFramePr>
            <a:graphicFrameLocks noGrp="1"/>
          </p:cNvGraphicFramePr>
          <p:nvPr/>
        </p:nvGraphicFramePr>
        <p:xfrm>
          <a:off x="5349240" y="4869180"/>
          <a:ext cx="12111228" cy="2688336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2468880"/>
                <a:gridCol w="2468880"/>
                <a:gridCol w="278434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Waktu respons halaman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30 hari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90 hari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FFFFFF"/>
                          </a:solidFill>
                          <a:latin typeface="Arial"/>
                        </a:rPr>
                        <a:t>365 hari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Overview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0,8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1,5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3,7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0,5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0,7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3,3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84" b="1">
                          <a:solidFill>
                            <a:srgbClr val="1F2937"/>
                          </a:solidFill>
                          <a:latin typeface="Arial"/>
                        </a:rPr>
                        <a:t>Devices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0,2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0,5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84" b="0">
                          <a:solidFill>
                            <a:srgbClr val="1F2937"/>
                          </a:solidFill>
                          <a:latin typeface="Arial"/>
                        </a:rPr>
                        <a:t>0,5 dtk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3" name="TextBox 212"/>
          <p:cNvSpPr txBox="1"/>
          <p:nvPr/>
        </p:nvSpPr>
        <p:spPr>
          <a:xfrm>
            <a:off x="5349240" y="8023860"/>
            <a:ext cx="1211534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84" b="1">
                <a:solidFill>
                  <a:srgbClr val="0B2F6B"/>
                </a:solidFill>
                <a:latin typeface="Arial"/>
              </a:rPr>
              <a:t>Beban terbesar </a:t>
            </a:r>
            <a:r>
              <a:rPr sz="1784" b="0">
                <a:solidFill>
                  <a:srgbClr val="1F2937"/>
                </a:solidFill>
                <a:latin typeface="Arial"/>
              </a:rPr>
              <a:t>ada pada Overview dan Report berentang panjang: satu permintaan memakai satu inti CPU selama beberapa detik.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22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Kebutuhan server: tiga skala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822959" y="1645919"/>
          <a:ext cx="16637506" cy="359359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7269479"/>
                <a:gridCol w="1645919"/>
                <a:gridCol w="2057400"/>
                <a:gridCol w="292150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Skala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Kondisi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vCPU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Disk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Minimum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Seperti sekarang: sampai 10 pengguna, 12 server Milestone, sekitar 1.800 perangkat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4 GB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40 GB SSD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Rekomendasi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Sampai 50 pengguna bersamaan, sumber data 3 kali lipat, 3 sampai 5 tahun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8 GB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100 GB SSD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Besar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200 pengguna atau lebih, lebih dari 10.000 perangkat, lebih dari 500 sensor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16 GB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250 GB NVMe, DB terpisah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Kartu Alasan CPU dan RAM"/>
          <p:cNvSpPr/>
          <p:nvPr/>
        </p:nvSpPr>
        <p:spPr>
          <a:xfrm>
            <a:off x="822959" y="5829300"/>
            <a:ext cx="5318607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65860" y="6131052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67" b="1">
                <a:solidFill>
                  <a:srgbClr val="0B2F6B"/>
                </a:solidFill>
                <a:latin typeface="Arial"/>
              </a:rPr>
              <a:t>Alasan CPU dan RAM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65860" y="6816852"/>
            <a:ext cx="4632807" cy="2235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Laporan 365 hari memakai satu inti 3 sampai 4 detik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4 inti untuk 4 proses API dan sinkron latar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RAM 8 GB: aplikasi 0,7 GB, sisanya cache PostgreSQL</a:t>
            </a:r>
          </a:p>
        </p:txBody>
      </p:sp>
      <p:sp>
        <p:nvSpPr>
          <p:cNvPr id="206" name="Kartu Disk dan pertumbuhan"/>
          <p:cNvSpPr/>
          <p:nvPr/>
        </p:nvSpPr>
        <p:spPr>
          <a:xfrm>
            <a:off x="6484467" y="5829300"/>
            <a:ext cx="5318607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827367" y="6131052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67" b="1">
                <a:solidFill>
                  <a:srgbClr val="0B2F6B"/>
                </a:solidFill>
                <a:latin typeface="Arial"/>
              </a:rPr>
              <a:t>Disk dan pertumbuhan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827367" y="6816852"/>
            <a:ext cx="4632807" cy="2235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Database tumbuh 150 sampai 250 MB per tahun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5 tahun masih di bawah 1,5 GB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Sisa disk untuk sistem, Docker, dan backup 30 hari</a:t>
            </a:r>
          </a:p>
        </p:txBody>
      </p:sp>
      <p:sp>
        <p:nvSpPr>
          <p:cNvPr id="209" name="Kartu Jaringan dan lingkun"/>
          <p:cNvSpPr/>
          <p:nvPr/>
        </p:nvSpPr>
        <p:spPr>
          <a:xfrm>
            <a:off x="12145975" y="5829300"/>
            <a:ext cx="5318607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2488875" y="6131052"/>
            <a:ext cx="46328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67" b="1">
                <a:solidFill>
                  <a:srgbClr val="0B2F6B"/>
                </a:solidFill>
                <a:latin typeface="Arial"/>
              </a:rPr>
              <a:t>Jaringan dan lingkungan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2488875" y="6816852"/>
            <a:ext cx="4632807" cy="22357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LAN 1 Gbps; lalu lintas rata-rata di bawah 1 Mbit/s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Akses ke tujuh sistem sumber, termasuk 12 server Milestone dan cloud Trend Micro</a:t>
            </a:r>
          </a:p>
          <a:p>
            <a:pPr marL="274320" indent="-274320">
              <a:spcAft>
                <a:spcPts val="900"/>
              </a:spcAft>
              <a:buClr>
                <a:srgbClr val="0B75BB"/>
              </a:buClr>
              <a:buFont typeface="Arial"/>
              <a:buChar char="•"/>
            </a:pPr>
            <a:r>
              <a:rPr sz="1657" b="0">
                <a:solidFill>
                  <a:srgbClr val="1F2937"/>
                </a:solidFill>
                <a:latin typeface="Arial"/>
              </a:rPr>
              <a:t>Ubuntu LTS, Docker, HTTPS, IP tetap, NTP WIB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Deployment dan operasi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822959" y="1714500"/>
            <a:ext cx="3840479" cy="19888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60119" y="1824228"/>
            <a:ext cx="3566159" cy="1769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0B2F6B"/>
                </a:solidFill>
                <a:latin typeface="Arial"/>
              </a:rPr>
              <a:t>db</a:t>
            </a:r>
          </a:p>
          <a:p>
            <a:pPr algn="ctr"/>
            <a:r>
              <a:rPr sz="1530" b="0">
                <a:solidFill>
                  <a:srgbClr val="6B7280"/>
                </a:solidFill>
                <a:latin typeface="Arial"/>
              </a:rPr>
              <a:t>PostgreSQL 16</a:t>
            </a:r>
          </a:p>
          <a:p>
            <a:pPr algn="ctr"/>
            <a:r>
              <a:rPr sz="1530" b="0">
                <a:solidFill>
                  <a:srgbClr val="6B7280"/>
                </a:solidFill>
                <a:latin typeface="Arial"/>
              </a:rPr>
              <a:t>hanya 127.0.0.1, volume data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937760" y="1714500"/>
            <a:ext cx="3840479" cy="198881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5074920" y="1824228"/>
            <a:ext cx="3566159" cy="1769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FFFFFF"/>
                </a:solidFill>
                <a:latin typeface="Arial"/>
              </a:rPr>
              <a:t>api</a:t>
            </a:r>
          </a:p>
          <a:p>
            <a:pPr algn="ctr"/>
            <a:r>
              <a:rPr sz="1530" b="0">
                <a:solidFill>
                  <a:srgbClr val="CFE3F5"/>
                </a:solidFill>
                <a:latin typeface="Arial"/>
              </a:rPr>
              <a:t>FastAPI + Uvicorn</a:t>
            </a:r>
          </a:p>
          <a:p>
            <a:pPr algn="ctr"/>
            <a:r>
              <a:rPr sz="1530" b="0">
                <a:solidFill>
                  <a:srgbClr val="CFE3F5"/>
                </a:solidFill>
                <a:latin typeface="Arial"/>
              </a:rPr>
              <a:t>non-root, healthcheck, migrasi otomatis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9052559" y="1714500"/>
            <a:ext cx="3840479" cy="19888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189719" y="1824228"/>
            <a:ext cx="3566159" cy="1769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0B2F6B"/>
                </a:solidFill>
                <a:latin typeface="Arial"/>
              </a:rPr>
              <a:t>worker</a:t>
            </a:r>
          </a:p>
          <a:p>
            <a:pPr algn="ctr"/>
            <a:r>
              <a:rPr sz="1530" b="0">
                <a:solidFill>
                  <a:srgbClr val="6B7280"/>
                </a:solidFill>
                <a:latin typeface="Arial"/>
              </a:rPr>
              <a:t>Penjadwal sinkron</a:t>
            </a:r>
          </a:p>
          <a:p>
            <a:pPr algn="ctr"/>
            <a:r>
              <a:rPr sz="1530" b="0">
                <a:solidFill>
                  <a:srgbClr val="6B7280"/>
                </a:solidFill>
                <a:latin typeface="Arial"/>
              </a:rPr>
              <a:t>APScheduler, jam tetap dan interval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3235940" y="1714500"/>
            <a:ext cx="4224528" cy="1988819"/>
          </a:xfrm>
          <a:prstGeom prst="roundRect">
            <a:avLst>
              <a:gd name="adj" fmla="val 5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3373100" y="1824228"/>
            <a:ext cx="3950208" cy="1769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12" b="1">
                <a:solidFill>
                  <a:srgbClr val="FFFFFF"/>
                </a:solidFill>
                <a:latin typeface="Arial"/>
              </a:rPr>
              <a:t>Caddy / nginx</a:t>
            </a:r>
          </a:p>
          <a:p>
            <a:pPr algn="ctr"/>
            <a:r>
              <a:rPr sz="1530" b="0">
                <a:solidFill>
                  <a:srgbClr val="E6F4FB"/>
                </a:solidFill>
                <a:latin typeface="Arial"/>
              </a:rPr>
              <a:t>HTTPS, header keamanan</a:t>
            </a:r>
          </a:p>
          <a:p>
            <a:pPr algn="ctr"/>
            <a:r>
              <a:rPr sz="1530" b="0">
                <a:solidFill>
                  <a:srgbClr val="E6F4FB"/>
                </a:solidFill>
                <a:latin typeface="Arial"/>
              </a:rPr>
              <a:t>(profil opsional)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22959" y="4251960"/>
            <a:ext cx="82296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Konfigurasi: </a:t>
            </a:r>
            <a:r>
              <a:rPr sz="1784" b="0">
                <a:solidFill>
                  <a:srgbClr val="1F2937"/>
                </a:solidFill>
                <a:latin typeface="Arial"/>
              </a:rPr>
              <a:t>rahasia di .env, parameter bisnis di database lewat menu Admin.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Perintah: </a:t>
            </a:r>
            <a:r>
              <a:rPr sz="1784" b="0">
                <a:solidFill>
                  <a:srgbClr val="1F2937"/>
                </a:solidFill>
                <a:latin typeface="Arial"/>
              </a:rPr>
              <a:t>migrate, seed-config, create-user, sync, security-check, rotate-key.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Pemantauan: </a:t>
            </a:r>
            <a:r>
              <a:rPr sz="1784" b="0">
                <a:solidFill>
                  <a:srgbClr val="1F2937"/>
                </a:solidFill>
                <a:latin typeface="Arial"/>
              </a:rPr>
              <a:t>Source Status di Admin, log sinkron, audit log, waktu build di footer.</a:t>
            </a:r>
          </a:p>
          <a:p>
            <a:pPr marL="274320" indent="-274320">
              <a:spcAft>
                <a:spcPts val="1500"/>
              </a:spcAft>
              <a:buClr>
                <a:srgbClr val="0B75BB"/>
              </a:buClr>
              <a:buFont typeface="Arial"/>
              <a:buChar char="•"/>
            </a:pPr>
            <a:r>
              <a:rPr sz="1784" b="1">
                <a:solidFill>
                  <a:srgbClr val="1F2937"/>
                </a:solidFill>
                <a:latin typeface="Arial"/>
              </a:rPr>
              <a:t>Backup: </a:t>
            </a:r>
            <a:r>
              <a:rPr sz="1784" b="0">
                <a:solidFill>
                  <a:srgbClr val="1F2937"/>
                </a:solidFill>
                <a:latin typeface="Arial"/>
              </a:rPr>
              <a:t>harian, terenkripsi, dengan panduan pemulihan.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395459" y="4251960"/>
            <a:ext cx="8065008" cy="4526279"/>
          </a:xfrm>
          <a:prstGeom prst="roundRect">
            <a:avLst>
              <a:gd name="adj" fmla="val 5000"/>
            </a:avLst>
          </a:prstGeom>
          <a:solidFill>
            <a:srgbClr val="0B2F6B"/>
          </a:solidFill>
          <a:ln>
            <a:noFill/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738359" y="44577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12" b="1">
                <a:solidFill>
                  <a:srgbClr val="25B7E5"/>
                </a:solidFill>
                <a:latin typeface="Arial"/>
              </a:rPr>
              <a:t>Perintah yang sering dipakai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59" y="5143500"/>
            <a:ext cx="740664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57" b="0">
                <a:solidFill>
                  <a:srgbClr val="FFFFFF"/>
                </a:solidFill>
                <a:latin typeface="Arial"/>
              </a:rPr>
              <a:t>docker compose up -d --build api worker</a:t>
            </a:r>
          </a:p>
          <a:p>
            <a:pPr algn="l">
              <a:spcAft>
                <a:spcPts val="1200"/>
              </a:spcAft>
            </a:pPr>
            <a:r>
              <a:rPr sz="1657" b="0">
                <a:solidFill>
                  <a:srgbClr val="FFFFFF"/>
                </a:solidFill>
                <a:latin typeface="Arial"/>
              </a:rPr>
              <a:t>docker compose exec api python -m app.cli security-check</a:t>
            </a:r>
          </a:p>
          <a:p>
            <a:pPr algn="l">
              <a:spcAft>
                <a:spcPts val="1200"/>
              </a:spcAft>
            </a:pPr>
            <a:r>
              <a:rPr sz="1657" b="0">
                <a:solidFill>
                  <a:srgbClr val="FFFFFF"/>
                </a:solidFill>
                <a:latin typeface="Arial"/>
              </a:rPr>
              <a:t>docker compose exec api python -m app.cli sync zabbix</a:t>
            </a:r>
          </a:p>
          <a:p>
            <a:pPr algn="l">
              <a:spcAft>
                <a:spcPts val="1200"/>
              </a:spcAft>
            </a:pPr>
            <a:r>
              <a:rPr sz="1657" b="0">
                <a:solidFill>
                  <a:srgbClr val="FFFFFF"/>
                </a:solidFill>
                <a:latin typeface="Arial"/>
              </a:rPr>
              <a:t>docker compose logs worker --tail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24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Batasan yang perlu diketahui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822959" y="1645919"/>
          <a:ext cx="16637506" cy="6720834"/>
        </p:xfrm>
        <a:graphic>
          <a:graphicData uri="http://schemas.openxmlformats.org/drawingml/2006/table">
            <a:tbl>
              <a:tblPr firstRow="0" bandRow="0"/>
              <a:tblGrid>
                <a:gridCol w="3840479"/>
                <a:gridCol w="7955279"/>
                <a:gridCol w="4841748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Batasan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FFFFFF"/>
                          </a:solidFill>
                          <a:latin typeface="Arial"/>
                        </a:rPr>
                        <a:t>Dampak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0B2F6B"/>
                    </a:solidFill>
                  </a:tcPr>
                </a:tc>
              </a:tr>
              <a:tr h="1014983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API tidak melaporkan status live; Trisakti belum punya REST API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Online dari Zabbix; satu server belum masuk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4983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Lisensi Milestone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Akun Basic user ditolak membaca data lisensi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Total lisensi diisi manual per server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1014983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Status online kamera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Baru sekitar 20% kamera cocok dengan Zabbix lewat IP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Sisanya tanpa status sampai nama diseragamkan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4983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Panorama via API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Dynamic report meringkas IP ke blok /24 dan tanpa nama host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Detail host lebih kasar daripada CSV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1014983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WiFi portal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vSZ hanya menampilkan username bila otentikasi lewat vSZ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Portal di luar vSZ tampil belum login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4983">
                <a:tc>
                  <a:txBody>
                    <a:bodyPr wrap="square"/>
                    <a:lstStyle/>
                    <a:p>
                      <a:r>
                        <a:rPr sz="1912" b="1">
                          <a:solidFill>
                            <a:srgbClr val="1F2937"/>
                          </a:solidFill>
                          <a:latin typeface="Arial"/>
                        </a:rPr>
                        <a:t>TLS konektor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Sertifikat internal membuat verifikasi dimatikan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12" b="0">
                          <a:solidFill>
                            <a:srgbClr val="1F2937"/>
                          </a:solidFill>
                          <a:latin typeface="Arial"/>
                        </a:rPr>
                        <a:t>Risiko penyadapan di jaringan internal</a:t>
                      </a: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2EC"/>
                      </a:solidFill>
                      <a:prstDash val="soli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6945477" y="9478984"/>
            <a:ext cx="56388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25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Langkah berikutnya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Langkah 1"/>
          <p:cNvSpPr/>
          <p:nvPr/>
        </p:nvSpPr>
        <p:spPr>
          <a:xfrm>
            <a:off x="822959" y="1645919"/>
            <a:ext cx="1664162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65860" y="1933955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3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194560" y="1783080"/>
            <a:ext cx="438912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B2F6B"/>
                </a:solidFill>
                <a:latin typeface="Arial"/>
              </a:rPr>
              <a:t>Push dan review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720840" y="1783080"/>
            <a:ext cx="1046942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Push branch TERA-Dashboard oleh pemilik repo, buka PR ke main, review kode dan migrasi</a:t>
            </a:r>
          </a:p>
        </p:txBody>
      </p:sp>
      <p:sp>
        <p:nvSpPr>
          <p:cNvPr id="206" name="Langkah 2"/>
          <p:cNvSpPr/>
          <p:nvPr/>
        </p:nvSpPr>
        <p:spPr>
          <a:xfrm>
            <a:off x="822959" y="3113532"/>
            <a:ext cx="1664162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165860" y="3401568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3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194560" y="3250692"/>
            <a:ext cx="438912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B2F6B"/>
                </a:solidFill>
                <a:latin typeface="Arial"/>
              </a:rPr>
              <a:t>Server dan VAPT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720840" y="3250692"/>
            <a:ext cx="1046942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Siapkan server sesuai rekomendasi, HTTPS, rahasia kuat, security-check bersih, backup di luar server</a:t>
            </a:r>
          </a:p>
        </p:txBody>
      </p:sp>
      <p:sp>
        <p:nvSpPr>
          <p:cNvPr id="210" name="Langkah 3"/>
          <p:cNvSpPr/>
          <p:nvPr/>
        </p:nvSpPr>
        <p:spPr>
          <a:xfrm>
            <a:off x="822959" y="4581144"/>
            <a:ext cx="1664162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165860" y="4869180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3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194560" y="4718304"/>
            <a:ext cx="438912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B2F6B"/>
                </a:solidFill>
                <a:latin typeface="Arial"/>
              </a:rPr>
              <a:t>Uji penerimaan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720840" y="4718304"/>
            <a:ext cx="1046942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Operator shift dan koordinator mencoba semua menu, laporan, dan serah terima; uji beban singkat</a:t>
            </a:r>
          </a:p>
        </p:txBody>
      </p:sp>
      <p:sp>
        <p:nvSpPr>
          <p:cNvPr id="214" name="Langkah 4"/>
          <p:cNvSpPr/>
          <p:nvPr/>
        </p:nvSpPr>
        <p:spPr>
          <a:xfrm>
            <a:off x="822959" y="6048756"/>
            <a:ext cx="1664162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165860" y="6336792"/>
            <a:ext cx="685800" cy="685800"/>
          </a:xfrm>
          <a:prstGeom prst="ellipse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39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194560" y="6185916"/>
            <a:ext cx="438912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B2F6B"/>
                </a:solidFill>
                <a:latin typeface="Arial"/>
              </a:rPr>
              <a:t>Go-live bertahap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720840" y="6185916"/>
            <a:ext cx="1046942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Aktifkan role per kelompok, pantau sinkron dan audit log</a:t>
            </a:r>
          </a:p>
        </p:txBody>
      </p:sp>
      <p:sp>
        <p:nvSpPr>
          <p:cNvPr id="218" name="Langkah 5"/>
          <p:cNvSpPr/>
          <p:nvPr/>
        </p:nvSpPr>
        <p:spPr>
          <a:xfrm>
            <a:off x="822959" y="7516368"/>
            <a:ext cx="1664162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>
            <a:outerShdw blurRad="101600" dist="25400" dir="5400000" algn="t" rotWithShape="0">
              <a:srgbClr val="0B2F6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65860" y="7804404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39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194560" y="7653528"/>
            <a:ext cx="438912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0B2F6B"/>
                </a:solidFill>
                <a:latin typeface="Arial"/>
              </a:rPr>
              <a:t>Usulan lanjutan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720840" y="7653528"/>
            <a:ext cx="1046942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12" b="0">
                <a:solidFill>
                  <a:srgbClr val="1F2937"/>
                </a:solidFill>
                <a:latin typeface="Arial"/>
              </a:rPr>
              <a:t>TERA Console terpisah, konektor REST generik, favicon vektor, penamaan kamera seragam dengan Zabbix, lisensi Milestone otomatis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1913</Words>
  <Application>Microsoft Office PowerPoint</Application>
  <PresentationFormat>Custom</PresentationFormat>
  <Paragraphs>1175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Andika Sandy Sutiawan</dc:creator>
  <cp:lastModifiedBy>Andika Sandy Sutiawan</cp:lastModifiedBy>
  <cp:revision>9</cp:revision>
  <dcterms:created xsi:type="dcterms:W3CDTF">2006-08-16T00:00:00Z</dcterms:created>
  <dcterms:modified xsi:type="dcterms:W3CDTF">2026-10-18T17:22:29Z</dcterms:modified>
</cp:coreProperties>
</file>