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4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5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6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7" r:id="rId4"/>
    <p:sldId id="268" r:id="rId5"/>
    <p:sldId id="269" r:id="rId6"/>
    <p:sldId id="270" r:id="rId7"/>
    <p:sldId id="273" r:id="rId8"/>
    <p:sldId id="274" r:id="rId9"/>
    <p:sldId id="271" r:id="rId10"/>
    <p:sldId id="272" r:id="rId11"/>
  </p:sldIdLst>
  <p:sldSz cx="18288000" cy="10287000"/>
  <p:notesSz cx="6858000" cy="9144000"/>
  <p:embeddedFontLst>
    <p:embeddedFont>
      <p:font typeface="Montserrat" panose="000005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0MzjfnR98qwBSfw9Js9uMyno1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828" y="3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customschemas.google.com/relationships/presentationmetadata" Target="meta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.ITOC\8.Agustus\Ticketing%20September%20202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.ITOC\8.Agustus\Ticketing%20September%202026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.ITOC\8.Agustus\Ticketing%20September%202026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.ITOC\8.Agustus\Ticketing%20September%202026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.ITOC\8.Agustus\Ticketing%20September%202026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.ITOC\8.Agustus\Ticketing%20September%202026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.ITOC\8.Agustus\Ticketing%20September%202026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.ITOC\8.Agustus\Ticketing%20September%202026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.ITOC\8.Agustus\Ticketing%20September%202026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.ITOC\8.Agustus\Ticketing%20September%202026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.ITOC\8.Agustus\Ticketing%20September%202026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.ITOC\8.Agustus\Ticketing%20September%202026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.ITOC\8.Agustus\Ticketing%20September%202026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.ITOC\8.Agustus\Ticketing%20September%202026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.ITOC\8.Agustus\Ticketing%20September%202026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.ITOC\8.Agustus\Ticketing%20September%202026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.ITOC\8.Agustus\Ticketing%20September%202026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Daily Request Volume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Requests Created</c:v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AE0-4D29-A81D-10A07D4FD29D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AE0-4D29-A81D-10A07D4FD29D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AE0-4D29-A81D-10A07D4FD29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AE0-4D29-A81D-10A07D4FD29D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AE0-4D29-A81D-10A07D4FD29D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1AE0-4D29-A81D-10A07D4FD29D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1AE0-4D29-A81D-10A07D4FD29D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1AE0-4D29-A81D-10A07D4FD29D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1AE0-4D29-A81D-10A07D4FD29D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1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1AE0-4D29-A81D-10A07D4FD29D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3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1AE0-4D29-A81D-10A07D4FD29D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5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1AE0-4D29-A81D-10A07D4FD29D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1AE0-4D29-A81D-10A07D4FD29D}"/>
              </c:ext>
            </c:extLst>
          </c:dPt>
          <c:dPt>
            <c:idx val="13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1AE0-4D29-A81D-10A07D4FD29D}"/>
              </c:ext>
            </c:extLst>
          </c:dPt>
          <c:dPt>
            <c:idx val="14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1AE0-4D29-A81D-10A07D4FD29D}"/>
              </c:ext>
            </c:extLst>
          </c:dPt>
          <c:dPt>
            <c:idx val="15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1AE0-4D29-A81D-10A07D4FD29D}"/>
              </c:ext>
            </c:extLst>
          </c:dPt>
          <c:dPt>
            <c:idx val="16"/>
            <c:invertIfNegative val="0"/>
            <c:bubble3D val="0"/>
            <c:spPr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1AE0-4D29-A81D-10A07D4FD29D}"/>
              </c:ext>
            </c:extLst>
          </c:dPt>
          <c:dPt>
            <c:idx val="17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1AE0-4D29-A81D-10A07D4FD29D}"/>
              </c:ext>
            </c:extLst>
          </c:dPt>
          <c:dPt>
            <c:idx val="18"/>
            <c:invertIfNegative val="0"/>
            <c:bubble3D val="0"/>
            <c:spPr>
              <a:solidFill>
                <a:schemeClr val="accent1">
                  <a:lumMod val="70000"/>
                  <a:lumOff val="3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1AE0-4D29-A81D-10A07D4FD29D}"/>
              </c:ext>
            </c:extLst>
          </c:dPt>
          <c:dPt>
            <c:idx val="19"/>
            <c:invertIfNegative val="0"/>
            <c:bubble3D val="0"/>
            <c:spPr>
              <a:solidFill>
                <a:schemeClr val="accent3">
                  <a:lumMod val="70000"/>
                  <a:lumOff val="3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1AE0-4D29-A81D-10A07D4FD29D}"/>
              </c:ext>
            </c:extLst>
          </c:dPt>
          <c:dPt>
            <c:idx val="20"/>
            <c:invertIfNegative val="0"/>
            <c:bubble3D val="0"/>
            <c:spPr>
              <a:solidFill>
                <a:schemeClr val="accent5">
                  <a:lumMod val="70000"/>
                  <a:lumOff val="3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1AE0-4D29-A81D-10A07D4FD29D}"/>
              </c:ext>
            </c:extLst>
          </c:dPt>
          <c:dPt>
            <c:idx val="21"/>
            <c:invertIfNegative val="0"/>
            <c:bubble3D val="0"/>
            <c:spPr>
              <a:solidFill>
                <a:schemeClr val="accent1">
                  <a:lumMod val="7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1AE0-4D29-A81D-10A07D4FD29D}"/>
              </c:ext>
            </c:extLst>
          </c:dPt>
          <c:dPt>
            <c:idx val="22"/>
            <c:invertIfNegative val="0"/>
            <c:bubble3D val="0"/>
            <c:spPr>
              <a:solidFill>
                <a:schemeClr val="accent3">
                  <a:lumMod val="7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1AE0-4D29-A81D-10A07D4FD29D}"/>
              </c:ext>
            </c:extLst>
          </c:dPt>
          <c:dPt>
            <c:idx val="23"/>
            <c:invertIfNegative val="0"/>
            <c:bubble3D val="0"/>
            <c:spPr>
              <a:solidFill>
                <a:schemeClr val="accent5">
                  <a:lumMod val="7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1AE0-4D29-A81D-10A07D4FD29D}"/>
              </c:ext>
            </c:extLst>
          </c:dPt>
          <c:dPt>
            <c:idx val="24"/>
            <c:invertIfNegative val="0"/>
            <c:bubble3D val="0"/>
            <c:spPr>
              <a:solidFill>
                <a:schemeClr val="accent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1AE0-4D29-A81D-10A07D4FD29D}"/>
              </c:ext>
            </c:extLst>
          </c:dPt>
          <c:dPt>
            <c:idx val="25"/>
            <c:invertIfNegative val="0"/>
            <c:bubble3D val="0"/>
            <c:spPr>
              <a:solidFill>
                <a:schemeClr val="accent3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1AE0-4D29-A81D-10A07D4FD29D}"/>
              </c:ext>
            </c:extLst>
          </c:dPt>
          <c:dPt>
            <c:idx val="26"/>
            <c:invertIfNegative val="0"/>
            <c:bubble3D val="0"/>
            <c:spPr>
              <a:solidFill>
                <a:schemeClr val="accent5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1AE0-4D29-A81D-10A07D4FD29D}"/>
              </c:ext>
            </c:extLst>
          </c:dPt>
          <c:dPt>
            <c:idx val="2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1AE0-4D29-A81D-10A07D4FD29D}"/>
              </c:ext>
            </c:extLst>
          </c:dPt>
          <c:dPt>
            <c:idx val="28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1AE0-4D29-A81D-10A07D4FD29D}"/>
              </c:ext>
            </c:extLst>
          </c:dPt>
          <c:dPt>
            <c:idx val="29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1AE0-4D29-A81D-10A07D4FD29D}"/>
              </c:ext>
            </c:extLst>
          </c:dPt>
          <c:cat>
            <c:numRef>
              <c:f>Calc!$A$21:$A$50</c:f>
              <c:numCache>
                <c:formatCode>d\-mmm</c:formatCode>
                <c:ptCount val="30"/>
                <c:pt idx="0">
                  <c:v>46266</c:v>
                </c:pt>
                <c:pt idx="1">
                  <c:v>46267</c:v>
                </c:pt>
                <c:pt idx="2">
                  <c:v>46268</c:v>
                </c:pt>
                <c:pt idx="3">
                  <c:v>46269</c:v>
                </c:pt>
                <c:pt idx="4">
                  <c:v>46270</c:v>
                </c:pt>
                <c:pt idx="5">
                  <c:v>46271</c:v>
                </c:pt>
                <c:pt idx="6">
                  <c:v>46272</c:v>
                </c:pt>
                <c:pt idx="7">
                  <c:v>46273</c:v>
                </c:pt>
                <c:pt idx="8">
                  <c:v>46274</c:v>
                </c:pt>
                <c:pt idx="9">
                  <c:v>46275</c:v>
                </c:pt>
                <c:pt idx="10">
                  <c:v>46276</c:v>
                </c:pt>
                <c:pt idx="11">
                  <c:v>46277</c:v>
                </c:pt>
                <c:pt idx="12">
                  <c:v>46278</c:v>
                </c:pt>
                <c:pt idx="13">
                  <c:v>46279</c:v>
                </c:pt>
                <c:pt idx="14">
                  <c:v>46280</c:v>
                </c:pt>
                <c:pt idx="15">
                  <c:v>46281</c:v>
                </c:pt>
                <c:pt idx="16">
                  <c:v>46282</c:v>
                </c:pt>
                <c:pt idx="17">
                  <c:v>46283</c:v>
                </c:pt>
                <c:pt idx="18">
                  <c:v>46284</c:v>
                </c:pt>
                <c:pt idx="19">
                  <c:v>46285</c:v>
                </c:pt>
                <c:pt idx="20">
                  <c:v>46286</c:v>
                </c:pt>
                <c:pt idx="21">
                  <c:v>46287</c:v>
                </c:pt>
                <c:pt idx="22">
                  <c:v>46288</c:v>
                </c:pt>
                <c:pt idx="23">
                  <c:v>46289</c:v>
                </c:pt>
                <c:pt idx="24">
                  <c:v>46290</c:v>
                </c:pt>
                <c:pt idx="25">
                  <c:v>46291</c:v>
                </c:pt>
                <c:pt idx="26">
                  <c:v>46292</c:v>
                </c:pt>
                <c:pt idx="27">
                  <c:v>46293</c:v>
                </c:pt>
                <c:pt idx="28">
                  <c:v>46294</c:v>
                </c:pt>
                <c:pt idx="29">
                  <c:v>46295</c:v>
                </c:pt>
              </c:numCache>
            </c:numRef>
          </c:cat>
          <c:val>
            <c:numRef>
              <c:f>Calc!$B$21:$B$50</c:f>
              <c:numCache>
                <c:formatCode>General</c:formatCode>
                <c:ptCount val="30"/>
                <c:pt idx="0">
                  <c:v>57</c:v>
                </c:pt>
                <c:pt idx="1">
                  <c:v>26</c:v>
                </c:pt>
                <c:pt idx="2">
                  <c:v>28</c:v>
                </c:pt>
                <c:pt idx="3">
                  <c:v>43</c:v>
                </c:pt>
                <c:pt idx="4">
                  <c:v>12</c:v>
                </c:pt>
                <c:pt idx="5">
                  <c:v>6</c:v>
                </c:pt>
                <c:pt idx="6">
                  <c:v>44</c:v>
                </c:pt>
                <c:pt idx="7">
                  <c:v>38</c:v>
                </c:pt>
                <c:pt idx="8">
                  <c:v>36</c:v>
                </c:pt>
                <c:pt idx="9">
                  <c:v>51</c:v>
                </c:pt>
                <c:pt idx="10">
                  <c:v>33</c:v>
                </c:pt>
                <c:pt idx="11">
                  <c:v>6</c:v>
                </c:pt>
                <c:pt idx="12">
                  <c:v>6</c:v>
                </c:pt>
                <c:pt idx="13">
                  <c:v>40</c:v>
                </c:pt>
                <c:pt idx="14">
                  <c:v>47</c:v>
                </c:pt>
                <c:pt idx="15">
                  <c:v>31</c:v>
                </c:pt>
                <c:pt idx="16">
                  <c:v>28</c:v>
                </c:pt>
                <c:pt idx="17">
                  <c:v>28</c:v>
                </c:pt>
                <c:pt idx="18">
                  <c:v>9</c:v>
                </c:pt>
                <c:pt idx="19">
                  <c:v>6</c:v>
                </c:pt>
                <c:pt idx="20">
                  <c:v>32</c:v>
                </c:pt>
                <c:pt idx="21">
                  <c:v>35</c:v>
                </c:pt>
                <c:pt idx="22">
                  <c:v>40</c:v>
                </c:pt>
                <c:pt idx="23">
                  <c:v>28</c:v>
                </c:pt>
                <c:pt idx="24">
                  <c:v>22</c:v>
                </c:pt>
                <c:pt idx="25">
                  <c:v>14</c:v>
                </c:pt>
                <c:pt idx="26">
                  <c:v>5</c:v>
                </c:pt>
                <c:pt idx="27">
                  <c:v>34</c:v>
                </c:pt>
                <c:pt idx="28">
                  <c:v>28</c:v>
                </c:pt>
                <c:pt idx="29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C-1AE0-4D29-A81D-10A07D4FD2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10"/>
        <c:axId val="100"/>
      </c:barChart>
      <c:dateAx>
        <c:axId val="10"/>
        <c:scaling>
          <c:orientation val="minMax"/>
        </c:scaling>
        <c:delete val="0"/>
        <c:axPos val="b"/>
        <c:numFmt formatCode="d\-m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"/>
        <c:crosses val="autoZero"/>
        <c:auto val="1"/>
        <c:lblOffset val="100"/>
        <c:baseTimeUnit val="days"/>
      </c:dateAx>
      <c:valAx>
        <c:axId val="1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shade val="95000"/>
                  <a:satMod val="10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Top Categories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v>Request Count</c:v>
          </c:tx>
          <c:invertIfNegative val="1"/>
          <c:dPt>
            <c:idx val="0"/>
            <c:invertIfNegative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D09-4703-ADD8-A7E377E20900}"/>
              </c:ext>
            </c:extLst>
          </c:dPt>
          <c:dPt>
            <c:idx val="1"/>
            <c:invertIfNegative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D09-4703-ADD8-A7E377E20900}"/>
              </c:ext>
            </c:extLst>
          </c:dPt>
          <c:dPt>
            <c:idx val="2"/>
            <c:invertIfNegative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D09-4703-ADD8-A7E377E20900}"/>
              </c:ext>
            </c:extLst>
          </c:dPt>
          <c:dPt>
            <c:idx val="3"/>
            <c:invertIfNegative val="1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D09-4703-ADD8-A7E377E20900}"/>
              </c:ext>
            </c:extLst>
          </c:dPt>
          <c:dPt>
            <c:idx val="4"/>
            <c:invertIfNegative val="1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D09-4703-ADD8-A7E377E20900}"/>
              </c:ext>
            </c:extLst>
          </c:dPt>
          <c:dPt>
            <c:idx val="5"/>
            <c:invertIfNegative val="1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D09-4703-ADD8-A7E377E20900}"/>
              </c:ext>
            </c:extLst>
          </c:dPt>
          <c:dPt>
            <c:idx val="6"/>
            <c:invertIfNegative val="1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8D09-4703-ADD8-A7E377E20900}"/>
              </c:ext>
            </c:extLst>
          </c:dPt>
          <c:dPt>
            <c:idx val="7"/>
            <c:invertIfNegative val="1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8D09-4703-ADD8-A7E377E209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shade val="95000"/>
                          <a:satMod val="10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Calc!$S$21:$S$28</c:f>
              <c:strCache>
                <c:ptCount val="8"/>
                <c:pt idx="0">
                  <c:v>Network</c:v>
                </c:pt>
                <c:pt idx="1">
                  <c:v>General</c:v>
                </c:pt>
                <c:pt idx="2">
                  <c:v>Hardware</c:v>
                </c:pt>
                <c:pt idx="3">
                  <c:v>Project</c:v>
                </c:pt>
                <c:pt idx="4">
                  <c:v>Software</c:v>
                </c:pt>
                <c:pt idx="5">
                  <c:v>Desktop Hardware</c:v>
                </c:pt>
                <c:pt idx="6">
                  <c:v>Application</c:v>
                </c:pt>
                <c:pt idx="7">
                  <c:v>Not Assigned</c:v>
                </c:pt>
              </c:strCache>
            </c:strRef>
          </c:cat>
          <c:val>
            <c:numRef>
              <c:f>Calc!$T$21:$T$28</c:f>
              <c:numCache>
                <c:formatCode>General</c:formatCode>
                <c:ptCount val="8"/>
                <c:pt idx="0">
                  <c:v>262</c:v>
                </c:pt>
                <c:pt idx="1">
                  <c:v>170</c:v>
                </c:pt>
                <c:pt idx="2">
                  <c:v>144</c:v>
                </c:pt>
                <c:pt idx="3">
                  <c:v>105</c:v>
                </c:pt>
                <c:pt idx="4">
                  <c:v>58</c:v>
                </c:pt>
                <c:pt idx="5">
                  <c:v>49</c:v>
                </c:pt>
                <c:pt idx="6">
                  <c:v>41</c:v>
                </c:pt>
                <c:pt idx="7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D09-4703-ADD8-A7E377E209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40"/>
        <c:axId val="10"/>
        <c:axId val="100"/>
      </c:barChart>
      <c:catAx>
        <c:axId val="1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shade val="95000"/>
                  <a:satMod val="10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Request Status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B60-40F8-BC02-EB7F90A71815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B60-40F8-BC02-EB7F90A71815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B60-40F8-BC02-EB7F90A71815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B60-40F8-BC02-EB7F90A7181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shade val="95000"/>
                      <a:satMod val="105000"/>
                    </a:schemeClr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Calc!$J$21:$J$24</c:f>
              <c:strCache>
                <c:ptCount val="4"/>
                <c:pt idx="0">
                  <c:v>Closed</c:v>
                </c:pt>
                <c:pt idx="1">
                  <c:v>Resolved</c:v>
                </c:pt>
                <c:pt idx="2">
                  <c:v>Onhold</c:v>
                </c:pt>
                <c:pt idx="3">
                  <c:v>Open</c:v>
                </c:pt>
              </c:strCache>
            </c:strRef>
          </c:cat>
          <c:val>
            <c:numRef>
              <c:f>Calc!$K$21:$K$24</c:f>
              <c:numCache>
                <c:formatCode>General</c:formatCode>
                <c:ptCount val="4"/>
                <c:pt idx="0">
                  <c:v>823</c:v>
                </c:pt>
                <c:pt idx="1">
                  <c:v>49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B60-40F8-BC02-EB7F90A7181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27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Requests Created per Day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Requests Created</c:v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DC6-46E7-A246-EBA689FE53B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DC6-46E7-A246-EBA689FE53B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DC6-46E7-A246-EBA689FE53B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DC6-46E7-A246-EBA689FE53BF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DC6-46E7-A246-EBA689FE53BF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5DC6-46E7-A246-EBA689FE53BF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5DC6-46E7-A246-EBA689FE53BF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5DC6-46E7-A246-EBA689FE53BF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5DC6-46E7-A246-EBA689FE53BF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1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5DC6-46E7-A246-EBA689FE53BF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3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5DC6-46E7-A246-EBA689FE53BF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5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5DC6-46E7-A246-EBA689FE53BF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5DC6-46E7-A246-EBA689FE53BF}"/>
              </c:ext>
            </c:extLst>
          </c:dPt>
          <c:dPt>
            <c:idx val="13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5DC6-46E7-A246-EBA689FE53BF}"/>
              </c:ext>
            </c:extLst>
          </c:dPt>
          <c:dPt>
            <c:idx val="14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5DC6-46E7-A246-EBA689FE53BF}"/>
              </c:ext>
            </c:extLst>
          </c:dPt>
          <c:dPt>
            <c:idx val="15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5DC6-46E7-A246-EBA689FE53BF}"/>
              </c:ext>
            </c:extLst>
          </c:dPt>
          <c:dPt>
            <c:idx val="16"/>
            <c:invertIfNegative val="0"/>
            <c:bubble3D val="0"/>
            <c:spPr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5DC6-46E7-A246-EBA689FE53BF}"/>
              </c:ext>
            </c:extLst>
          </c:dPt>
          <c:dPt>
            <c:idx val="17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5DC6-46E7-A246-EBA689FE53BF}"/>
              </c:ext>
            </c:extLst>
          </c:dPt>
          <c:dPt>
            <c:idx val="18"/>
            <c:invertIfNegative val="0"/>
            <c:bubble3D val="0"/>
            <c:spPr>
              <a:solidFill>
                <a:schemeClr val="accent1">
                  <a:lumMod val="70000"/>
                  <a:lumOff val="3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5DC6-46E7-A246-EBA689FE53BF}"/>
              </c:ext>
            </c:extLst>
          </c:dPt>
          <c:dPt>
            <c:idx val="19"/>
            <c:invertIfNegative val="0"/>
            <c:bubble3D val="0"/>
            <c:spPr>
              <a:solidFill>
                <a:schemeClr val="accent3">
                  <a:lumMod val="70000"/>
                  <a:lumOff val="3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5DC6-46E7-A246-EBA689FE53BF}"/>
              </c:ext>
            </c:extLst>
          </c:dPt>
          <c:dPt>
            <c:idx val="20"/>
            <c:invertIfNegative val="0"/>
            <c:bubble3D val="0"/>
            <c:spPr>
              <a:solidFill>
                <a:schemeClr val="accent5">
                  <a:lumMod val="70000"/>
                  <a:lumOff val="3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5DC6-46E7-A246-EBA689FE53BF}"/>
              </c:ext>
            </c:extLst>
          </c:dPt>
          <c:dPt>
            <c:idx val="21"/>
            <c:invertIfNegative val="0"/>
            <c:bubble3D val="0"/>
            <c:spPr>
              <a:solidFill>
                <a:schemeClr val="accent1">
                  <a:lumMod val="7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5DC6-46E7-A246-EBA689FE53BF}"/>
              </c:ext>
            </c:extLst>
          </c:dPt>
          <c:dPt>
            <c:idx val="22"/>
            <c:invertIfNegative val="0"/>
            <c:bubble3D val="0"/>
            <c:spPr>
              <a:solidFill>
                <a:schemeClr val="accent3">
                  <a:lumMod val="7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5DC6-46E7-A246-EBA689FE53BF}"/>
              </c:ext>
            </c:extLst>
          </c:dPt>
          <c:dPt>
            <c:idx val="23"/>
            <c:invertIfNegative val="0"/>
            <c:bubble3D val="0"/>
            <c:spPr>
              <a:solidFill>
                <a:schemeClr val="accent5">
                  <a:lumMod val="7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5DC6-46E7-A246-EBA689FE53BF}"/>
              </c:ext>
            </c:extLst>
          </c:dPt>
          <c:dPt>
            <c:idx val="24"/>
            <c:invertIfNegative val="0"/>
            <c:bubble3D val="0"/>
            <c:spPr>
              <a:solidFill>
                <a:schemeClr val="accent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5DC6-46E7-A246-EBA689FE53BF}"/>
              </c:ext>
            </c:extLst>
          </c:dPt>
          <c:dPt>
            <c:idx val="25"/>
            <c:invertIfNegative val="0"/>
            <c:bubble3D val="0"/>
            <c:spPr>
              <a:solidFill>
                <a:schemeClr val="accent3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5DC6-46E7-A246-EBA689FE53BF}"/>
              </c:ext>
            </c:extLst>
          </c:dPt>
          <c:dPt>
            <c:idx val="26"/>
            <c:invertIfNegative val="0"/>
            <c:bubble3D val="0"/>
            <c:spPr>
              <a:solidFill>
                <a:schemeClr val="accent5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5DC6-46E7-A246-EBA689FE53BF}"/>
              </c:ext>
            </c:extLst>
          </c:dPt>
          <c:dPt>
            <c:idx val="2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5DC6-46E7-A246-EBA689FE53BF}"/>
              </c:ext>
            </c:extLst>
          </c:dPt>
          <c:dPt>
            <c:idx val="28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5DC6-46E7-A246-EBA689FE53BF}"/>
              </c:ext>
            </c:extLst>
          </c:dPt>
          <c:dPt>
            <c:idx val="29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5DC6-46E7-A246-EBA689FE53BF}"/>
              </c:ext>
            </c:extLst>
          </c:dPt>
          <c:cat>
            <c:numRef>
              <c:f>Trend_Analysis!$A$7:$A$36</c:f>
              <c:numCache>
                <c:formatCode>dd\-mmm\-yyyy</c:formatCode>
                <c:ptCount val="30"/>
                <c:pt idx="0">
                  <c:v>46266</c:v>
                </c:pt>
                <c:pt idx="1">
                  <c:v>46267</c:v>
                </c:pt>
                <c:pt idx="2">
                  <c:v>46268</c:v>
                </c:pt>
                <c:pt idx="3">
                  <c:v>46269</c:v>
                </c:pt>
                <c:pt idx="4">
                  <c:v>46270</c:v>
                </c:pt>
                <c:pt idx="5">
                  <c:v>46271</c:v>
                </c:pt>
                <c:pt idx="6">
                  <c:v>46272</c:v>
                </c:pt>
                <c:pt idx="7">
                  <c:v>46273</c:v>
                </c:pt>
                <c:pt idx="8">
                  <c:v>46274</c:v>
                </c:pt>
                <c:pt idx="9">
                  <c:v>46275</c:v>
                </c:pt>
                <c:pt idx="10">
                  <c:v>46276</c:v>
                </c:pt>
                <c:pt idx="11">
                  <c:v>46277</c:v>
                </c:pt>
                <c:pt idx="12">
                  <c:v>46278</c:v>
                </c:pt>
                <c:pt idx="13">
                  <c:v>46279</c:v>
                </c:pt>
                <c:pt idx="14">
                  <c:v>46280</c:v>
                </c:pt>
                <c:pt idx="15">
                  <c:v>46281</c:v>
                </c:pt>
                <c:pt idx="16">
                  <c:v>46282</c:v>
                </c:pt>
                <c:pt idx="17">
                  <c:v>46283</c:v>
                </c:pt>
                <c:pt idx="18">
                  <c:v>46284</c:v>
                </c:pt>
                <c:pt idx="19">
                  <c:v>46285</c:v>
                </c:pt>
                <c:pt idx="20">
                  <c:v>46286</c:v>
                </c:pt>
                <c:pt idx="21">
                  <c:v>46287</c:v>
                </c:pt>
                <c:pt idx="22">
                  <c:v>46288</c:v>
                </c:pt>
                <c:pt idx="23">
                  <c:v>46289</c:v>
                </c:pt>
                <c:pt idx="24">
                  <c:v>46290</c:v>
                </c:pt>
                <c:pt idx="25">
                  <c:v>46291</c:v>
                </c:pt>
                <c:pt idx="26">
                  <c:v>46292</c:v>
                </c:pt>
                <c:pt idx="27">
                  <c:v>46293</c:v>
                </c:pt>
                <c:pt idx="28">
                  <c:v>46294</c:v>
                </c:pt>
                <c:pt idx="29">
                  <c:v>46295</c:v>
                </c:pt>
              </c:numCache>
            </c:numRef>
          </c:cat>
          <c:val>
            <c:numRef>
              <c:f>Trend_Analysis!$B$7:$B$36</c:f>
              <c:numCache>
                <c:formatCode>General</c:formatCode>
                <c:ptCount val="30"/>
                <c:pt idx="0">
                  <c:v>57</c:v>
                </c:pt>
                <c:pt idx="1">
                  <c:v>26</c:v>
                </c:pt>
                <c:pt idx="2">
                  <c:v>28</c:v>
                </c:pt>
                <c:pt idx="3">
                  <c:v>43</c:v>
                </c:pt>
                <c:pt idx="4">
                  <c:v>12</c:v>
                </c:pt>
                <c:pt idx="5">
                  <c:v>6</c:v>
                </c:pt>
                <c:pt idx="6">
                  <c:v>44</c:v>
                </c:pt>
                <c:pt idx="7">
                  <c:v>38</c:v>
                </c:pt>
                <c:pt idx="8">
                  <c:v>36</c:v>
                </c:pt>
                <c:pt idx="9">
                  <c:v>51</c:v>
                </c:pt>
                <c:pt idx="10">
                  <c:v>33</c:v>
                </c:pt>
                <c:pt idx="11">
                  <c:v>6</c:v>
                </c:pt>
                <c:pt idx="12">
                  <c:v>6</c:v>
                </c:pt>
                <c:pt idx="13">
                  <c:v>40</c:v>
                </c:pt>
                <c:pt idx="14">
                  <c:v>47</c:v>
                </c:pt>
                <c:pt idx="15">
                  <c:v>31</c:v>
                </c:pt>
                <c:pt idx="16">
                  <c:v>28</c:v>
                </c:pt>
                <c:pt idx="17">
                  <c:v>28</c:v>
                </c:pt>
                <c:pt idx="18">
                  <c:v>9</c:v>
                </c:pt>
                <c:pt idx="19">
                  <c:v>6</c:v>
                </c:pt>
                <c:pt idx="20">
                  <c:v>32</c:v>
                </c:pt>
                <c:pt idx="21">
                  <c:v>35</c:v>
                </c:pt>
                <c:pt idx="22">
                  <c:v>40</c:v>
                </c:pt>
                <c:pt idx="23">
                  <c:v>28</c:v>
                </c:pt>
                <c:pt idx="24">
                  <c:v>22</c:v>
                </c:pt>
                <c:pt idx="25">
                  <c:v>14</c:v>
                </c:pt>
                <c:pt idx="26">
                  <c:v>5</c:v>
                </c:pt>
                <c:pt idx="27">
                  <c:v>34</c:v>
                </c:pt>
                <c:pt idx="28">
                  <c:v>28</c:v>
                </c:pt>
                <c:pt idx="29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C-5DC6-46E7-A246-EBA689FE53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10"/>
        <c:axId val="100"/>
      </c:barChart>
      <c:dateAx>
        <c:axId val="10"/>
        <c:scaling>
          <c:orientation val="minMax"/>
        </c:scaling>
        <c:delete val="0"/>
        <c:axPos val="b"/>
        <c:numFmt formatCode="dd\-mmm\-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"/>
        <c:crosses val="autoZero"/>
        <c:auto val="1"/>
        <c:lblOffset val="100"/>
        <c:baseTimeUnit val="days"/>
      </c:dateAx>
      <c:valAx>
        <c:axId val="1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shade val="95000"/>
                  <a:satMod val="10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Created Requests by Hour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Requests Created</c:v>
          </c:tx>
          <c:invertIfNegative val="1"/>
          <c:dPt>
            <c:idx val="0"/>
            <c:invertIfNegative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181-41D6-89B2-30B396F21D75}"/>
              </c:ext>
            </c:extLst>
          </c:dPt>
          <c:dPt>
            <c:idx val="1"/>
            <c:invertIfNegative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181-41D6-89B2-30B396F21D75}"/>
              </c:ext>
            </c:extLst>
          </c:dPt>
          <c:dPt>
            <c:idx val="2"/>
            <c:invertIfNegative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181-41D6-89B2-30B396F21D75}"/>
              </c:ext>
            </c:extLst>
          </c:dPt>
          <c:dPt>
            <c:idx val="3"/>
            <c:invertIfNegative val="1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181-41D6-89B2-30B396F21D75}"/>
              </c:ext>
            </c:extLst>
          </c:dPt>
          <c:dPt>
            <c:idx val="4"/>
            <c:invertIfNegative val="1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181-41D6-89B2-30B396F21D75}"/>
              </c:ext>
            </c:extLst>
          </c:dPt>
          <c:dPt>
            <c:idx val="5"/>
            <c:invertIfNegative val="1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181-41D6-89B2-30B396F21D75}"/>
              </c:ext>
            </c:extLst>
          </c:dPt>
          <c:dPt>
            <c:idx val="6"/>
            <c:invertIfNegative val="1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0181-41D6-89B2-30B396F21D75}"/>
              </c:ext>
            </c:extLst>
          </c:dPt>
          <c:dPt>
            <c:idx val="7"/>
            <c:invertIfNegative val="1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181-41D6-89B2-30B396F21D75}"/>
              </c:ext>
            </c:extLst>
          </c:dPt>
          <c:dPt>
            <c:idx val="8"/>
            <c:invertIfNegative val="1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0181-41D6-89B2-30B396F21D75}"/>
              </c:ext>
            </c:extLst>
          </c:dPt>
          <c:dPt>
            <c:idx val="9"/>
            <c:invertIfNegative val="1"/>
            <c:bubble3D val="0"/>
            <c:spPr>
              <a:solidFill>
                <a:schemeClr val="accent1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0181-41D6-89B2-30B396F21D75}"/>
              </c:ext>
            </c:extLst>
          </c:dPt>
          <c:dPt>
            <c:idx val="10"/>
            <c:invertIfNegative val="1"/>
            <c:bubble3D val="0"/>
            <c:spPr>
              <a:solidFill>
                <a:schemeClr val="accent3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0181-41D6-89B2-30B396F21D75}"/>
              </c:ext>
            </c:extLst>
          </c:dPt>
          <c:dPt>
            <c:idx val="11"/>
            <c:invertIfNegative val="1"/>
            <c:bubble3D val="0"/>
            <c:spPr>
              <a:solidFill>
                <a:schemeClr val="accent5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0181-41D6-89B2-30B396F21D75}"/>
              </c:ext>
            </c:extLst>
          </c:dPt>
          <c:dPt>
            <c:idx val="12"/>
            <c:invertIfNegative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0181-41D6-89B2-30B396F21D75}"/>
              </c:ext>
            </c:extLst>
          </c:dPt>
          <c:dPt>
            <c:idx val="13"/>
            <c:invertIfNegative val="1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0181-41D6-89B2-30B396F21D75}"/>
              </c:ext>
            </c:extLst>
          </c:dPt>
          <c:dPt>
            <c:idx val="14"/>
            <c:invertIfNegative val="1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0181-41D6-89B2-30B396F21D75}"/>
              </c:ext>
            </c:extLst>
          </c:dPt>
          <c:dPt>
            <c:idx val="15"/>
            <c:invertIfNegative val="1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0181-41D6-89B2-30B396F21D75}"/>
              </c:ext>
            </c:extLst>
          </c:dPt>
          <c:dPt>
            <c:idx val="16"/>
            <c:invertIfNegative val="1"/>
            <c:bubble3D val="0"/>
            <c:spPr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0181-41D6-89B2-30B396F21D75}"/>
              </c:ext>
            </c:extLst>
          </c:dPt>
          <c:dPt>
            <c:idx val="17"/>
            <c:invertIfNegative val="1"/>
            <c:bubble3D val="0"/>
            <c:spPr>
              <a:solidFill>
                <a:schemeClr val="accent5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0181-41D6-89B2-30B396F21D75}"/>
              </c:ext>
            </c:extLst>
          </c:dPt>
          <c:dPt>
            <c:idx val="18"/>
            <c:invertIfNegative val="1"/>
            <c:bubble3D val="0"/>
            <c:spPr>
              <a:solidFill>
                <a:schemeClr val="accent1">
                  <a:lumMod val="70000"/>
                  <a:lumOff val="3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0181-41D6-89B2-30B396F21D75}"/>
              </c:ext>
            </c:extLst>
          </c:dPt>
          <c:dPt>
            <c:idx val="19"/>
            <c:invertIfNegative val="1"/>
            <c:bubble3D val="0"/>
            <c:spPr>
              <a:solidFill>
                <a:schemeClr val="accent3">
                  <a:lumMod val="70000"/>
                  <a:lumOff val="3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0181-41D6-89B2-30B396F21D75}"/>
              </c:ext>
            </c:extLst>
          </c:dPt>
          <c:dPt>
            <c:idx val="20"/>
            <c:invertIfNegative val="1"/>
            <c:bubble3D val="0"/>
            <c:spPr>
              <a:solidFill>
                <a:schemeClr val="accent5">
                  <a:lumMod val="70000"/>
                  <a:lumOff val="3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0181-41D6-89B2-30B396F21D75}"/>
              </c:ext>
            </c:extLst>
          </c:dPt>
          <c:dPt>
            <c:idx val="21"/>
            <c:invertIfNegative val="1"/>
            <c:bubble3D val="0"/>
            <c:spPr>
              <a:solidFill>
                <a:schemeClr val="accent1">
                  <a:lumMod val="7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0181-41D6-89B2-30B396F21D75}"/>
              </c:ext>
            </c:extLst>
          </c:dPt>
          <c:dPt>
            <c:idx val="22"/>
            <c:invertIfNegative val="1"/>
            <c:bubble3D val="0"/>
            <c:spPr>
              <a:solidFill>
                <a:schemeClr val="accent3">
                  <a:lumMod val="7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0181-41D6-89B2-30B396F21D75}"/>
              </c:ext>
            </c:extLst>
          </c:dPt>
          <c:dPt>
            <c:idx val="23"/>
            <c:invertIfNegative val="1"/>
            <c:bubble3D val="0"/>
            <c:spPr>
              <a:solidFill>
                <a:schemeClr val="accent5">
                  <a:lumMod val="7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0181-41D6-89B2-30B396F21D75}"/>
              </c:ext>
            </c:extLst>
          </c:dPt>
          <c:cat>
            <c:numRef>
              <c:f>Trend_Analysis!$A$41:$A$64</c:f>
              <c:numCache>
                <c:formatCode>00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Trend_Analysis!$B$41:$B$64</c:f>
              <c:numCache>
                <c:formatCode>General</c:formatCode>
                <c:ptCount val="24"/>
                <c:pt idx="0">
                  <c:v>4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2</c:v>
                </c:pt>
                <c:pt idx="5">
                  <c:v>4</c:v>
                </c:pt>
                <c:pt idx="6">
                  <c:v>14</c:v>
                </c:pt>
                <c:pt idx="7">
                  <c:v>34</c:v>
                </c:pt>
                <c:pt idx="8">
                  <c:v>82</c:v>
                </c:pt>
                <c:pt idx="9">
                  <c:v>80</c:v>
                </c:pt>
                <c:pt idx="10">
                  <c:v>81</c:v>
                </c:pt>
                <c:pt idx="11">
                  <c:v>61</c:v>
                </c:pt>
                <c:pt idx="12">
                  <c:v>71</c:v>
                </c:pt>
                <c:pt idx="13">
                  <c:v>89</c:v>
                </c:pt>
                <c:pt idx="14">
                  <c:v>116</c:v>
                </c:pt>
                <c:pt idx="15">
                  <c:v>72</c:v>
                </c:pt>
                <c:pt idx="16">
                  <c:v>36</c:v>
                </c:pt>
                <c:pt idx="17">
                  <c:v>27</c:v>
                </c:pt>
                <c:pt idx="18">
                  <c:v>15</c:v>
                </c:pt>
                <c:pt idx="19">
                  <c:v>14</c:v>
                </c:pt>
                <c:pt idx="20">
                  <c:v>12</c:v>
                </c:pt>
                <c:pt idx="21">
                  <c:v>32</c:v>
                </c:pt>
                <c:pt idx="22">
                  <c:v>8</c:v>
                </c:pt>
                <c:pt idx="23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0181-41D6-89B2-30B396F21D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shade val="95000"/>
                  <a:satMod val="10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Requests by Weekday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v>Requests Created</c:v>
          </c:tx>
          <c:invertIfNegative val="1"/>
          <c:dPt>
            <c:idx val="0"/>
            <c:invertIfNegative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9C3-4810-9C8E-0914A2383A0E}"/>
              </c:ext>
            </c:extLst>
          </c:dPt>
          <c:dPt>
            <c:idx val="1"/>
            <c:invertIfNegative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9C3-4810-9C8E-0914A2383A0E}"/>
              </c:ext>
            </c:extLst>
          </c:dPt>
          <c:dPt>
            <c:idx val="2"/>
            <c:invertIfNegative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9C3-4810-9C8E-0914A2383A0E}"/>
              </c:ext>
            </c:extLst>
          </c:dPt>
          <c:dPt>
            <c:idx val="3"/>
            <c:invertIfNegative val="1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9C3-4810-9C8E-0914A2383A0E}"/>
              </c:ext>
            </c:extLst>
          </c:dPt>
          <c:dPt>
            <c:idx val="4"/>
            <c:invertIfNegative val="1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9C3-4810-9C8E-0914A2383A0E}"/>
              </c:ext>
            </c:extLst>
          </c:dPt>
          <c:dPt>
            <c:idx val="5"/>
            <c:invertIfNegative val="1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9C3-4810-9C8E-0914A2383A0E}"/>
              </c:ext>
            </c:extLst>
          </c:dPt>
          <c:dPt>
            <c:idx val="6"/>
            <c:invertIfNegative val="1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29C3-4810-9C8E-0914A2383A0E}"/>
              </c:ext>
            </c:extLst>
          </c:dPt>
          <c:cat>
            <c:strRef>
              <c:f>Trend_Analysis!$A$70:$A$76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Trend_Analysis!$B$70:$B$76</c:f>
              <c:numCache>
                <c:formatCode>General</c:formatCode>
                <c:ptCount val="7"/>
                <c:pt idx="0">
                  <c:v>150</c:v>
                </c:pt>
                <c:pt idx="1">
                  <c:v>205</c:v>
                </c:pt>
                <c:pt idx="2">
                  <c:v>195</c:v>
                </c:pt>
                <c:pt idx="3">
                  <c:v>135</c:v>
                </c:pt>
                <c:pt idx="4">
                  <c:v>126</c:v>
                </c:pt>
                <c:pt idx="5">
                  <c:v>41</c:v>
                </c:pt>
                <c:pt idx="6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29C3-4810-9C8E-0914A2383A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10"/>
        <c:axId val="100"/>
      </c:barChart>
      <c:catAx>
        <c:axId val="1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shade val="95000"/>
                  <a:satMod val="10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Top Categories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v>Request Count</c:v>
          </c:tx>
          <c:invertIfNegative val="1"/>
          <c:dPt>
            <c:idx val="0"/>
            <c:invertIfNegative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848-4C81-81B3-B9D4EB465BB2}"/>
              </c:ext>
            </c:extLst>
          </c:dPt>
          <c:dPt>
            <c:idx val="1"/>
            <c:invertIfNegative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848-4C81-81B3-B9D4EB465BB2}"/>
              </c:ext>
            </c:extLst>
          </c:dPt>
          <c:dPt>
            <c:idx val="2"/>
            <c:invertIfNegative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848-4C81-81B3-B9D4EB465BB2}"/>
              </c:ext>
            </c:extLst>
          </c:dPt>
          <c:dPt>
            <c:idx val="3"/>
            <c:invertIfNegative val="1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848-4C81-81B3-B9D4EB465BB2}"/>
              </c:ext>
            </c:extLst>
          </c:dPt>
          <c:dPt>
            <c:idx val="4"/>
            <c:invertIfNegative val="1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848-4C81-81B3-B9D4EB465BB2}"/>
              </c:ext>
            </c:extLst>
          </c:dPt>
          <c:dPt>
            <c:idx val="5"/>
            <c:invertIfNegative val="1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848-4C81-81B3-B9D4EB465BB2}"/>
              </c:ext>
            </c:extLst>
          </c:dPt>
          <c:dPt>
            <c:idx val="6"/>
            <c:invertIfNegative val="1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848-4C81-81B3-B9D4EB465BB2}"/>
              </c:ext>
            </c:extLst>
          </c:dPt>
          <c:dPt>
            <c:idx val="7"/>
            <c:invertIfNegative val="1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9848-4C81-81B3-B9D4EB465BB2}"/>
              </c:ext>
            </c:extLst>
          </c:dPt>
          <c:cat>
            <c:strRef>
              <c:f>Workload!$A$7:$A$14</c:f>
              <c:strCache>
                <c:ptCount val="8"/>
                <c:pt idx="0">
                  <c:v>Network</c:v>
                </c:pt>
                <c:pt idx="1">
                  <c:v>General</c:v>
                </c:pt>
                <c:pt idx="2">
                  <c:v>Hardware</c:v>
                </c:pt>
                <c:pt idx="3">
                  <c:v>Project</c:v>
                </c:pt>
                <c:pt idx="4">
                  <c:v>Software</c:v>
                </c:pt>
                <c:pt idx="5">
                  <c:v>Desktop Hardware</c:v>
                </c:pt>
                <c:pt idx="6">
                  <c:v>Application</c:v>
                </c:pt>
                <c:pt idx="7">
                  <c:v>Not Assigned</c:v>
                </c:pt>
              </c:strCache>
            </c:strRef>
          </c:cat>
          <c:val>
            <c:numRef>
              <c:f>Workload!$B$7:$B$14</c:f>
              <c:numCache>
                <c:formatCode>General</c:formatCode>
                <c:ptCount val="8"/>
                <c:pt idx="0">
                  <c:v>262</c:v>
                </c:pt>
                <c:pt idx="1">
                  <c:v>170</c:v>
                </c:pt>
                <c:pt idx="2">
                  <c:v>144</c:v>
                </c:pt>
                <c:pt idx="3">
                  <c:v>105</c:v>
                </c:pt>
                <c:pt idx="4">
                  <c:v>58</c:v>
                </c:pt>
                <c:pt idx="5">
                  <c:v>49</c:v>
                </c:pt>
                <c:pt idx="6">
                  <c:v>41</c:v>
                </c:pt>
                <c:pt idx="7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9848-4C81-81B3-B9D4EB465B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10"/>
        <c:axId val="100"/>
      </c:barChart>
      <c:catAx>
        <c:axId val="1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shade val="95000"/>
                  <a:satMod val="10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Top Assigned Groups / Sites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v>Request Count</c:v>
          </c:tx>
          <c:invertIfNegative val="1"/>
          <c:dPt>
            <c:idx val="0"/>
            <c:invertIfNegative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D92-4C39-AEAC-0F362603B067}"/>
              </c:ext>
            </c:extLst>
          </c:dPt>
          <c:dPt>
            <c:idx val="1"/>
            <c:invertIfNegative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D92-4C39-AEAC-0F362603B067}"/>
              </c:ext>
            </c:extLst>
          </c:dPt>
          <c:dPt>
            <c:idx val="2"/>
            <c:invertIfNegative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D92-4C39-AEAC-0F362603B067}"/>
              </c:ext>
            </c:extLst>
          </c:dPt>
          <c:dPt>
            <c:idx val="3"/>
            <c:invertIfNegative val="1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D92-4C39-AEAC-0F362603B067}"/>
              </c:ext>
            </c:extLst>
          </c:dPt>
          <c:dPt>
            <c:idx val="4"/>
            <c:invertIfNegative val="1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D92-4C39-AEAC-0F362603B067}"/>
              </c:ext>
            </c:extLst>
          </c:dPt>
          <c:dPt>
            <c:idx val="5"/>
            <c:invertIfNegative val="1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D92-4C39-AEAC-0F362603B067}"/>
              </c:ext>
            </c:extLst>
          </c:dPt>
          <c:dPt>
            <c:idx val="6"/>
            <c:invertIfNegative val="1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2D92-4C39-AEAC-0F362603B067}"/>
              </c:ext>
            </c:extLst>
          </c:dPt>
          <c:dPt>
            <c:idx val="7"/>
            <c:invertIfNegative val="1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2D92-4C39-AEAC-0F362603B067}"/>
              </c:ext>
            </c:extLst>
          </c:dPt>
          <c:dPt>
            <c:idx val="8"/>
            <c:invertIfNegative val="1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2D92-4C39-AEAC-0F362603B067}"/>
              </c:ext>
            </c:extLst>
          </c:dPt>
          <c:dPt>
            <c:idx val="9"/>
            <c:invertIfNegative val="1"/>
            <c:bubble3D val="0"/>
            <c:spPr>
              <a:solidFill>
                <a:schemeClr val="accent1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2D92-4C39-AEAC-0F362603B067}"/>
              </c:ext>
            </c:extLst>
          </c:dPt>
          <c:cat>
            <c:strRef>
              <c:f>Workload!$A$20:$A$29</c:f>
              <c:strCache>
                <c:ptCount val="10"/>
                <c:pt idx="0">
                  <c:v>Branch Janirah</c:v>
                </c:pt>
                <c:pt idx="1">
                  <c:v>Not Assigned</c:v>
                </c:pt>
                <c:pt idx="2">
                  <c:v>Head Office</c:v>
                </c:pt>
                <c:pt idx="3">
                  <c:v>Branch Tanjung Emas</c:v>
                </c:pt>
                <c:pt idx="4">
                  <c:v>Branch Belawan</c:v>
                </c:pt>
                <c:pt idx="5">
                  <c:v>Branch Malahayati</c:v>
                </c:pt>
                <c:pt idx="6">
                  <c:v>Branch Bumiharjo</c:v>
                </c:pt>
                <c:pt idx="7">
                  <c:v>ITOC - TEAM 3</c:v>
                </c:pt>
                <c:pt idx="8">
                  <c:v>Branch Lhokseumawe</c:v>
                </c:pt>
                <c:pt idx="9">
                  <c:v>Branch Tanjung Intan</c:v>
                </c:pt>
              </c:strCache>
            </c:strRef>
          </c:cat>
          <c:val>
            <c:numRef>
              <c:f>Workload!$B$20:$B$29</c:f>
              <c:numCache>
                <c:formatCode>General</c:formatCode>
                <c:ptCount val="10"/>
                <c:pt idx="0">
                  <c:v>109</c:v>
                </c:pt>
                <c:pt idx="1">
                  <c:v>68</c:v>
                </c:pt>
                <c:pt idx="2">
                  <c:v>68</c:v>
                </c:pt>
                <c:pt idx="3">
                  <c:v>57</c:v>
                </c:pt>
                <c:pt idx="4">
                  <c:v>54</c:v>
                </c:pt>
                <c:pt idx="5">
                  <c:v>49</c:v>
                </c:pt>
                <c:pt idx="6">
                  <c:v>46</c:v>
                </c:pt>
                <c:pt idx="7">
                  <c:v>38</c:v>
                </c:pt>
                <c:pt idx="8">
                  <c:v>36</c:v>
                </c:pt>
                <c:pt idx="9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2D92-4C39-AEAC-0F362603B0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10"/>
        <c:axId val="100"/>
      </c:barChart>
      <c:catAx>
        <c:axId val="1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shade val="95000"/>
                  <a:satMod val="10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Top Assigned Technicians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v>Request Count</c:v>
          </c:tx>
          <c:invertIfNegative val="1"/>
          <c:dPt>
            <c:idx val="0"/>
            <c:invertIfNegative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B67-4804-B261-F436896DB389}"/>
              </c:ext>
            </c:extLst>
          </c:dPt>
          <c:dPt>
            <c:idx val="1"/>
            <c:invertIfNegative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B67-4804-B261-F436896DB389}"/>
              </c:ext>
            </c:extLst>
          </c:dPt>
          <c:dPt>
            <c:idx val="2"/>
            <c:invertIfNegative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B67-4804-B261-F436896DB389}"/>
              </c:ext>
            </c:extLst>
          </c:dPt>
          <c:dPt>
            <c:idx val="3"/>
            <c:invertIfNegative val="1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B67-4804-B261-F436896DB389}"/>
              </c:ext>
            </c:extLst>
          </c:dPt>
          <c:dPt>
            <c:idx val="4"/>
            <c:invertIfNegative val="1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B67-4804-B261-F436896DB389}"/>
              </c:ext>
            </c:extLst>
          </c:dPt>
          <c:dPt>
            <c:idx val="5"/>
            <c:invertIfNegative val="1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B67-4804-B261-F436896DB389}"/>
              </c:ext>
            </c:extLst>
          </c:dPt>
          <c:dPt>
            <c:idx val="6"/>
            <c:invertIfNegative val="1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B67-4804-B261-F436896DB389}"/>
              </c:ext>
            </c:extLst>
          </c:dPt>
          <c:dPt>
            <c:idx val="7"/>
            <c:invertIfNegative val="1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9B67-4804-B261-F436896DB389}"/>
              </c:ext>
            </c:extLst>
          </c:dPt>
          <c:dPt>
            <c:idx val="8"/>
            <c:invertIfNegative val="1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9B67-4804-B261-F436896DB389}"/>
              </c:ext>
            </c:extLst>
          </c:dPt>
          <c:dPt>
            <c:idx val="9"/>
            <c:invertIfNegative val="1"/>
            <c:bubble3D val="0"/>
            <c:spPr>
              <a:solidFill>
                <a:schemeClr val="accent1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9B67-4804-B261-F436896DB389}"/>
              </c:ext>
            </c:extLst>
          </c:dPt>
          <c:cat>
            <c:strRef>
              <c:f>Workload!$A$36:$A$45</c:f>
              <c:strCache>
                <c:ptCount val="10"/>
                <c:pt idx="0">
                  <c:v>IT Operation Center PMT</c:v>
                </c:pt>
                <c:pt idx="1">
                  <c:v>Putra Anugrah Purwanto</c:v>
                </c:pt>
                <c:pt idx="2">
                  <c:v>Aditya Ari Saputra</c:v>
                </c:pt>
                <c:pt idx="3">
                  <c:v>M. Zainal Abidin</c:v>
                </c:pt>
                <c:pt idx="4">
                  <c:v>Mochammad Afief Caesaria Suhardy</c:v>
                </c:pt>
                <c:pt idx="5">
                  <c:v>Berry Richard Ornos Sinambela</c:v>
                </c:pt>
                <c:pt idx="6">
                  <c:v>Reza Maulana</c:v>
                </c:pt>
                <c:pt idx="7">
                  <c:v>Irfan Perdana Efendi</c:v>
                </c:pt>
                <c:pt idx="8">
                  <c:v>Mochammad Baihaqi Adji Kurniawan</c:v>
                </c:pt>
                <c:pt idx="9">
                  <c:v>Intje Irfan Ibrahim</c:v>
                </c:pt>
              </c:strCache>
            </c:strRef>
          </c:cat>
          <c:val>
            <c:numRef>
              <c:f>Workload!$B$36:$B$45</c:f>
              <c:numCache>
                <c:formatCode>General</c:formatCode>
                <c:ptCount val="10"/>
                <c:pt idx="0">
                  <c:v>150</c:v>
                </c:pt>
                <c:pt idx="1">
                  <c:v>57</c:v>
                </c:pt>
                <c:pt idx="2">
                  <c:v>56</c:v>
                </c:pt>
                <c:pt idx="3">
                  <c:v>53</c:v>
                </c:pt>
                <c:pt idx="4">
                  <c:v>50</c:v>
                </c:pt>
                <c:pt idx="5">
                  <c:v>44</c:v>
                </c:pt>
                <c:pt idx="6">
                  <c:v>36</c:v>
                </c:pt>
                <c:pt idx="7">
                  <c:v>33</c:v>
                </c:pt>
                <c:pt idx="8">
                  <c:v>32</c:v>
                </c:pt>
                <c:pt idx="9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9B67-4804-B261-F436896DB3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10"/>
        <c:axId val="100"/>
      </c:barChart>
      <c:catAx>
        <c:axId val="1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shade val="95000"/>
                  <a:satMod val="10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SLA Name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v>Request Count</c:v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4C9-4CF6-829B-E426C5A69E68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4C9-4CF6-829B-E426C5A69E68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4C9-4CF6-829B-E426C5A69E68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4C9-4CF6-829B-E426C5A69E6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shade val="95000"/>
                      <a:satMod val="105000"/>
                    </a:schemeClr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SLA_Impact!$A$7:$A$10</c:f>
              <c:strCache>
                <c:ptCount val="4"/>
                <c:pt idx="0">
                  <c:v>High SLA</c:v>
                </c:pt>
                <c:pt idx="1">
                  <c:v>Medium SLA</c:v>
                </c:pt>
                <c:pt idx="2">
                  <c:v>Low SLA</c:v>
                </c:pt>
                <c:pt idx="3">
                  <c:v>Not Assigned</c:v>
                </c:pt>
              </c:strCache>
            </c:strRef>
          </c:cat>
          <c:val>
            <c:numRef>
              <c:f>SLA_Impact!$B$7:$B$10</c:f>
              <c:numCache>
                <c:formatCode>General</c:formatCode>
                <c:ptCount val="4"/>
                <c:pt idx="0">
                  <c:v>98</c:v>
                </c:pt>
                <c:pt idx="1">
                  <c:v>268</c:v>
                </c:pt>
                <c:pt idx="2">
                  <c:v>306</c:v>
                </c:pt>
                <c:pt idx="3">
                  <c:v>203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4C9-4CF6-829B-E426C5A69E68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Impact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SLA_Impact!$B$15</c:f>
              <c:strCache>
                <c:ptCount val="1"/>
                <c:pt idx="0">
                  <c:v>Requests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742-4743-ADEB-11AD7092DDE5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742-4743-ADEB-11AD7092DDE5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742-4743-ADEB-11AD7092DDE5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742-4743-ADEB-11AD7092DDE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shade val="95000"/>
                      <a:satMod val="105000"/>
                    </a:schemeClr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SLA_Impact!$A$16:$A$19</c:f>
              <c:strCache>
                <c:ptCount val="4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  <c:pt idx="3">
                  <c:v>Not Assigned</c:v>
                </c:pt>
              </c:strCache>
            </c:strRef>
          </c:cat>
          <c:val>
            <c:numRef>
              <c:f>SLA_Impact!$B$16:$B$19</c:f>
              <c:numCache>
                <c:formatCode>General</c:formatCode>
                <c:ptCount val="4"/>
                <c:pt idx="0">
                  <c:v>81</c:v>
                </c:pt>
                <c:pt idx="1">
                  <c:v>369</c:v>
                </c:pt>
                <c:pt idx="2">
                  <c:v>413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742-4743-ADEB-11AD7092DDE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Top 10 Technician - Workload vs Input Quality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Calc!$BT$2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4F81BD"/>
            </a:solidFill>
            <a:ln w="9525" cap="flat" cmpd="sng" algn="ctr">
              <a:solidFill>
                <a:schemeClr val="lt1">
                  <a:shade val="95000"/>
                  <a:satMod val="105000"/>
                </a:schemeClr>
              </a:solidFill>
              <a:prstDash val="solid"/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1"/>
          <c:cat>
            <c:strRef>
              <c:f>Calc!$BS$3:$BS$12</c:f>
              <c:strCache>
                <c:ptCount val="10"/>
                <c:pt idx="0">
                  <c:v>Technician</c:v>
                </c:pt>
                <c:pt idx="1">
                  <c:v>IT Operation Center PMT</c:v>
                </c:pt>
                <c:pt idx="2">
                  <c:v>Intje Irfan Ibrahim</c:v>
                </c:pt>
                <c:pt idx="3">
                  <c:v>Muh Iqbal S</c:v>
                </c:pt>
                <c:pt idx="4">
                  <c:v>Putra Anugrah Purwanto</c:v>
                </c:pt>
                <c:pt idx="5">
                  <c:v>M. Zainal Abidin</c:v>
                </c:pt>
                <c:pt idx="6">
                  <c:v>Mochammad Baihaqi Adji Kurniawan</c:v>
                </c:pt>
                <c:pt idx="7">
                  <c:v>Not Assigned</c:v>
                </c:pt>
                <c:pt idx="8">
                  <c:v>Berry Richard Ornos Sinambela</c:v>
                </c:pt>
                <c:pt idx="9">
                  <c:v>Hendra Lukito</c:v>
                </c:pt>
              </c:strCache>
            </c:strRef>
          </c:cat>
          <c:val>
            <c:numRef>
              <c:f>Calc!$BT$3:$BT$12</c:f>
              <c:numCache>
                <c:formatCode>General</c:formatCode>
                <c:ptCount val="10"/>
                <c:pt idx="0">
                  <c:v>0</c:v>
                </c:pt>
                <c:pt idx="1">
                  <c:v>150</c:v>
                </c:pt>
                <c:pt idx="2">
                  <c:v>29</c:v>
                </c:pt>
                <c:pt idx="3">
                  <c:v>28</c:v>
                </c:pt>
                <c:pt idx="4">
                  <c:v>57</c:v>
                </c:pt>
                <c:pt idx="5">
                  <c:v>53</c:v>
                </c:pt>
                <c:pt idx="6">
                  <c:v>32</c:v>
                </c:pt>
                <c:pt idx="7">
                  <c:v>10</c:v>
                </c:pt>
                <c:pt idx="8">
                  <c:v>44</c:v>
                </c:pt>
                <c:pt idx="9">
                  <c:v>19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 cap="flat" cmpd="sng" algn="ctr">
                    <a:solidFill>
                      <a:schemeClr val="lt1">
                        <a:shade val="95000"/>
                        <a:satMod val="105000"/>
                      </a:schemeClr>
                    </a:solidFill>
                    <a:prstDash val="solid"/>
                    <a:round/>
                  </a:ln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c14:spPr>
              </c14:invertSolidFillFmt>
            </c:ext>
            <c:ext xmlns:c16="http://schemas.microsoft.com/office/drawing/2014/chart" uri="{C3380CC4-5D6E-409C-BE32-E72D297353CC}">
              <c16:uniqueId val="{00000000-DDE2-4581-BD60-243D84AB13C2}"/>
            </c:ext>
          </c:extLst>
        </c:ser>
        <c:ser>
          <c:idx val="1"/>
          <c:order val="1"/>
          <c:tx>
            <c:strRef>
              <c:f>Calc!$BU$2</c:f>
              <c:strCache>
                <c:ptCount val="1"/>
                <c:pt idx="0">
                  <c:v>Input Issues</c:v>
                </c:pt>
              </c:strCache>
            </c:strRef>
          </c:tx>
          <c:spPr>
            <a:solidFill>
              <a:srgbClr val="9BBB59"/>
            </a:solidFill>
            <a:ln w="9525" cap="flat" cmpd="sng" algn="ctr">
              <a:solidFill>
                <a:schemeClr val="lt1">
                  <a:shade val="95000"/>
                  <a:satMod val="105000"/>
                </a:schemeClr>
              </a:solidFill>
              <a:prstDash val="solid"/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1"/>
          <c:cat>
            <c:strRef>
              <c:f>Calc!$BS$3:$BS$12</c:f>
              <c:strCache>
                <c:ptCount val="10"/>
                <c:pt idx="0">
                  <c:v>Technician</c:v>
                </c:pt>
                <c:pt idx="1">
                  <c:v>IT Operation Center PMT</c:v>
                </c:pt>
                <c:pt idx="2">
                  <c:v>Intje Irfan Ibrahim</c:v>
                </c:pt>
                <c:pt idx="3">
                  <c:v>Muh Iqbal S</c:v>
                </c:pt>
                <c:pt idx="4">
                  <c:v>Putra Anugrah Purwanto</c:v>
                </c:pt>
                <c:pt idx="5">
                  <c:v>M. Zainal Abidin</c:v>
                </c:pt>
                <c:pt idx="6">
                  <c:v>Mochammad Baihaqi Adji Kurniawan</c:v>
                </c:pt>
                <c:pt idx="7">
                  <c:v>Not Assigned</c:v>
                </c:pt>
                <c:pt idx="8">
                  <c:v>Berry Richard Ornos Sinambela</c:v>
                </c:pt>
                <c:pt idx="9">
                  <c:v>Hendra Lukito</c:v>
                </c:pt>
              </c:strCache>
            </c:strRef>
          </c:cat>
          <c:val>
            <c:numRef>
              <c:f>Calc!$BU$3:$BU$12</c:f>
              <c:numCache>
                <c:formatCode>General</c:formatCode>
                <c:ptCount val="10"/>
                <c:pt idx="0">
                  <c:v>0</c:v>
                </c:pt>
                <c:pt idx="1">
                  <c:v>37</c:v>
                </c:pt>
                <c:pt idx="2">
                  <c:v>29</c:v>
                </c:pt>
                <c:pt idx="3">
                  <c:v>28</c:v>
                </c:pt>
                <c:pt idx="4">
                  <c:v>18</c:v>
                </c:pt>
                <c:pt idx="5">
                  <c:v>13</c:v>
                </c:pt>
                <c:pt idx="6">
                  <c:v>12</c:v>
                </c:pt>
                <c:pt idx="7">
                  <c:v>10</c:v>
                </c:pt>
                <c:pt idx="8">
                  <c:v>10</c:v>
                </c:pt>
                <c:pt idx="9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 cap="flat" cmpd="sng" algn="ctr">
                    <a:solidFill>
                      <a:schemeClr val="lt1">
                        <a:shade val="95000"/>
                        <a:satMod val="105000"/>
                      </a:schemeClr>
                    </a:solidFill>
                    <a:prstDash val="solid"/>
                    <a:round/>
                  </a:ln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c14:spPr>
              </c14:invertSolidFillFmt>
            </c:ext>
            <c:ext xmlns:c16="http://schemas.microsoft.com/office/drawing/2014/chart" uri="{C3380CC4-5D6E-409C-BE32-E72D297353CC}">
              <c16:uniqueId val="{00000001-DDE2-4581-BD60-243D84AB13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10"/>
        <c:axId val="100"/>
      </c:barChart>
      <c:catAx>
        <c:axId val="1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shade val="95000"/>
                  <a:satMod val="10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Top 10 Technician - SLA Trigger / Output Review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Calc!$BV$2</c:f>
              <c:strCache>
                <c:ptCount val="1"/>
                <c:pt idx="0">
                  <c:v>Trigger Incomplete</c:v>
                </c:pt>
              </c:strCache>
            </c:strRef>
          </c:tx>
          <c:spPr>
            <a:solidFill>
              <a:srgbClr val="4F81BD"/>
            </a:solidFill>
            <a:ln w="9525" cap="flat" cmpd="sng" algn="ctr">
              <a:solidFill>
                <a:schemeClr val="lt1">
                  <a:shade val="95000"/>
                  <a:satMod val="105000"/>
                </a:schemeClr>
              </a:solidFill>
              <a:prstDash val="solid"/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1"/>
          <c:cat>
            <c:strRef>
              <c:f>Calc!$BS$3:$BS$12</c:f>
              <c:strCache>
                <c:ptCount val="10"/>
                <c:pt idx="0">
                  <c:v>Technician</c:v>
                </c:pt>
                <c:pt idx="1">
                  <c:v>IT Operation Center PMT</c:v>
                </c:pt>
                <c:pt idx="2">
                  <c:v>Intje Irfan Ibrahim</c:v>
                </c:pt>
                <c:pt idx="3">
                  <c:v>Muh Iqbal S</c:v>
                </c:pt>
                <c:pt idx="4">
                  <c:v>Putra Anugrah Purwanto</c:v>
                </c:pt>
                <c:pt idx="5">
                  <c:v>M. Zainal Abidin</c:v>
                </c:pt>
                <c:pt idx="6">
                  <c:v>Mochammad Baihaqi Adji Kurniawan</c:v>
                </c:pt>
                <c:pt idx="7">
                  <c:v>Not Assigned</c:v>
                </c:pt>
                <c:pt idx="8">
                  <c:v>Berry Richard Ornos Sinambela</c:v>
                </c:pt>
                <c:pt idx="9">
                  <c:v>Hendra Lukito</c:v>
                </c:pt>
              </c:strCache>
            </c:strRef>
          </c:cat>
          <c:val>
            <c:numRef>
              <c:f>Calc!$BV$3:$BV$12</c:f>
              <c:numCache>
                <c:formatCode>General</c:formatCode>
                <c:ptCount val="10"/>
                <c:pt idx="0">
                  <c:v>0</c:v>
                </c:pt>
                <c:pt idx="1">
                  <c:v>4</c:v>
                </c:pt>
                <c:pt idx="2">
                  <c:v>2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4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 cap="flat" cmpd="sng" algn="ctr">
                    <a:solidFill>
                      <a:schemeClr val="lt1">
                        <a:shade val="95000"/>
                        <a:satMod val="105000"/>
                      </a:schemeClr>
                    </a:solidFill>
                    <a:prstDash val="solid"/>
                    <a:round/>
                  </a:ln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c14:spPr>
              </c14:invertSolidFillFmt>
            </c:ext>
            <c:ext xmlns:c16="http://schemas.microsoft.com/office/drawing/2014/chart" uri="{C3380CC4-5D6E-409C-BE32-E72D297353CC}">
              <c16:uniqueId val="{00000000-C233-4748-95AA-D277575FD737}"/>
            </c:ext>
          </c:extLst>
        </c:ser>
        <c:ser>
          <c:idx val="1"/>
          <c:order val="1"/>
          <c:tx>
            <c:strRef>
              <c:f>Calc!$BW$2</c:f>
              <c:strCache>
                <c:ptCount val="1"/>
                <c:pt idx="0">
                  <c:v>SLA Output NA</c:v>
                </c:pt>
              </c:strCache>
            </c:strRef>
          </c:tx>
          <c:spPr>
            <a:solidFill>
              <a:srgbClr val="9BBB59"/>
            </a:solidFill>
            <a:ln w="9525" cap="flat" cmpd="sng" algn="ctr">
              <a:solidFill>
                <a:schemeClr val="lt1">
                  <a:shade val="95000"/>
                  <a:satMod val="105000"/>
                </a:schemeClr>
              </a:solidFill>
              <a:prstDash val="solid"/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1"/>
          <c:cat>
            <c:strRef>
              <c:f>Calc!$BS$3:$BS$12</c:f>
              <c:strCache>
                <c:ptCount val="10"/>
                <c:pt idx="0">
                  <c:v>Technician</c:v>
                </c:pt>
                <c:pt idx="1">
                  <c:v>IT Operation Center PMT</c:v>
                </c:pt>
                <c:pt idx="2">
                  <c:v>Intje Irfan Ibrahim</c:v>
                </c:pt>
                <c:pt idx="3">
                  <c:v>Muh Iqbal S</c:v>
                </c:pt>
                <c:pt idx="4">
                  <c:v>Putra Anugrah Purwanto</c:v>
                </c:pt>
                <c:pt idx="5">
                  <c:v>M. Zainal Abidin</c:v>
                </c:pt>
                <c:pt idx="6">
                  <c:v>Mochammad Baihaqi Adji Kurniawan</c:v>
                </c:pt>
                <c:pt idx="7">
                  <c:v>Not Assigned</c:v>
                </c:pt>
                <c:pt idx="8">
                  <c:v>Berry Richard Ornos Sinambela</c:v>
                </c:pt>
                <c:pt idx="9">
                  <c:v>Hendra Lukito</c:v>
                </c:pt>
              </c:strCache>
            </c:strRef>
          </c:cat>
          <c:val>
            <c:numRef>
              <c:f>Calc!$BW$3:$BW$12</c:f>
              <c:numCache>
                <c:formatCode>General</c:formatCode>
                <c:ptCount val="10"/>
                <c:pt idx="0">
                  <c:v>0</c:v>
                </c:pt>
                <c:pt idx="1">
                  <c:v>72</c:v>
                </c:pt>
                <c:pt idx="2">
                  <c:v>8</c:v>
                </c:pt>
                <c:pt idx="3">
                  <c:v>1</c:v>
                </c:pt>
                <c:pt idx="4">
                  <c:v>10</c:v>
                </c:pt>
                <c:pt idx="5">
                  <c:v>9</c:v>
                </c:pt>
                <c:pt idx="6">
                  <c:v>0</c:v>
                </c:pt>
                <c:pt idx="7">
                  <c:v>1</c:v>
                </c:pt>
                <c:pt idx="8">
                  <c:v>3</c:v>
                </c:pt>
                <c:pt idx="9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 cap="flat" cmpd="sng" algn="ctr">
                    <a:solidFill>
                      <a:schemeClr val="lt1">
                        <a:shade val="95000"/>
                        <a:satMod val="105000"/>
                      </a:schemeClr>
                    </a:solidFill>
                    <a:prstDash val="solid"/>
                    <a:round/>
                  </a:ln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c14:spPr>
              </c14:invertSolidFillFmt>
            </c:ext>
            <c:ext xmlns:c16="http://schemas.microsoft.com/office/drawing/2014/chart" uri="{C3380CC4-5D6E-409C-BE32-E72D297353CC}">
              <c16:uniqueId val="{00000001-C233-4748-95AA-D277575FD7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10"/>
        <c:axId val="100"/>
      </c:barChart>
      <c:catAx>
        <c:axId val="1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shade val="95000"/>
                  <a:satMod val="10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Top 10 Group - Workload vs Input Quality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Calc!$BZ$2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4F81BD"/>
            </a:solidFill>
            <a:ln w="9525" cap="flat" cmpd="sng" algn="ctr">
              <a:solidFill>
                <a:schemeClr val="lt1">
                  <a:shade val="95000"/>
                  <a:satMod val="105000"/>
                </a:schemeClr>
              </a:solidFill>
              <a:prstDash val="solid"/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1"/>
          <c:cat>
            <c:strRef>
              <c:f>Calc!$BY$3:$BY$12</c:f>
              <c:strCache>
                <c:ptCount val="10"/>
                <c:pt idx="0">
                  <c:v>Group</c:v>
                </c:pt>
                <c:pt idx="1">
                  <c:v>Not Assigned</c:v>
                </c:pt>
                <c:pt idx="2">
                  <c:v>Branch Janirah</c:v>
                </c:pt>
                <c:pt idx="3">
                  <c:v>ITOC - TEAM 2</c:v>
                </c:pt>
                <c:pt idx="4">
                  <c:v>Branch Gresik</c:v>
                </c:pt>
                <c:pt idx="5">
                  <c:v>Branch Bumiharjo</c:v>
                </c:pt>
                <c:pt idx="6">
                  <c:v>ITOC - TEAM 4</c:v>
                </c:pt>
                <c:pt idx="7">
                  <c:v>Branch Tanjung Wangi</c:v>
                </c:pt>
                <c:pt idx="8">
                  <c:v>ITOC - TEAM 3</c:v>
                </c:pt>
                <c:pt idx="9">
                  <c:v>Head Office</c:v>
                </c:pt>
              </c:strCache>
            </c:strRef>
          </c:cat>
          <c:val>
            <c:numRef>
              <c:f>Calc!$BZ$3:$BZ$12</c:f>
              <c:numCache>
                <c:formatCode>General</c:formatCode>
                <c:ptCount val="10"/>
                <c:pt idx="0">
                  <c:v>0</c:v>
                </c:pt>
                <c:pt idx="1">
                  <c:v>68</c:v>
                </c:pt>
                <c:pt idx="2">
                  <c:v>109</c:v>
                </c:pt>
                <c:pt idx="3">
                  <c:v>27</c:v>
                </c:pt>
                <c:pt idx="4">
                  <c:v>32</c:v>
                </c:pt>
                <c:pt idx="5">
                  <c:v>46</c:v>
                </c:pt>
                <c:pt idx="6">
                  <c:v>29</c:v>
                </c:pt>
                <c:pt idx="7">
                  <c:v>20</c:v>
                </c:pt>
                <c:pt idx="8">
                  <c:v>38</c:v>
                </c:pt>
                <c:pt idx="9">
                  <c:v>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 cap="flat" cmpd="sng" algn="ctr">
                    <a:solidFill>
                      <a:schemeClr val="lt1">
                        <a:shade val="95000"/>
                        <a:satMod val="105000"/>
                      </a:schemeClr>
                    </a:solidFill>
                    <a:prstDash val="solid"/>
                    <a:round/>
                  </a:ln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c14:spPr>
              </c14:invertSolidFillFmt>
            </c:ext>
            <c:ext xmlns:c16="http://schemas.microsoft.com/office/drawing/2014/chart" uri="{C3380CC4-5D6E-409C-BE32-E72D297353CC}">
              <c16:uniqueId val="{00000000-1A63-4B30-B7C0-53EC6DA3BBF0}"/>
            </c:ext>
          </c:extLst>
        </c:ser>
        <c:ser>
          <c:idx val="1"/>
          <c:order val="1"/>
          <c:tx>
            <c:strRef>
              <c:f>Calc!$CA$2</c:f>
              <c:strCache>
                <c:ptCount val="1"/>
                <c:pt idx="0">
                  <c:v>Input Issues</c:v>
                </c:pt>
              </c:strCache>
            </c:strRef>
          </c:tx>
          <c:spPr>
            <a:solidFill>
              <a:srgbClr val="9BBB59"/>
            </a:solidFill>
            <a:ln w="9525" cap="flat" cmpd="sng" algn="ctr">
              <a:solidFill>
                <a:schemeClr val="lt1">
                  <a:shade val="95000"/>
                  <a:satMod val="105000"/>
                </a:schemeClr>
              </a:solidFill>
              <a:prstDash val="solid"/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1"/>
          <c:cat>
            <c:strRef>
              <c:f>Calc!$BY$3:$BY$12</c:f>
              <c:strCache>
                <c:ptCount val="10"/>
                <c:pt idx="0">
                  <c:v>Group</c:v>
                </c:pt>
                <c:pt idx="1">
                  <c:v>Not Assigned</c:v>
                </c:pt>
                <c:pt idx="2">
                  <c:v>Branch Janirah</c:v>
                </c:pt>
                <c:pt idx="3">
                  <c:v>ITOC - TEAM 2</c:v>
                </c:pt>
                <c:pt idx="4">
                  <c:v>Branch Gresik</c:v>
                </c:pt>
                <c:pt idx="5">
                  <c:v>Branch Bumiharjo</c:v>
                </c:pt>
                <c:pt idx="6">
                  <c:v>ITOC - TEAM 4</c:v>
                </c:pt>
                <c:pt idx="7">
                  <c:v>Branch Tanjung Wangi</c:v>
                </c:pt>
                <c:pt idx="8">
                  <c:v>ITOC - TEAM 3</c:v>
                </c:pt>
                <c:pt idx="9">
                  <c:v>Head Office</c:v>
                </c:pt>
              </c:strCache>
            </c:strRef>
          </c:cat>
          <c:val>
            <c:numRef>
              <c:f>Calc!$CA$3:$CA$12</c:f>
              <c:numCache>
                <c:formatCode>General</c:formatCode>
                <c:ptCount val="10"/>
                <c:pt idx="0">
                  <c:v>0</c:v>
                </c:pt>
                <c:pt idx="1">
                  <c:v>68</c:v>
                </c:pt>
                <c:pt idx="2">
                  <c:v>30</c:v>
                </c:pt>
                <c:pt idx="3">
                  <c:v>15</c:v>
                </c:pt>
                <c:pt idx="4">
                  <c:v>12</c:v>
                </c:pt>
                <c:pt idx="5">
                  <c:v>10</c:v>
                </c:pt>
                <c:pt idx="6">
                  <c:v>8</c:v>
                </c:pt>
                <c:pt idx="7">
                  <c:v>8</c:v>
                </c:pt>
                <c:pt idx="8">
                  <c:v>8</c:v>
                </c:pt>
                <c:pt idx="9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 cap="flat" cmpd="sng" algn="ctr">
                    <a:solidFill>
                      <a:schemeClr val="lt1">
                        <a:shade val="95000"/>
                        <a:satMod val="105000"/>
                      </a:schemeClr>
                    </a:solidFill>
                    <a:prstDash val="solid"/>
                    <a:round/>
                  </a:ln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c14:spPr>
              </c14:invertSolidFillFmt>
            </c:ext>
            <c:ext xmlns:c16="http://schemas.microsoft.com/office/drawing/2014/chart" uri="{C3380CC4-5D6E-409C-BE32-E72D297353CC}">
              <c16:uniqueId val="{00000001-1A63-4B30-B7C0-53EC6DA3BB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10"/>
        <c:axId val="100"/>
      </c:barChart>
      <c:catAx>
        <c:axId val="1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shade val="95000"/>
                  <a:satMod val="10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Top 10 Group - SLA Trigger / Output Review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Calc!$CB$2</c:f>
              <c:strCache>
                <c:ptCount val="1"/>
                <c:pt idx="0">
                  <c:v>Trigger Incomplete</c:v>
                </c:pt>
              </c:strCache>
            </c:strRef>
          </c:tx>
          <c:spPr>
            <a:solidFill>
              <a:srgbClr val="4F81BD"/>
            </a:solidFill>
            <a:ln w="9525" cap="flat" cmpd="sng" algn="ctr">
              <a:solidFill>
                <a:schemeClr val="lt1">
                  <a:shade val="95000"/>
                  <a:satMod val="105000"/>
                </a:schemeClr>
              </a:solidFill>
              <a:prstDash val="solid"/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1"/>
          <c:cat>
            <c:strRef>
              <c:f>Calc!$BY$3:$BY$12</c:f>
              <c:strCache>
                <c:ptCount val="10"/>
                <c:pt idx="0">
                  <c:v>Group</c:v>
                </c:pt>
                <c:pt idx="1">
                  <c:v>Not Assigned</c:v>
                </c:pt>
                <c:pt idx="2">
                  <c:v>Branch Janirah</c:v>
                </c:pt>
                <c:pt idx="3">
                  <c:v>ITOC - TEAM 2</c:v>
                </c:pt>
                <c:pt idx="4">
                  <c:v>Branch Gresik</c:v>
                </c:pt>
                <c:pt idx="5">
                  <c:v>Branch Bumiharjo</c:v>
                </c:pt>
                <c:pt idx="6">
                  <c:v>ITOC - TEAM 4</c:v>
                </c:pt>
                <c:pt idx="7">
                  <c:v>Branch Tanjung Wangi</c:v>
                </c:pt>
                <c:pt idx="8">
                  <c:v>ITOC - TEAM 3</c:v>
                </c:pt>
                <c:pt idx="9">
                  <c:v>Head Office</c:v>
                </c:pt>
              </c:strCache>
            </c:strRef>
          </c:cat>
          <c:val>
            <c:numRef>
              <c:f>Calc!$CB$3:$CB$12</c:f>
              <c:numCache>
                <c:formatCode>General</c:formatCode>
                <c:ptCount val="10"/>
                <c:pt idx="0">
                  <c:v>0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4</c:v>
                </c:pt>
                <c:pt idx="5">
                  <c:v>0</c:v>
                </c:pt>
                <c:pt idx="6">
                  <c:v>2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 cap="flat" cmpd="sng" algn="ctr">
                    <a:solidFill>
                      <a:schemeClr val="lt1">
                        <a:shade val="95000"/>
                        <a:satMod val="105000"/>
                      </a:schemeClr>
                    </a:solidFill>
                    <a:prstDash val="solid"/>
                    <a:round/>
                  </a:ln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c14:spPr>
              </c14:invertSolidFillFmt>
            </c:ext>
            <c:ext xmlns:c16="http://schemas.microsoft.com/office/drawing/2014/chart" uri="{C3380CC4-5D6E-409C-BE32-E72D297353CC}">
              <c16:uniqueId val="{00000000-5634-46B5-BBC5-DBC16A85FCB5}"/>
            </c:ext>
          </c:extLst>
        </c:ser>
        <c:ser>
          <c:idx val="1"/>
          <c:order val="1"/>
          <c:tx>
            <c:strRef>
              <c:f>Calc!$CC$2</c:f>
              <c:strCache>
                <c:ptCount val="1"/>
                <c:pt idx="0">
                  <c:v>SLA Output NA</c:v>
                </c:pt>
              </c:strCache>
            </c:strRef>
          </c:tx>
          <c:spPr>
            <a:solidFill>
              <a:srgbClr val="9BBB59"/>
            </a:solidFill>
            <a:ln w="9525" cap="flat" cmpd="sng" algn="ctr">
              <a:solidFill>
                <a:schemeClr val="lt1">
                  <a:shade val="95000"/>
                  <a:satMod val="105000"/>
                </a:schemeClr>
              </a:solidFill>
              <a:prstDash val="solid"/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1"/>
          <c:cat>
            <c:strRef>
              <c:f>Calc!$BY$3:$BY$12</c:f>
              <c:strCache>
                <c:ptCount val="10"/>
                <c:pt idx="0">
                  <c:v>Group</c:v>
                </c:pt>
                <c:pt idx="1">
                  <c:v>Not Assigned</c:v>
                </c:pt>
                <c:pt idx="2">
                  <c:v>Branch Janirah</c:v>
                </c:pt>
                <c:pt idx="3">
                  <c:v>ITOC - TEAM 2</c:v>
                </c:pt>
                <c:pt idx="4">
                  <c:v>Branch Gresik</c:v>
                </c:pt>
                <c:pt idx="5">
                  <c:v>Branch Bumiharjo</c:v>
                </c:pt>
                <c:pt idx="6">
                  <c:v>ITOC - TEAM 4</c:v>
                </c:pt>
                <c:pt idx="7">
                  <c:v>Branch Tanjung Wangi</c:v>
                </c:pt>
                <c:pt idx="8">
                  <c:v>ITOC - TEAM 3</c:v>
                </c:pt>
                <c:pt idx="9">
                  <c:v>Head Office</c:v>
                </c:pt>
              </c:strCache>
            </c:strRef>
          </c:cat>
          <c:val>
            <c:numRef>
              <c:f>Calc!$CC$3:$CC$12</c:f>
              <c:numCache>
                <c:formatCode>General</c:formatCode>
                <c:ptCount val="10"/>
                <c:pt idx="0">
                  <c:v>0</c:v>
                </c:pt>
                <c:pt idx="1">
                  <c:v>9</c:v>
                </c:pt>
                <c:pt idx="2">
                  <c:v>19</c:v>
                </c:pt>
                <c:pt idx="3">
                  <c:v>4</c:v>
                </c:pt>
                <c:pt idx="4">
                  <c:v>0</c:v>
                </c:pt>
                <c:pt idx="5">
                  <c:v>3</c:v>
                </c:pt>
                <c:pt idx="6">
                  <c:v>12</c:v>
                </c:pt>
                <c:pt idx="7">
                  <c:v>3</c:v>
                </c:pt>
                <c:pt idx="8">
                  <c:v>28</c:v>
                </c:pt>
                <c:pt idx="9">
                  <c:v>30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 cap="flat" cmpd="sng" algn="ctr">
                    <a:solidFill>
                      <a:schemeClr val="lt1">
                        <a:shade val="95000"/>
                        <a:satMod val="105000"/>
                      </a:schemeClr>
                    </a:solidFill>
                    <a:prstDash val="solid"/>
                    <a:round/>
                  </a:ln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c14:spPr>
              </c14:invertSolidFillFmt>
            </c:ext>
            <c:ext xmlns:c16="http://schemas.microsoft.com/office/drawing/2014/chart" uri="{C3380CC4-5D6E-409C-BE32-E72D297353CC}">
              <c16:uniqueId val="{00000001-5634-46B5-BBC5-DBC16A85FC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10"/>
        <c:axId val="100"/>
      </c:barChart>
      <c:catAx>
        <c:axId val="1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shade val="95000"/>
                  <a:satMod val="10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Not Assigned per Field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Calc!$BM$2</c:f>
              <c:strCache>
                <c:ptCount val="1"/>
                <c:pt idx="0">
                  <c:v>Not Assigned</c:v>
                </c:pt>
              </c:strCache>
            </c:strRef>
          </c:tx>
          <c:spPr>
            <a:solidFill>
              <a:srgbClr val="4F81BD"/>
            </a:solidFill>
            <a:ln w="9525" cap="flat" cmpd="sng" algn="ctr">
              <a:solidFill>
                <a:schemeClr val="lt1">
                  <a:shade val="95000"/>
                  <a:satMod val="105000"/>
                </a:schemeClr>
              </a:solidFill>
              <a:prstDash val="solid"/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1"/>
          <c:cat>
            <c:strRef>
              <c:f>Calc!$BL$3:$BL$13</c:f>
              <c:strCache>
                <c:ptCount val="11"/>
                <c:pt idx="0">
                  <c:v>Request Mode</c:v>
                </c:pt>
                <c:pt idx="1">
                  <c:v>Group</c:v>
                </c:pt>
                <c:pt idx="2">
                  <c:v>Category</c:v>
                </c:pt>
                <c:pt idx="3">
                  <c:v>Subcategory</c:v>
                </c:pt>
                <c:pt idx="4">
                  <c:v>Technician</c:v>
                </c:pt>
                <c:pt idx="5">
                  <c:v>Impact</c:v>
                </c:pt>
                <c:pt idx="6">
                  <c:v>Priority</c:v>
                </c:pt>
                <c:pt idx="7">
                  <c:v>Urgency</c:v>
                </c:pt>
                <c:pt idx="8">
                  <c:v>SLA Name</c:v>
                </c:pt>
                <c:pt idx="9">
                  <c:v>Resolved Time</c:v>
                </c:pt>
                <c:pt idx="10">
                  <c:v>Completed Time</c:v>
                </c:pt>
              </c:strCache>
            </c:strRef>
          </c:cat>
          <c:val>
            <c:numRef>
              <c:f>Calc!$BM$3:$BM$13</c:f>
              <c:numCache>
                <c:formatCode>General</c:formatCode>
                <c:ptCount val="11"/>
                <c:pt idx="0">
                  <c:v>13</c:v>
                </c:pt>
                <c:pt idx="1">
                  <c:v>68</c:v>
                </c:pt>
                <c:pt idx="2">
                  <c:v>35</c:v>
                </c:pt>
                <c:pt idx="3">
                  <c:v>125</c:v>
                </c:pt>
                <c:pt idx="4">
                  <c:v>10</c:v>
                </c:pt>
                <c:pt idx="5">
                  <c:v>12</c:v>
                </c:pt>
                <c:pt idx="6">
                  <c:v>9</c:v>
                </c:pt>
                <c:pt idx="7">
                  <c:v>10</c:v>
                </c:pt>
                <c:pt idx="8">
                  <c:v>203</c:v>
                </c:pt>
                <c:pt idx="9">
                  <c:v>3</c:v>
                </c:pt>
                <c:pt idx="10">
                  <c:v>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 cap="flat" cmpd="sng" algn="ctr">
                    <a:solidFill>
                      <a:schemeClr val="lt1">
                        <a:shade val="95000"/>
                        <a:satMod val="105000"/>
                      </a:schemeClr>
                    </a:solidFill>
                    <a:prstDash val="solid"/>
                    <a:round/>
                  </a:ln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c14:spPr>
              </c14:invertSolidFillFmt>
            </c:ext>
            <c:ext xmlns:c16="http://schemas.microsoft.com/office/drawing/2014/chart" uri="{C3380CC4-5D6E-409C-BE32-E72D297353CC}">
              <c16:uniqueId val="{00000000-E325-4B6F-BF55-B062F8CF35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10"/>
        <c:axId val="100"/>
      </c:barChart>
      <c:catAx>
        <c:axId val="1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shade val="95000"/>
                  <a:satMod val="10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Groups with &gt;7-Day Resolution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v>&gt;7-Day Requests</c:v>
          </c:tx>
          <c:invertIfNegative val="1"/>
          <c:dPt>
            <c:idx val="0"/>
            <c:invertIfNegative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E9-42E8-8C23-56BE305B6BC8}"/>
              </c:ext>
            </c:extLst>
          </c:dPt>
          <c:dPt>
            <c:idx val="1"/>
            <c:invertIfNegative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E9-42E8-8C23-56BE305B6BC8}"/>
              </c:ext>
            </c:extLst>
          </c:dPt>
          <c:dPt>
            <c:idx val="2"/>
            <c:invertIfNegative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7E9-42E8-8C23-56BE305B6BC8}"/>
              </c:ext>
            </c:extLst>
          </c:dPt>
          <c:dPt>
            <c:idx val="3"/>
            <c:invertIfNegative val="1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7E9-42E8-8C23-56BE305B6BC8}"/>
              </c:ext>
            </c:extLst>
          </c:dPt>
          <c:dPt>
            <c:idx val="4"/>
            <c:invertIfNegative val="1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7E9-42E8-8C23-56BE305B6BC8}"/>
              </c:ext>
            </c:extLst>
          </c:dPt>
          <c:dPt>
            <c:idx val="5"/>
            <c:invertIfNegative val="1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7E9-42E8-8C23-56BE305B6BC8}"/>
              </c:ext>
            </c:extLst>
          </c:dPt>
          <c:dPt>
            <c:idx val="6"/>
            <c:invertIfNegative val="1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47E9-42E8-8C23-56BE305B6BC8}"/>
              </c:ext>
            </c:extLst>
          </c:dPt>
          <c:dPt>
            <c:idx val="7"/>
            <c:invertIfNegative val="1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47E9-42E8-8C23-56BE305B6BC8}"/>
              </c:ext>
            </c:extLst>
          </c:dPt>
          <c:dPt>
            <c:idx val="8"/>
            <c:invertIfNegative val="1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47E9-42E8-8C23-56BE305B6BC8}"/>
              </c:ext>
            </c:extLst>
          </c:dPt>
          <c:dPt>
            <c:idx val="9"/>
            <c:invertIfNegative val="1"/>
            <c:bubble3D val="0"/>
            <c:spPr>
              <a:solidFill>
                <a:schemeClr val="accent1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47E9-42E8-8C23-56BE305B6BC8}"/>
              </c:ext>
            </c:extLst>
          </c:dPt>
          <c:cat>
            <c:strRef>
              <c:f>Backlog_Aging!$A$42:$A$51</c:f>
              <c:strCache>
                <c:ptCount val="10"/>
                <c:pt idx="0">
                  <c:v>Branch Tanjung Intan</c:v>
                </c:pt>
                <c:pt idx="1">
                  <c:v>Branch Janirah</c:v>
                </c:pt>
                <c:pt idx="2">
                  <c:v>Branch Tanjung Emas</c:v>
                </c:pt>
                <c:pt idx="3">
                  <c:v>Branch Belawan</c:v>
                </c:pt>
                <c:pt idx="4">
                  <c:v>Pelindo Tower</c:v>
                </c:pt>
                <c:pt idx="5">
                  <c:v>Branch Malahayati</c:v>
                </c:pt>
                <c:pt idx="6">
                  <c:v>Not Assigned</c:v>
                </c:pt>
                <c:pt idx="7">
                  <c:v>Branch Bagendang</c:v>
                </c:pt>
                <c:pt idx="8">
                  <c:v>ITOC - TEAM 3</c:v>
                </c:pt>
                <c:pt idx="9">
                  <c:v>Branch Trisakti</c:v>
                </c:pt>
              </c:strCache>
            </c:strRef>
          </c:cat>
          <c:val>
            <c:numRef>
              <c:f>Backlog_Aging!$B$42:$B$51</c:f>
              <c:numCache>
                <c:formatCode>General</c:formatCode>
                <c:ptCount val="10"/>
                <c:pt idx="0">
                  <c:v>33</c:v>
                </c:pt>
                <c:pt idx="1">
                  <c:v>15</c:v>
                </c:pt>
                <c:pt idx="2">
                  <c:v>7</c:v>
                </c:pt>
                <c:pt idx="3">
                  <c:v>6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47E9-42E8-8C23-56BE305B6B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10"/>
        <c:axId val="100"/>
      </c:barChart>
      <c:catAx>
        <c:axId val="1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shade val="95000"/>
                  <a:satMod val="10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10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1">
      <a:schemeClr val="lt1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>
  <cs:dataPoint3D>
    <cs:lnRef idx="1">
      <a:schemeClr val="lt1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3D>
  <cs:dataPointLine>
    <cs:lnRef idx="1">
      <cs:styleClr val="auto"/>
    </cs:lnRef>
    <cs:lineWidthScale>5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1">
      <a:schemeClr val="dk1"/>
    </cs:effectRef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1">
      <a:schemeClr val="dk1"/>
    </cs:effectRef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10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1">
      <a:schemeClr val="lt1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>
  <cs:dataPoint3D>
    <cs:lnRef idx="1">
      <a:schemeClr val="lt1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3D>
  <cs:dataPointLine>
    <cs:lnRef idx="1">
      <cs:styleClr val="auto"/>
    </cs:lnRef>
    <cs:lineWidthScale>5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1">
      <a:schemeClr val="dk1"/>
    </cs:effectRef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1">
      <a:schemeClr val="dk1"/>
    </cs:effectRef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10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1">
      <a:schemeClr val="lt1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>
  <cs:dataPoint3D>
    <cs:lnRef idx="1">
      <a:schemeClr val="lt1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3D>
  <cs:dataPointLine>
    <cs:lnRef idx="1">
      <cs:styleClr val="auto"/>
    </cs:lnRef>
    <cs:lineWidthScale>5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1">
      <a:schemeClr val="dk1"/>
    </cs:effectRef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1">
      <a:schemeClr val="dk1"/>
    </cs:effectRef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10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1">
      <a:schemeClr val="lt1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>
  <cs:dataPoint3D>
    <cs:lnRef idx="1">
      <a:schemeClr val="lt1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3D>
  <cs:dataPointLine>
    <cs:lnRef idx="1">
      <cs:styleClr val="auto"/>
    </cs:lnRef>
    <cs:lineWidthScale>5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1">
      <a:schemeClr val="dk1"/>
    </cs:effectRef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1">
      <a:schemeClr val="dk1"/>
    </cs:effectRef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10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1">
      <a:schemeClr val="lt1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>
  <cs:dataPoint3D>
    <cs:lnRef idx="1">
      <a:schemeClr val="lt1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3D>
  <cs:dataPointLine>
    <cs:lnRef idx="1">
      <cs:styleClr val="auto"/>
    </cs:lnRef>
    <cs:lineWidthScale>5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1">
      <a:schemeClr val="dk1"/>
    </cs:effectRef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1">
      <a:schemeClr val="dk1"/>
    </cs:effectRef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A22A6645-AE4C-C066-92FF-CD03059D9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>
            <a:extLst>
              <a:ext uri="{FF2B5EF4-FFF2-40B4-BE49-F238E27FC236}">
                <a16:creationId xmlns:a16="http://schemas.microsoft.com/office/drawing/2014/main" id="{E761E5FC-0884-52A5-E069-9569E1D06D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:notes">
            <a:extLst>
              <a:ext uri="{FF2B5EF4-FFF2-40B4-BE49-F238E27FC236}">
                <a16:creationId xmlns:a16="http://schemas.microsoft.com/office/drawing/2014/main" id="{B4BE176C-D9A9-918B-E365-E60A404383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1441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9EFD88A9-9281-C758-6966-C85C3565D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>
            <a:extLst>
              <a:ext uri="{FF2B5EF4-FFF2-40B4-BE49-F238E27FC236}">
                <a16:creationId xmlns:a16="http://schemas.microsoft.com/office/drawing/2014/main" id="{8E937A8F-8C4C-DC75-63D8-4AE94EA269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:notes">
            <a:extLst>
              <a:ext uri="{FF2B5EF4-FFF2-40B4-BE49-F238E27FC236}">
                <a16:creationId xmlns:a16="http://schemas.microsoft.com/office/drawing/2014/main" id="{48B0B813-BBA1-616E-861A-BF859681CE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0722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492894C2-6720-10B0-6DA1-9BECA0FA4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>
            <a:extLst>
              <a:ext uri="{FF2B5EF4-FFF2-40B4-BE49-F238E27FC236}">
                <a16:creationId xmlns:a16="http://schemas.microsoft.com/office/drawing/2014/main" id="{F7979847-C2C7-D799-945D-5DEE68D785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:notes">
            <a:extLst>
              <a:ext uri="{FF2B5EF4-FFF2-40B4-BE49-F238E27FC236}">
                <a16:creationId xmlns:a16="http://schemas.microsoft.com/office/drawing/2014/main" id="{1E18941B-9BE3-E4D6-69D7-3FBE9DE538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33703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F5D510AC-CC7F-0D3A-86CE-ABAF55CE5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>
            <a:extLst>
              <a:ext uri="{FF2B5EF4-FFF2-40B4-BE49-F238E27FC236}">
                <a16:creationId xmlns:a16="http://schemas.microsoft.com/office/drawing/2014/main" id="{D2518FCE-6180-E90B-60F7-AEFCE05E29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:notes">
            <a:extLst>
              <a:ext uri="{FF2B5EF4-FFF2-40B4-BE49-F238E27FC236}">
                <a16:creationId xmlns:a16="http://schemas.microsoft.com/office/drawing/2014/main" id="{A757D2B0-54CE-0E24-8408-0DD213A007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9458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0BE1EDB3-7ED4-9016-30BB-9C1BA21A8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>
            <a:extLst>
              <a:ext uri="{FF2B5EF4-FFF2-40B4-BE49-F238E27FC236}">
                <a16:creationId xmlns:a16="http://schemas.microsoft.com/office/drawing/2014/main" id="{28A712D1-576C-374D-D9BD-EAAFB94C34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:notes">
            <a:extLst>
              <a:ext uri="{FF2B5EF4-FFF2-40B4-BE49-F238E27FC236}">
                <a16:creationId xmlns:a16="http://schemas.microsoft.com/office/drawing/2014/main" id="{12DCE639-1D50-9C95-BF4C-E30E7B10D1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9921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6AF62D3A-0CB9-AD22-9AFC-9230814B0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>
            <a:extLst>
              <a:ext uri="{FF2B5EF4-FFF2-40B4-BE49-F238E27FC236}">
                <a16:creationId xmlns:a16="http://schemas.microsoft.com/office/drawing/2014/main" id="{E28B5AFF-0402-FF84-2793-FB234ACECD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:notes">
            <a:extLst>
              <a:ext uri="{FF2B5EF4-FFF2-40B4-BE49-F238E27FC236}">
                <a16:creationId xmlns:a16="http://schemas.microsoft.com/office/drawing/2014/main" id="{557E8DF4-B4E0-E50E-56C0-E11D27A0F2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3729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D67DB03D-F7BA-64A6-AFC6-329950889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>
            <a:extLst>
              <a:ext uri="{FF2B5EF4-FFF2-40B4-BE49-F238E27FC236}">
                <a16:creationId xmlns:a16="http://schemas.microsoft.com/office/drawing/2014/main" id="{C6FB4678-5B1D-7D48-5928-ABCC3A84E9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8" name="Google Shape;188;p3:notes">
            <a:extLst>
              <a:ext uri="{FF2B5EF4-FFF2-40B4-BE49-F238E27FC236}">
                <a16:creationId xmlns:a16="http://schemas.microsoft.com/office/drawing/2014/main" id="{EA4ACF95-08EA-DCC6-A761-98E4026F59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87997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image" Target="../media/image5.png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5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9.xml"/><Relationship Id="rId3" Type="http://schemas.openxmlformats.org/officeDocument/2006/relationships/image" Target="../media/image5.png"/><Relationship Id="rId7" Type="http://schemas.openxmlformats.org/officeDocument/2006/relationships/chart" Target="../charts/chart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7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chart" Target="../charts/chart1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0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4.xml"/><Relationship Id="rId3" Type="http://schemas.openxmlformats.org/officeDocument/2006/relationships/image" Target="../media/image5.png"/><Relationship Id="rId7" Type="http://schemas.openxmlformats.org/officeDocument/2006/relationships/chart" Target="../charts/chart1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2.xml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chart" Target="../charts/char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chart" Target="../charts/chart1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6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"/>
          <p:cNvPicPr preferRelativeResize="0"/>
          <p:nvPr/>
        </p:nvPicPr>
        <p:blipFill rotWithShape="1">
          <a:blip r:embed="rId3">
            <a:alphaModFix/>
          </a:blip>
          <a:srcRect t="7812" b="7812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"/>
          <p:cNvSpPr/>
          <p:nvPr/>
        </p:nvSpPr>
        <p:spPr>
          <a:xfrm>
            <a:off x="826964" y="5815525"/>
            <a:ext cx="16687724" cy="3628044"/>
          </a:xfrm>
          <a:custGeom>
            <a:avLst/>
            <a:gdLst/>
            <a:ahLst/>
            <a:cxnLst/>
            <a:rect l="l" t="t" r="r" b="b"/>
            <a:pathLst>
              <a:path w="4365657" h="955377" extrusionOk="0">
                <a:moveTo>
                  <a:pt x="4365657" y="23353"/>
                </a:moveTo>
                <a:lnTo>
                  <a:pt x="4365657" y="932024"/>
                </a:lnTo>
                <a:cubicBezTo>
                  <a:pt x="4365657" y="938218"/>
                  <a:pt x="4363196" y="944158"/>
                  <a:pt x="4358817" y="948537"/>
                </a:cubicBezTo>
                <a:cubicBezTo>
                  <a:pt x="4354437" y="952917"/>
                  <a:pt x="4348497" y="955377"/>
                  <a:pt x="4342304" y="955377"/>
                </a:cubicBezTo>
                <a:lnTo>
                  <a:pt x="23353" y="955377"/>
                </a:lnTo>
                <a:cubicBezTo>
                  <a:pt x="17159" y="955377"/>
                  <a:pt x="11219" y="952917"/>
                  <a:pt x="6840" y="948537"/>
                </a:cubicBezTo>
                <a:cubicBezTo>
                  <a:pt x="2460" y="944158"/>
                  <a:pt x="0" y="938218"/>
                  <a:pt x="0" y="932024"/>
                </a:cubicBezTo>
                <a:lnTo>
                  <a:pt x="0" y="23353"/>
                </a:lnTo>
                <a:cubicBezTo>
                  <a:pt x="0" y="17159"/>
                  <a:pt x="2460" y="11219"/>
                  <a:pt x="6840" y="6840"/>
                </a:cubicBezTo>
                <a:cubicBezTo>
                  <a:pt x="11219" y="2460"/>
                  <a:pt x="17159" y="0"/>
                  <a:pt x="23353" y="0"/>
                </a:cubicBezTo>
                <a:lnTo>
                  <a:pt x="4342304" y="0"/>
                </a:lnTo>
                <a:cubicBezTo>
                  <a:pt x="4348497" y="0"/>
                  <a:pt x="4354437" y="2460"/>
                  <a:pt x="4358817" y="6840"/>
                </a:cubicBezTo>
                <a:cubicBezTo>
                  <a:pt x="4363196" y="11219"/>
                  <a:pt x="4365657" y="17159"/>
                  <a:pt x="4365657" y="23353"/>
                </a:cubicBezTo>
                <a:close/>
              </a:path>
            </a:pathLst>
          </a:custGeom>
          <a:solidFill>
            <a:srgbClr val="FFFFFF">
              <a:alpha val="949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"/>
          <p:cNvSpPr/>
          <p:nvPr/>
        </p:nvSpPr>
        <p:spPr>
          <a:xfrm>
            <a:off x="-3336150" y="7831835"/>
            <a:ext cx="21624153" cy="1625991"/>
          </a:xfrm>
          <a:custGeom>
            <a:avLst/>
            <a:gdLst/>
            <a:ahLst/>
            <a:cxnLst/>
            <a:rect l="l" t="t" r="r" b="b"/>
            <a:pathLst>
              <a:path w="20994323" h="1578632" extrusionOk="0">
                <a:moveTo>
                  <a:pt x="0" y="0"/>
                </a:moveTo>
                <a:lnTo>
                  <a:pt x="20994323" y="0"/>
                </a:lnTo>
                <a:lnTo>
                  <a:pt x="20994323" y="1578632"/>
                </a:lnTo>
                <a:lnTo>
                  <a:pt x="0" y="1578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39889"/>
            </a:stretch>
          </a:blipFill>
          <a:ln>
            <a:noFill/>
          </a:ln>
        </p:spPr>
      </p:sp>
      <p:sp>
        <p:nvSpPr>
          <p:cNvPr id="162" name="Google Shape;162;p1"/>
          <p:cNvSpPr txBox="1"/>
          <p:nvPr/>
        </p:nvSpPr>
        <p:spPr>
          <a:xfrm>
            <a:off x="11353986" y="9069732"/>
            <a:ext cx="6213000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FEFDFF"/>
                </a:solidFill>
                <a:latin typeface="Arial"/>
                <a:ea typeface="Arial"/>
                <a:cs typeface="Arial"/>
                <a:sym typeface="Arial"/>
              </a:rPr>
              <a:t>www.pelindomultiterminal.co.id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"/>
          <p:cNvSpPr txBox="1"/>
          <p:nvPr/>
        </p:nvSpPr>
        <p:spPr>
          <a:xfrm>
            <a:off x="17863952" y="9824852"/>
            <a:ext cx="152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66" name="Google Shape;166;p1"/>
          <p:cNvSpPr txBox="1"/>
          <p:nvPr/>
        </p:nvSpPr>
        <p:spPr>
          <a:xfrm>
            <a:off x="1590707" y="6270898"/>
            <a:ext cx="14511023" cy="1538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99" b="1" i="0" u="none" strike="noStrike" cap="none" dirty="0">
                <a:solidFill>
                  <a:srgbClr val="106DB5"/>
                </a:solidFill>
                <a:latin typeface="Arial"/>
                <a:ea typeface="Arial"/>
                <a:cs typeface="Arial"/>
                <a:sym typeface="Arial"/>
              </a:rPr>
              <a:t>Report ITOC Ticketing </a:t>
            </a:r>
            <a:r>
              <a:rPr lang="en-US" sz="4999" b="1" i="0" u="none" strike="noStrike" cap="none" dirty="0" err="1">
                <a:solidFill>
                  <a:srgbClr val="106DB5"/>
                </a:solidFill>
                <a:latin typeface="Arial"/>
                <a:ea typeface="Arial"/>
                <a:cs typeface="Arial"/>
                <a:sym typeface="Arial"/>
              </a:rPr>
              <a:t>Servicedesk</a:t>
            </a:r>
            <a:br>
              <a:rPr lang="en-US" sz="4999" b="1" i="0" u="none" strike="noStrike" cap="none" dirty="0">
                <a:solidFill>
                  <a:srgbClr val="106DB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999" b="1" i="0" u="none" strike="noStrike" cap="none" dirty="0">
                <a:solidFill>
                  <a:srgbClr val="106DB5"/>
                </a:solidFill>
                <a:latin typeface="Arial"/>
                <a:ea typeface="Arial"/>
                <a:cs typeface="Arial"/>
                <a:sym typeface="Arial"/>
              </a:rPr>
              <a:t>PT PELINDO MULTI TERIMINAL</a:t>
            </a:r>
            <a:endParaRPr dirty="0"/>
          </a:p>
        </p:txBody>
      </p:sp>
      <p:sp>
        <p:nvSpPr>
          <p:cNvPr id="167" name="Google Shape;167;p1"/>
          <p:cNvSpPr txBox="1"/>
          <p:nvPr/>
        </p:nvSpPr>
        <p:spPr>
          <a:xfrm>
            <a:off x="1603452" y="7776223"/>
            <a:ext cx="14726539" cy="646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 b="1" i="0" u="none" strike="noStrike" cap="none" dirty="0" err="1">
                <a:solidFill>
                  <a:srgbClr val="073E88"/>
                </a:solidFill>
                <a:latin typeface="Arial"/>
                <a:ea typeface="Arial"/>
                <a:cs typeface="Arial"/>
                <a:sym typeface="Arial"/>
              </a:rPr>
              <a:t>Ringkasan</a:t>
            </a:r>
            <a:r>
              <a:rPr lang="en-US" sz="2999" b="1" i="0" u="none" strike="noStrike" cap="none" dirty="0">
                <a:solidFill>
                  <a:srgbClr val="073E8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999" b="1" dirty="0">
                <a:solidFill>
                  <a:srgbClr val="073E88"/>
                </a:solidFill>
              </a:rPr>
              <a:t>P</a:t>
            </a:r>
            <a:r>
              <a:rPr lang="en-US" sz="2999" b="1" i="0" u="none" strike="noStrike" cap="none" dirty="0">
                <a:solidFill>
                  <a:srgbClr val="073E88"/>
                </a:solidFill>
                <a:latin typeface="Arial"/>
                <a:ea typeface="Arial"/>
                <a:cs typeface="Arial"/>
                <a:sym typeface="Arial"/>
              </a:rPr>
              <a:t>erforma </a:t>
            </a:r>
            <a:r>
              <a:rPr lang="en-US" sz="2999" b="1" dirty="0">
                <a:solidFill>
                  <a:srgbClr val="073E88"/>
                </a:solidFill>
              </a:rPr>
              <a:t>T</a:t>
            </a:r>
            <a:r>
              <a:rPr lang="en-US" sz="2999" b="1" i="0" u="none" strike="noStrike" cap="none" dirty="0">
                <a:solidFill>
                  <a:srgbClr val="073E88"/>
                </a:solidFill>
                <a:latin typeface="Arial"/>
                <a:ea typeface="Arial"/>
                <a:cs typeface="Arial"/>
                <a:sym typeface="Arial"/>
              </a:rPr>
              <a:t>icketing ManageEngine</a:t>
            </a:r>
          </a:p>
        </p:txBody>
      </p:sp>
      <p:sp>
        <p:nvSpPr>
          <p:cNvPr id="168" name="Google Shape;168;p1"/>
          <p:cNvSpPr txBox="1"/>
          <p:nvPr/>
        </p:nvSpPr>
        <p:spPr>
          <a:xfrm>
            <a:off x="1590707" y="8424682"/>
            <a:ext cx="3481487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73E88"/>
                </a:solidFill>
                <a:latin typeface="Arial"/>
                <a:ea typeface="Arial"/>
                <a:cs typeface="Arial"/>
                <a:sym typeface="Arial"/>
              </a:rPr>
              <a:t>September 2026</a:t>
            </a:r>
          </a:p>
        </p:txBody>
      </p:sp>
      <p:sp>
        <p:nvSpPr>
          <p:cNvPr id="169" name="Google Shape;169;p1"/>
          <p:cNvSpPr/>
          <p:nvPr/>
        </p:nvSpPr>
        <p:spPr>
          <a:xfrm>
            <a:off x="14119030" y="578428"/>
            <a:ext cx="3448721" cy="987645"/>
          </a:xfrm>
          <a:custGeom>
            <a:avLst/>
            <a:gdLst/>
            <a:ahLst/>
            <a:cxnLst/>
            <a:rect l="l" t="t" r="r" b="b"/>
            <a:pathLst>
              <a:path w="3448721" h="987645" extrusionOk="0">
                <a:moveTo>
                  <a:pt x="0" y="0"/>
                </a:moveTo>
                <a:lnTo>
                  <a:pt x="3448721" y="0"/>
                </a:lnTo>
                <a:lnTo>
                  <a:pt x="3448721" y="987644"/>
                </a:lnTo>
                <a:lnTo>
                  <a:pt x="0" y="987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30951" r="-6104" b="-23251"/>
            </a:stretch>
          </a:blipFill>
          <a:ln>
            <a:noFill/>
          </a:ln>
        </p:spPr>
      </p:sp>
      <p:sp>
        <p:nvSpPr>
          <p:cNvPr id="170" name="Google Shape;170;p1"/>
          <p:cNvSpPr/>
          <p:nvPr/>
        </p:nvSpPr>
        <p:spPr>
          <a:xfrm>
            <a:off x="1086389" y="660493"/>
            <a:ext cx="2423402" cy="727021"/>
          </a:xfrm>
          <a:custGeom>
            <a:avLst/>
            <a:gdLst/>
            <a:ahLst/>
            <a:cxnLst/>
            <a:rect l="l" t="t" r="r" b="b"/>
            <a:pathLst>
              <a:path w="2423402" h="727021" extrusionOk="0">
                <a:moveTo>
                  <a:pt x="0" y="0"/>
                </a:moveTo>
                <a:lnTo>
                  <a:pt x="2423402" y="0"/>
                </a:lnTo>
                <a:lnTo>
                  <a:pt x="2423402" y="727021"/>
                </a:lnTo>
                <a:lnTo>
                  <a:pt x="0" y="727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7356957" y="9478984"/>
            <a:ext cx="1524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3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Management Summary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76AACCC-A75A-FB27-7FE6-17FE6EFAA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25353"/>
              </p:ext>
            </p:extLst>
          </p:nvPr>
        </p:nvGraphicFramePr>
        <p:xfrm>
          <a:off x="1944000" y="1685759"/>
          <a:ext cx="14400000" cy="3600000"/>
        </p:xfrm>
        <a:graphic>
          <a:graphicData uri="http://schemas.openxmlformats.org/drawingml/2006/table">
            <a:tbl>
              <a:tblPr/>
              <a:tblGrid>
                <a:gridCol w="2400000">
                  <a:extLst>
                    <a:ext uri="{9D8B030D-6E8A-4147-A177-3AD203B41FA5}">
                      <a16:colId xmlns:a16="http://schemas.microsoft.com/office/drawing/2014/main" val="4174393813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572015465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131051047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136618859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3107718356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3660090456"/>
                    </a:ext>
                  </a:extLst>
                </a:gridCol>
              </a:tblGrid>
              <a:tr h="12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REQUESTS</a:t>
                      </a:r>
                    </a:p>
                  </a:txBody>
                  <a:tcPr marL="3491" marR="3491" marT="349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C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CLOSED / RESOLVED</a:t>
                      </a:r>
                    </a:p>
                  </a:txBody>
                  <a:tcPr marL="3491" marR="3491" marT="349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PENDING</a:t>
                      </a:r>
                    </a:p>
                  </a:txBody>
                  <a:tcPr marL="3491" marR="3491" marT="349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2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IMPACT</a:t>
                      </a:r>
                    </a:p>
                  </a:txBody>
                  <a:tcPr marL="3491" marR="3491" marT="349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2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MEDIAN RESOLUTION</a:t>
                      </a:r>
                    </a:p>
                  </a:txBody>
                  <a:tcPr marL="3491" marR="3491" marT="349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2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RESOLUTION RATE</a:t>
                      </a:r>
                    </a:p>
                  </a:txBody>
                  <a:tcPr marL="3491" marR="3491" marT="349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66623"/>
                  </a:ext>
                </a:extLst>
              </a:tr>
              <a:tr h="12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2800" b="1" i="0" u="none" strike="noStrike" dirty="0">
                          <a:solidFill>
                            <a:srgbClr val="16365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875</a:t>
                      </a:r>
                    </a:p>
                  </a:txBody>
                  <a:tcPr marL="3491" marR="3491" marT="349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2800" b="1" i="0" u="none" strike="noStrike" dirty="0">
                          <a:solidFill>
                            <a:srgbClr val="16365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872</a:t>
                      </a:r>
                    </a:p>
                  </a:txBody>
                  <a:tcPr marL="3491" marR="3491" marT="349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2800" b="1" i="0" u="none" strike="noStrike" dirty="0">
                          <a:solidFill>
                            <a:srgbClr val="16365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491" marR="3491" marT="349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2800" b="1" i="0" u="none" strike="noStrike" dirty="0">
                          <a:solidFill>
                            <a:srgbClr val="16365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81</a:t>
                      </a:r>
                    </a:p>
                  </a:txBody>
                  <a:tcPr marL="3491" marR="3491" marT="349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2800" b="1" i="0" u="none" strike="noStrike" dirty="0">
                          <a:solidFill>
                            <a:srgbClr val="16365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0,33 h</a:t>
                      </a:r>
                    </a:p>
                  </a:txBody>
                  <a:tcPr marL="3491" marR="3491" marT="349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2800" b="1" i="0" u="none" strike="noStrike" dirty="0">
                          <a:solidFill>
                            <a:srgbClr val="16365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99,7%</a:t>
                      </a:r>
                    </a:p>
                  </a:txBody>
                  <a:tcPr marL="3491" marR="3491" marT="349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016189"/>
                  </a:ext>
                </a:extLst>
              </a:tr>
              <a:tr h="12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20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Requests created in report period</a:t>
                      </a:r>
                    </a:p>
                  </a:txBody>
                  <a:tcPr marL="3491" marR="3491" marT="349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20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 Closed + Resolved</a:t>
                      </a:r>
                    </a:p>
                  </a:txBody>
                  <a:tcPr marL="3491" marR="3491" marT="349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20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 Pending</a:t>
                      </a:r>
                    </a:p>
                  </a:txBody>
                  <a:tcPr marL="3491" marR="3491" marT="349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20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 High SLA</a:t>
                      </a:r>
                    </a:p>
                  </a:txBody>
                  <a:tcPr marL="3491" marR="3491" marT="349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20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 timestamp duration</a:t>
                      </a:r>
                    </a:p>
                  </a:txBody>
                  <a:tcPr marL="3491" marR="3491" marT="349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20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Closed Ticket Percentage</a:t>
                      </a:r>
                    </a:p>
                  </a:txBody>
                  <a:tcPr marL="3491" marR="3491" marT="349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350560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5562220"/>
              </p:ext>
            </p:extLst>
          </p:nvPr>
        </p:nvGraphicFramePr>
        <p:xfrm>
          <a:off x="347528" y="5656851"/>
          <a:ext cx="6572250" cy="259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596192"/>
              </p:ext>
            </p:extLst>
          </p:nvPr>
        </p:nvGraphicFramePr>
        <p:xfrm>
          <a:off x="6877476" y="5512851"/>
          <a:ext cx="6063272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00000000-0008-0000-00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4178572"/>
              </p:ext>
            </p:extLst>
          </p:nvPr>
        </p:nvGraphicFramePr>
        <p:xfrm>
          <a:off x="12235175" y="5512851"/>
          <a:ext cx="540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4626ABF0-A635-288F-337F-DB4D75F91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3">
            <a:extLst>
              <a:ext uri="{FF2B5EF4-FFF2-40B4-BE49-F238E27FC236}">
                <a16:creationId xmlns:a16="http://schemas.microsoft.com/office/drawing/2014/main" id="{51A8D1FB-1BD1-A632-9BDB-348EF4DFB4F1}"/>
              </a:ext>
            </a:extLst>
          </p:cNvPr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>
              <a:extLst>
                <a:ext uri="{FF2B5EF4-FFF2-40B4-BE49-F238E27FC236}">
                  <a16:creationId xmlns:a16="http://schemas.microsoft.com/office/drawing/2014/main" id="{A9415807-72E8-1C66-A6A8-2CA70F197CF0}"/>
                </a:ext>
              </a:extLst>
            </p:cNvPr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>
              <a:extLst>
                <a:ext uri="{FF2B5EF4-FFF2-40B4-BE49-F238E27FC236}">
                  <a16:creationId xmlns:a16="http://schemas.microsoft.com/office/drawing/2014/main" id="{24BE2C98-C38C-6424-34A9-58742C913A92}"/>
                </a:ext>
              </a:extLst>
            </p:cNvPr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>
            <a:extLst>
              <a:ext uri="{FF2B5EF4-FFF2-40B4-BE49-F238E27FC236}">
                <a16:creationId xmlns:a16="http://schemas.microsoft.com/office/drawing/2014/main" id="{B3E18E53-0071-2069-5D5A-6EB8FBD8317B}"/>
              </a:ext>
            </a:extLst>
          </p:cNvPr>
          <p:cNvSpPr txBox="1"/>
          <p:nvPr/>
        </p:nvSpPr>
        <p:spPr>
          <a:xfrm>
            <a:off x="17356957" y="9478984"/>
            <a:ext cx="1524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3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>
            <a:extLst>
              <a:ext uri="{FF2B5EF4-FFF2-40B4-BE49-F238E27FC236}">
                <a16:creationId xmlns:a16="http://schemas.microsoft.com/office/drawing/2014/main" id="{67E94C7A-EDF2-193A-C135-B0E51E5E0848}"/>
              </a:ext>
            </a:extLst>
          </p:cNvPr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Ticketing : Trend</a:t>
            </a:r>
          </a:p>
        </p:txBody>
      </p:sp>
      <p:sp>
        <p:nvSpPr>
          <p:cNvPr id="199" name="Google Shape;199;p3">
            <a:extLst>
              <a:ext uri="{FF2B5EF4-FFF2-40B4-BE49-F238E27FC236}">
                <a16:creationId xmlns:a16="http://schemas.microsoft.com/office/drawing/2014/main" id="{BEEFE726-36F8-5BD6-7840-60F1AF888D4E}"/>
              </a:ext>
            </a:extLst>
          </p:cNvPr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>
            <a:extLst>
              <a:ext uri="{FF2B5EF4-FFF2-40B4-BE49-F238E27FC236}">
                <a16:creationId xmlns:a16="http://schemas.microsoft.com/office/drawing/2014/main" id="{5EDC1DB7-334B-3A8E-1A12-AE3098195DA3}"/>
              </a:ext>
            </a:extLst>
          </p:cNvPr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>
            <a:extLst>
              <a:ext uri="{FF2B5EF4-FFF2-40B4-BE49-F238E27FC236}">
                <a16:creationId xmlns:a16="http://schemas.microsoft.com/office/drawing/2014/main" id="{FF65D396-049A-C571-FAA7-FA5F6AB57BB0}"/>
              </a:ext>
            </a:extLst>
          </p:cNvPr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0000000-0008-0000-02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3081847"/>
              </p:ext>
            </p:extLst>
          </p:nvPr>
        </p:nvGraphicFramePr>
        <p:xfrm>
          <a:off x="8457592" y="1297800"/>
          <a:ext cx="900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0000000-0008-0000-02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2863364"/>
              </p:ext>
            </p:extLst>
          </p:nvPr>
        </p:nvGraphicFramePr>
        <p:xfrm>
          <a:off x="8457592" y="4104426"/>
          <a:ext cx="900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0000000-0008-0000-02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8585336"/>
              </p:ext>
            </p:extLst>
          </p:nvPr>
        </p:nvGraphicFramePr>
        <p:xfrm>
          <a:off x="8457592" y="6911051"/>
          <a:ext cx="9000000" cy="19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7F63BF4-DE14-2FF2-7FC8-BDF2F4BF47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557900"/>
              </p:ext>
            </p:extLst>
          </p:nvPr>
        </p:nvGraphicFramePr>
        <p:xfrm>
          <a:off x="606224" y="1380504"/>
          <a:ext cx="2160000" cy="7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401284742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90603258"/>
                    </a:ext>
                  </a:extLst>
                </a:gridCol>
              </a:tblGrid>
              <a:tr h="225000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DAILY VOLUME</a:t>
                      </a:r>
                      <a:endParaRPr lang="en-ID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66956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  <a:endParaRPr lang="en-ID" sz="11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Requests</a:t>
                      </a:r>
                      <a:endParaRPr lang="en-ID" sz="11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772908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01-Sep-2026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570178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02-Sep-2026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054827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03-Sep-2026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860979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04-Sep-2026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66623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089516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080595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301176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172808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472834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980483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15759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728349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300046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20013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92794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714657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398456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80033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343785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00125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395525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920883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546007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43303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189679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915025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0573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892055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434728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30-Sep-2026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60" marR="3660" marT="366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293284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A59B537-D8DA-EAC9-FD63-34040112B6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739876"/>
              </p:ext>
            </p:extLst>
          </p:nvPr>
        </p:nvGraphicFramePr>
        <p:xfrm>
          <a:off x="3059793" y="1380521"/>
          <a:ext cx="2160000" cy="5399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114895994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76892033"/>
                    </a:ext>
                  </a:extLst>
                </a:gridCol>
              </a:tblGrid>
              <a:tr h="207692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HOURLY PROFILE</a:t>
                      </a:r>
                      <a:endParaRPr lang="en-ID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454350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solidFill>
                            <a:schemeClr val="bg1"/>
                          </a:solidFill>
                          <a:effectLst/>
                        </a:rPr>
                        <a:t>Hour</a:t>
                      </a:r>
                      <a:endParaRPr lang="en-ID" sz="10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Requests</a:t>
                      </a:r>
                      <a:endParaRPr lang="en-ID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195548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00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ID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537130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01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359002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02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227557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03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819603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04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76247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05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284054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06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14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219941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07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34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846181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08</a:t>
                      </a:r>
                      <a:endParaRPr lang="en-ID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82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686385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09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80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040739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81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50551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61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571648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71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913095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89</a:t>
                      </a:r>
                      <a:endParaRPr lang="en-ID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1581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14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116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717357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72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810266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36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831582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en-ID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27</a:t>
                      </a:r>
                      <a:endParaRPr lang="en-ID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884527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18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10307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19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14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900751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20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071569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21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32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800697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22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353732"/>
                  </a:ext>
                </a:extLst>
              </a:tr>
              <a:tr h="207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>
                          <a:solidFill>
                            <a:schemeClr val="tx1"/>
                          </a:solidFill>
                          <a:effectLst/>
                        </a:rPr>
                        <a:t>23</a:t>
                      </a:r>
                      <a:endParaRPr lang="en-ID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en-ID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7" marR="4487" marT="4487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77993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93709A7-A21C-CEA6-EC56-2918951435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071545"/>
              </p:ext>
            </p:extLst>
          </p:nvPr>
        </p:nvGraphicFramePr>
        <p:xfrm>
          <a:off x="5667375" y="1380506"/>
          <a:ext cx="2160000" cy="25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58994152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087694582"/>
                    </a:ext>
                  </a:extLst>
                </a:gridCol>
              </a:tblGrid>
              <a:tr h="280000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WEEKDAY PROFILE</a:t>
                      </a:r>
                      <a:endParaRPr lang="en-ID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08548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u="none" strike="noStrike">
                          <a:solidFill>
                            <a:schemeClr val="bg1"/>
                          </a:solidFill>
                          <a:effectLst/>
                        </a:rPr>
                        <a:t>Weekday</a:t>
                      </a:r>
                      <a:endParaRPr lang="en-ID" sz="11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Requests</a:t>
                      </a:r>
                      <a:endParaRPr lang="en-ID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158278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Senin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150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00590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Selasa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</a:rPr>
                        <a:t>205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409224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en-ID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abu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</a:rPr>
                        <a:t>195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957859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K</a:t>
                      </a:r>
                      <a:r>
                        <a:rPr lang="en-ID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amis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135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51592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J</a:t>
                      </a:r>
                      <a:r>
                        <a:rPr lang="en-ID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umat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>
                          <a:solidFill>
                            <a:schemeClr val="tx1"/>
                          </a:solidFill>
                          <a:effectLst/>
                        </a:rPr>
                        <a:t>126</a:t>
                      </a:r>
                      <a:endParaRPr lang="en-ID" sz="11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976454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Sabtu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709943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r>
                        <a:rPr lang="en-ID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inggu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23</a:t>
                      </a:r>
                      <a:endParaRPr lang="en-ID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922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4216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96E13AFC-8FD0-E378-DAFA-ADF996537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3">
            <a:extLst>
              <a:ext uri="{FF2B5EF4-FFF2-40B4-BE49-F238E27FC236}">
                <a16:creationId xmlns:a16="http://schemas.microsoft.com/office/drawing/2014/main" id="{BE58C530-EB55-9E83-3986-9DC451B105E9}"/>
              </a:ext>
            </a:extLst>
          </p:cNvPr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>
              <a:extLst>
                <a:ext uri="{FF2B5EF4-FFF2-40B4-BE49-F238E27FC236}">
                  <a16:creationId xmlns:a16="http://schemas.microsoft.com/office/drawing/2014/main" id="{1F250FA6-C89F-CA18-AA2A-CBF82D79ACA1}"/>
                </a:ext>
              </a:extLst>
            </p:cNvPr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>
              <a:extLst>
                <a:ext uri="{FF2B5EF4-FFF2-40B4-BE49-F238E27FC236}">
                  <a16:creationId xmlns:a16="http://schemas.microsoft.com/office/drawing/2014/main" id="{2B4E45AF-87B2-8545-1FB6-F946426CA6AD}"/>
                </a:ext>
              </a:extLst>
            </p:cNvPr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>
            <a:extLst>
              <a:ext uri="{FF2B5EF4-FFF2-40B4-BE49-F238E27FC236}">
                <a16:creationId xmlns:a16="http://schemas.microsoft.com/office/drawing/2014/main" id="{79FDD14B-5E17-37CE-24D7-C6860DE8FF49}"/>
              </a:ext>
            </a:extLst>
          </p:cNvPr>
          <p:cNvSpPr txBox="1"/>
          <p:nvPr/>
        </p:nvSpPr>
        <p:spPr>
          <a:xfrm>
            <a:off x="17356957" y="9478984"/>
            <a:ext cx="1524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4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>
            <a:extLst>
              <a:ext uri="{FF2B5EF4-FFF2-40B4-BE49-F238E27FC236}">
                <a16:creationId xmlns:a16="http://schemas.microsoft.com/office/drawing/2014/main" id="{DC36C6D8-DDCA-2422-9879-0DAF883691C3}"/>
              </a:ext>
            </a:extLst>
          </p:cNvPr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Ticketing : Workload</a:t>
            </a:r>
          </a:p>
        </p:txBody>
      </p:sp>
      <p:sp>
        <p:nvSpPr>
          <p:cNvPr id="199" name="Google Shape;199;p3">
            <a:extLst>
              <a:ext uri="{FF2B5EF4-FFF2-40B4-BE49-F238E27FC236}">
                <a16:creationId xmlns:a16="http://schemas.microsoft.com/office/drawing/2014/main" id="{2CE3B9C1-729C-2DF7-4470-31ACB9A738DD}"/>
              </a:ext>
            </a:extLst>
          </p:cNvPr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>
            <a:extLst>
              <a:ext uri="{FF2B5EF4-FFF2-40B4-BE49-F238E27FC236}">
                <a16:creationId xmlns:a16="http://schemas.microsoft.com/office/drawing/2014/main" id="{32E53B8D-B5FD-CE65-01BE-B1F1A125D462}"/>
              </a:ext>
            </a:extLst>
          </p:cNvPr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>
            <a:extLst>
              <a:ext uri="{FF2B5EF4-FFF2-40B4-BE49-F238E27FC236}">
                <a16:creationId xmlns:a16="http://schemas.microsoft.com/office/drawing/2014/main" id="{FF5F79BD-9D0B-57E0-8B27-982EF885EE68}"/>
              </a:ext>
            </a:extLst>
          </p:cNvPr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3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6807431"/>
              </p:ext>
            </p:extLst>
          </p:nvPr>
        </p:nvGraphicFramePr>
        <p:xfrm>
          <a:off x="8910437" y="1482848"/>
          <a:ext cx="90000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0000000-0008-0000-03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6274542"/>
              </p:ext>
            </p:extLst>
          </p:nvPr>
        </p:nvGraphicFramePr>
        <p:xfrm>
          <a:off x="8910437" y="4115696"/>
          <a:ext cx="9000000" cy="25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0000000-0008-0000-03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6202729"/>
              </p:ext>
            </p:extLst>
          </p:nvPr>
        </p:nvGraphicFramePr>
        <p:xfrm>
          <a:off x="8910437" y="7000544"/>
          <a:ext cx="9000000" cy="25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BFAE1FC-DE97-E3D5-4BB6-00AEF3E61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636209"/>
              </p:ext>
            </p:extLst>
          </p:nvPr>
        </p:nvGraphicFramePr>
        <p:xfrm>
          <a:off x="628650" y="1746726"/>
          <a:ext cx="4800600" cy="1908810"/>
        </p:xfrm>
        <a:graphic>
          <a:graphicData uri="http://schemas.openxmlformats.org/drawingml/2006/table">
            <a:tbl>
              <a:tblPr/>
              <a:tblGrid>
                <a:gridCol w="2425700">
                  <a:extLst>
                    <a:ext uri="{9D8B030D-6E8A-4147-A177-3AD203B41FA5}">
                      <a16:colId xmlns:a16="http://schemas.microsoft.com/office/drawing/2014/main" val="17038305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26562908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71024358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902966278"/>
                    </a:ext>
                  </a:extLst>
                </a:gridCol>
              </a:tblGrid>
              <a:tr h="280035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 CATEGORIES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36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73709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Requests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Share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Rank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63305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Network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29,9%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47123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General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19,4%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12494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Hardware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16,5%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96232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12,0%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10325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6,6%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67634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Desktop Hardware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5,6%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915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4,7%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54999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Assigned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4,0%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74236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E83946-C340-4FF2-3EA2-09641AC07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690379"/>
              </p:ext>
            </p:extLst>
          </p:nvPr>
        </p:nvGraphicFramePr>
        <p:xfrm>
          <a:off x="628650" y="4192660"/>
          <a:ext cx="4800600" cy="2270760"/>
        </p:xfrm>
        <a:graphic>
          <a:graphicData uri="http://schemas.openxmlformats.org/drawingml/2006/table">
            <a:tbl>
              <a:tblPr/>
              <a:tblGrid>
                <a:gridCol w="2425700">
                  <a:extLst>
                    <a:ext uri="{9D8B030D-6E8A-4147-A177-3AD203B41FA5}">
                      <a16:colId xmlns:a16="http://schemas.microsoft.com/office/drawing/2014/main" val="15981076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178130677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89196587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190040291"/>
                    </a:ext>
                  </a:extLst>
                </a:gridCol>
              </a:tblGrid>
              <a:tr h="280035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 GROUPS / SITES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36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72804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 / Site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Requests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Share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Rank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28108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Branch Janirah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12,5%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57361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Assigned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7,8%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96653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Head Office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7,8%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17103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Branch Tanjung Emas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6,5%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98983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Branch Belawan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6,2%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66961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Branch Malahayati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5,6%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82781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Branch Bumiharjo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5,3%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18613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ITOC - TEAM 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4,3%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90182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Branch Lhokseumawe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4,1%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52595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Branch Tanjung Intan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3,8%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56808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A34F271-0D50-A78E-6DC8-172529B653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270568"/>
              </p:ext>
            </p:extLst>
          </p:nvPr>
        </p:nvGraphicFramePr>
        <p:xfrm>
          <a:off x="628650" y="7000544"/>
          <a:ext cx="4800600" cy="2270760"/>
        </p:xfrm>
        <a:graphic>
          <a:graphicData uri="http://schemas.openxmlformats.org/drawingml/2006/table">
            <a:tbl>
              <a:tblPr/>
              <a:tblGrid>
                <a:gridCol w="2425700">
                  <a:extLst>
                    <a:ext uri="{9D8B030D-6E8A-4147-A177-3AD203B41FA5}">
                      <a16:colId xmlns:a16="http://schemas.microsoft.com/office/drawing/2014/main" val="216172146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1414140153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2649139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786689483"/>
                    </a:ext>
                  </a:extLst>
                </a:gridCol>
              </a:tblGrid>
              <a:tr h="280035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 TECHNICIANS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36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48274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Technician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Requests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Share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Rank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64432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 Operation Center PMT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17,1%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96734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Putra Anugrah Purwanto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6,5%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06290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Aditya Ari Saputra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6,4%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33526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M. Zainal Abidin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6,1%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37718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Mochammad Afief Caesaria Suhardy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5,7%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87168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Berry Richard Ornos Sinambela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5,0%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03955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Reza Maulana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4,1%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95686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Irfan Perdana Efendi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3,8%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4794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Mochammad Baihaqi Adji Kurniawan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3,7%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9549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Intje Irfan Ibrahim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3,3%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574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7666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F2118DB1-3798-3BB7-1235-AF19EB3E4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3">
            <a:extLst>
              <a:ext uri="{FF2B5EF4-FFF2-40B4-BE49-F238E27FC236}">
                <a16:creationId xmlns:a16="http://schemas.microsoft.com/office/drawing/2014/main" id="{EFDB8DBF-9611-14EC-2013-E355BCAD50CB}"/>
              </a:ext>
            </a:extLst>
          </p:cNvPr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>
              <a:extLst>
                <a:ext uri="{FF2B5EF4-FFF2-40B4-BE49-F238E27FC236}">
                  <a16:creationId xmlns:a16="http://schemas.microsoft.com/office/drawing/2014/main" id="{16CA1628-BE30-9D24-A8D0-FCF8666EBB39}"/>
                </a:ext>
              </a:extLst>
            </p:cNvPr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>
              <a:extLst>
                <a:ext uri="{FF2B5EF4-FFF2-40B4-BE49-F238E27FC236}">
                  <a16:creationId xmlns:a16="http://schemas.microsoft.com/office/drawing/2014/main" id="{6F824823-F2D6-E3C1-8CE4-2F193350C899}"/>
                </a:ext>
              </a:extLst>
            </p:cNvPr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>
            <a:extLst>
              <a:ext uri="{FF2B5EF4-FFF2-40B4-BE49-F238E27FC236}">
                <a16:creationId xmlns:a16="http://schemas.microsoft.com/office/drawing/2014/main" id="{38F5E6FB-A9A4-F20B-6812-CA066D178D6D}"/>
              </a:ext>
            </a:extLst>
          </p:cNvPr>
          <p:cNvSpPr txBox="1"/>
          <p:nvPr/>
        </p:nvSpPr>
        <p:spPr>
          <a:xfrm>
            <a:off x="17356957" y="9478984"/>
            <a:ext cx="1524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4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>
            <a:extLst>
              <a:ext uri="{FF2B5EF4-FFF2-40B4-BE49-F238E27FC236}">
                <a16:creationId xmlns:a16="http://schemas.microsoft.com/office/drawing/2014/main" id="{547F3006-4AF0-5412-41EB-618F2E7FA88C}"/>
              </a:ext>
            </a:extLst>
          </p:cNvPr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Ticketing : SLA Impact</a:t>
            </a:r>
          </a:p>
        </p:txBody>
      </p:sp>
      <p:sp>
        <p:nvSpPr>
          <p:cNvPr id="199" name="Google Shape;199;p3">
            <a:extLst>
              <a:ext uri="{FF2B5EF4-FFF2-40B4-BE49-F238E27FC236}">
                <a16:creationId xmlns:a16="http://schemas.microsoft.com/office/drawing/2014/main" id="{AF36776E-4499-E8AD-C1BE-C9372ABE896F}"/>
              </a:ext>
            </a:extLst>
          </p:cNvPr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>
            <a:extLst>
              <a:ext uri="{FF2B5EF4-FFF2-40B4-BE49-F238E27FC236}">
                <a16:creationId xmlns:a16="http://schemas.microsoft.com/office/drawing/2014/main" id="{2ECD4B7B-CF69-DBDB-7D14-DB9E0DE01E29}"/>
              </a:ext>
            </a:extLst>
          </p:cNvPr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>
            <a:extLst>
              <a:ext uri="{FF2B5EF4-FFF2-40B4-BE49-F238E27FC236}">
                <a16:creationId xmlns:a16="http://schemas.microsoft.com/office/drawing/2014/main" id="{2DCF970A-56FC-A95A-DA50-4411BA7EFB9A}"/>
              </a:ext>
            </a:extLst>
          </p:cNvPr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4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4876016"/>
              </p:ext>
            </p:extLst>
          </p:nvPr>
        </p:nvGraphicFramePr>
        <p:xfrm>
          <a:off x="8829900" y="1648039"/>
          <a:ext cx="90000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0000000-0008-0000-04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3273933"/>
              </p:ext>
            </p:extLst>
          </p:nvPr>
        </p:nvGraphicFramePr>
        <p:xfrm>
          <a:off x="8829900" y="5563511"/>
          <a:ext cx="90000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303F34F-630C-C9DE-2605-4DA0D5125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949458"/>
              </p:ext>
            </p:extLst>
          </p:nvPr>
        </p:nvGraphicFramePr>
        <p:xfrm>
          <a:off x="634169" y="1550657"/>
          <a:ext cx="5600700" cy="1184910"/>
        </p:xfrm>
        <a:graphic>
          <a:graphicData uri="http://schemas.openxmlformats.org/drawingml/2006/table">
            <a:tbl>
              <a:tblPr/>
              <a:tblGrid>
                <a:gridCol w="1574800">
                  <a:extLst>
                    <a:ext uri="{9D8B030D-6E8A-4147-A177-3AD203B41FA5}">
                      <a16:colId xmlns:a16="http://schemas.microsoft.com/office/drawing/2014/main" val="36059769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59623226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331420908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3095930114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4181646627"/>
                    </a:ext>
                  </a:extLst>
                </a:gridCol>
              </a:tblGrid>
              <a:tr h="280035">
                <a:tc grid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SLA MIX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36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40489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SLA Name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Requests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Share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Avg Resolution (h)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&gt;7d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17948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SLA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11,2%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46,26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22953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 SLA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30,6%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12,66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78801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SLA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35,0%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20,11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14478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Assigned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23,2%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95,53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09496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598604C-19F6-33E6-D4CC-CBE5E558E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521375"/>
              </p:ext>
            </p:extLst>
          </p:nvPr>
        </p:nvGraphicFramePr>
        <p:xfrm>
          <a:off x="634169" y="3448039"/>
          <a:ext cx="6464300" cy="1184910"/>
        </p:xfrm>
        <a:graphic>
          <a:graphicData uri="http://schemas.openxmlformats.org/drawingml/2006/table">
            <a:tbl>
              <a:tblPr/>
              <a:tblGrid>
                <a:gridCol w="1574800">
                  <a:extLst>
                    <a:ext uri="{9D8B030D-6E8A-4147-A177-3AD203B41FA5}">
                      <a16:colId xmlns:a16="http://schemas.microsoft.com/office/drawing/2014/main" val="207918061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3273269757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3335121467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3011617665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131726529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4241565880"/>
                    </a:ext>
                  </a:extLst>
                </a:gridCol>
              </a:tblGrid>
              <a:tr h="280035">
                <a:tc gridSpan="6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IMPACT PROFILE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36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5976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Impact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Requests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Share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Avg Resolution (h)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&lt;=1h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&gt;7d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43515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9,3%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57,48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243337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42,2%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38,04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57679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47,2%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35,30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42516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Assigned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1,4%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15,22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65451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F04A58F-E262-BF13-9FDB-C60E98593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907153"/>
              </p:ext>
            </p:extLst>
          </p:nvPr>
        </p:nvGraphicFramePr>
        <p:xfrm>
          <a:off x="634169" y="5480515"/>
          <a:ext cx="6931404" cy="1184910"/>
        </p:xfrm>
        <a:graphic>
          <a:graphicData uri="http://schemas.openxmlformats.org/drawingml/2006/table">
            <a:tbl>
              <a:tblPr/>
              <a:tblGrid>
                <a:gridCol w="1688593">
                  <a:extLst>
                    <a:ext uri="{9D8B030D-6E8A-4147-A177-3AD203B41FA5}">
                      <a16:colId xmlns:a16="http://schemas.microsoft.com/office/drawing/2014/main" val="3758212309"/>
                    </a:ext>
                  </a:extLst>
                </a:gridCol>
                <a:gridCol w="926003">
                  <a:extLst>
                    <a:ext uri="{9D8B030D-6E8A-4147-A177-3AD203B41FA5}">
                      <a16:colId xmlns:a16="http://schemas.microsoft.com/office/drawing/2014/main" val="2662624555"/>
                    </a:ext>
                  </a:extLst>
                </a:gridCol>
                <a:gridCol w="926003">
                  <a:extLst>
                    <a:ext uri="{9D8B030D-6E8A-4147-A177-3AD203B41FA5}">
                      <a16:colId xmlns:a16="http://schemas.microsoft.com/office/drawing/2014/main" val="2040758602"/>
                    </a:ext>
                  </a:extLst>
                </a:gridCol>
                <a:gridCol w="1538799">
                  <a:extLst>
                    <a:ext uri="{9D8B030D-6E8A-4147-A177-3AD203B41FA5}">
                      <a16:colId xmlns:a16="http://schemas.microsoft.com/office/drawing/2014/main" val="1078441358"/>
                    </a:ext>
                  </a:extLst>
                </a:gridCol>
                <a:gridCol w="926003">
                  <a:extLst>
                    <a:ext uri="{9D8B030D-6E8A-4147-A177-3AD203B41FA5}">
                      <a16:colId xmlns:a16="http://schemas.microsoft.com/office/drawing/2014/main" val="47107535"/>
                    </a:ext>
                  </a:extLst>
                </a:gridCol>
                <a:gridCol w="926003">
                  <a:extLst>
                    <a:ext uri="{9D8B030D-6E8A-4147-A177-3AD203B41FA5}">
                      <a16:colId xmlns:a16="http://schemas.microsoft.com/office/drawing/2014/main" val="1180156242"/>
                    </a:ext>
                  </a:extLst>
                </a:gridCol>
              </a:tblGrid>
              <a:tr h="280035">
                <a:tc gridSpan="6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SLA NAME × IMPACT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36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39395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SLA Name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Assigned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86901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SLA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65737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 SLA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84547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SLA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71847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Assigned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806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2820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5FC90644-5C5D-4B13-A0CF-E4078441E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3">
            <a:extLst>
              <a:ext uri="{FF2B5EF4-FFF2-40B4-BE49-F238E27FC236}">
                <a16:creationId xmlns:a16="http://schemas.microsoft.com/office/drawing/2014/main" id="{FFA3B59A-FD0B-B0A4-5EBC-01FEEFBF7492}"/>
              </a:ext>
            </a:extLst>
          </p:cNvPr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>
              <a:extLst>
                <a:ext uri="{FF2B5EF4-FFF2-40B4-BE49-F238E27FC236}">
                  <a16:creationId xmlns:a16="http://schemas.microsoft.com/office/drawing/2014/main" id="{C4B81EDF-1C12-20C1-3EAE-6D5ED661A0FF}"/>
                </a:ext>
              </a:extLst>
            </p:cNvPr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>
              <a:extLst>
                <a:ext uri="{FF2B5EF4-FFF2-40B4-BE49-F238E27FC236}">
                  <a16:creationId xmlns:a16="http://schemas.microsoft.com/office/drawing/2014/main" id="{F8A7B9C5-C16C-A678-0754-B8E3E3EF5083}"/>
                </a:ext>
              </a:extLst>
            </p:cNvPr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>
            <a:extLst>
              <a:ext uri="{FF2B5EF4-FFF2-40B4-BE49-F238E27FC236}">
                <a16:creationId xmlns:a16="http://schemas.microsoft.com/office/drawing/2014/main" id="{55C8E313-A9FE-AC1C-811D-D2F5A9A2BC0D}"/>
              </a:ext>
            </a:extLst>
          </p:cNvPr>
          <p:cNvSpPr txBox="1"/>
          <p:nvPr/>
        </p:nvSpPr>
        <p:spPr>
          <a:xfrm>
            <a:off x="17356957" y="9478984"/>
            <a:ext cx="1524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4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>
            <a:extLst>
              <a:ext uri="{FF2B5EF4-FFF2-40B4-BE49-F238E27FC236}">
                <a16:creationId xmlns:a16="http://schemas.microsoft.com/office/drawing/2014/main" id="{FE0EE03E-E9F5-D1A2-7B6D-6C73AABF42C0}"/>
              </a:ext>
            </a:extLst>
          </p:cNvPr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Ticketing : Ranking Technician &amp; Group</a:t>
            </a:r>
          </a:p>
        </p:txBody>
      </p:sp>
      <p:sp>
        <p:nvSpPr>
          <p:cNvPr id="199" name="Google Shape;199;p3">
            <a:extLst>
              <a:ext uri="{FF2B5EF4-FFF2-40B4-BE49-F238E27FC236}">
                <a16:creationId xmlns:a16="http://schemas.microsoft.com/office/drawing/2014/main" id="{3BE7E416-8DEB-DC71-B05A-4AF8EDD91597}"/>
              </a:ext>
            </a:extLst>
          </p:cNvPr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>
            <a:extLst>
              <a:ext uri="{FF2B5EF4-FFF2-40B4-BE49-F238E27FC236}">
                <a16:creationId xmlns:a16="http://schemas.microsoft.com/office/drawing/2014/main" id="{5122D09C-C07A-CE97-4488-22C2FE3ED972}"/>
              </a:ext>
            </a:extLst>
          </p:cNvPr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>
            <a:extLst>
              <a:ext uri="{FF2B5EF4-FFF2-40B4-BE49-F238E27FC236}">
                <a16:creationId xmlns:a16="http://schemas.microsoft.com/office/drawing/2014/main" id="{4715418B-A739-DDFB-5A57-06A57960F1E4}"/>
              </a:ext>
            </a:extLst>
          </p:cNvPr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5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0541379"/>
              </p:ext>
            </p:extLst>
          </p:nvPr>
        </p:nvGraphicFramePr>
        <p:xfrm>
          <a:off x="45806" y="1297800"/>
          <a:ext cx="900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0000000-0008-0000-05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5271105"/>
              </p:ext>
            </p:extLst>
          </p:nvPr>
        </p:nvGraphicFramePr>
        <p:xfrm>
          <a:off x="8910437" y="1345261"/>
          <a:ext cx="900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0000000-0008-0000-06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0262265"/>
              </p:ext>
            </p:extLst>
          </p:nvPr>
        </p:nvGraphicFramePr>
        <p:xfrm>
          <a:off x="45806" y="4975575"/>
          <a:ext cx="9000000" cy="30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0000000-0008-0000-06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2208275"/>
              </p:ext>
            </p:extLst>
          </p:nvPr>
        </p:nvGraphicFramePr>
        <p:xfrm>
          <a:off x="8910437" y="4745794"/>
          <a:ext cx="9000000" cy="30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276048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8FEB9843-8EB2-501E-F289-7AAD16C10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3">
            <a:extLst>
              <a:ext uri="{FF2B5EF4-FFF2-40B4-BE49-F238E27FC236}">
                <a16:creationId xmlns:a16="http://schemas.microsoft.com/office/drawing/2014/main" id="{411206B7-A05E-EC37-CDC9-815EFB42CD3A}"/>
              </a:ext>
            </a:extLst>
          </p:cNvPr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>
              <a:extLst>
                <a:ext uri="{FF2B5EF4-FFF2-40B4-BE49-F238E27FC236}">
                  <a16:creationId xmlns:a16="http://schemas.microsoft.com/office/drawing/2014/main" id="{69ADA47E-5514-1EE4-A656-39A2B7F588AF}"/>
                </a:ext>
              </a:extLst>
            </p:cNvPr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>
              <a:extLst>
                <a:ext uri="{FF2B5EF4-FFF2-40B4-BE49-F238E27FC236}">
                  <a16:creationId xmlns:a16="http://schemas.microsoft.com/office/drawing/2014/main" id="{35F6A18E-D011-6D69-E703-F12A937902B5}"/>
                </a:ext>
              </a:extLst>
            </p:cNvPr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>
            <a:extLst>
              <a:ext uri="{FF2B5EF4-FFF2-40B4-BE49-F238E27FC236}">
                <a16:creationId xmlns:a16="http://schemas.microsoft.com/office/drawing/2014/main" id="{A3F53E3C-284C-63A6-20BC-BDDE8E12D48E}"/>
              </a:ext>
            </a:extLst>
          </p:cNvPr>
          <p:cNvSpPr txBox="1"/>
          <p:nvPr/>
        </p:nvSpPr>
        <p:spPr>
          <a:xfrm>
            <a:off x="17356957" y="9478984"/>
            <a:ext cx="1524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4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>
            <a:extLst>
              <a:ext uri="{FF2B5EF4-FFF2-40B4-BE49-F238E27FC236}">
                <a16:creationId xmlns:a16="http://schemas.microsoft.com/office/drawing/2014/main" id="{DDC00E0C-E458-FDC5-D27C-A968363E8766}"/>
              </a:ext>
            </a:extLst>
          </p:cNvPr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Ticketing : Ranking Technician &amp; Group</a:t>
            </a:r>
          </a:p>
        </p:txBody>
      </p:sp>
      <p:sp>
        <p:nvSpPr>
          <p:cNvPr id="199" name="Google Shape;199;p3">
            <a:extLst>
              <a:ext uri="{FF2B5EF4-FFF2-40B4-BE49-F238E27FC236}">
                <a16:creationId xmlns:a16="http://schemas.microsoft.com/office/drawing/2014/main" id="{DBEB1960-BE80-C478-8882-0B52E16219EE}"/>
              </a:ext>
            </a:extLst>
          </p:cNvPr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>
            <a:extLst>
              <a:ext uri="{FF2B5EF4-FFF2-40B4-BE49-F238E27FC236}">
                <a16:creationId xmlns:a16="http://schemas.microsoft.com/office/drawing/2014/main" id="{63B4A372-7050-7C36-2713-8CDB81F48639}"/>
              </a:ext>
            </a:extLst>
          </p:cNvPr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>
            <a:extLst>
              <a:ext uri="{FF2B5EF4-FFF2-40B4-BE49-F238E27FC236}">
                <a16:creationId xmlns:a16="http://schemas.microsoft.com/office/drawing/2014/main" id="{C358827F-654C-C1C4-1F90-082BEF892F29}"/>
              </a:ext>
            </a:extLst>
          </p:cNvPr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BCE399-01B9-1116-23DD-9D48B8260A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77627"/>
              </p:ext>
            </p:extLst>
          </p:nvPr>
        </p:nvGraphicFramePr>
        <p:xfrm>
          <a:off x="308115" y="1273284"/>
          <a:ext cx="17048845" cy="8519406"/>
        </p:xfrm>
        <a:graphic>
          <a:graphicData uri="http://schemas.openxmlformats.org/drawingml/2006/table">
            <a:tbl>
              <a:tblPr/>
              <a:tblGrid>
                <a:gridCol w="633113">
                  <a:extLst>
                    <a:ext uri="{9D8B030D-6E8A-4147-A177-3AD203B41FA5}">
                      <a16:colId xmlns:a16="http://schemas.microsoft.com/office/drawing/2014/main" val="681475767"/>
                    </a:ext>
                  </a:extLst>
                </a:gridCol>
                <a:gridCol w="1910648">
                  <a:extLst>
                    <a:ext uri="{9D8B030D-6E8A-4147-A177-3AD203B41FA5}">
                      <a16:colId xmlns:a16="http://schemas.microsoft.com/office/drawing/2014/main" val="1000968115"/>
                    </a:ext>
                  </a:extLst>
                </a:gridCol>
                <a:gridCol w="2159370">
                  <a:extLst>
                    <a:ext uri="{9D8B030D-6E8A-4147-A177-3AD203B41FA5}">
                      <a16:colId xmlns:a16="http://schemas.microsoft.com/office/drawing/2014/main" val="576285107"/>
                    </a:ext>
                  </a:extLst>
                </a:gridCol>
                <a:gridCol w="1650618">
                  <a:extLst>
                    <a:ext uri="{9D8B030D-6E8A-4147-A177-3AD203B41FA5}">
                      <a16:colId xmlns:a16="http://schemas.microsoft.com/office/drawing/2014/main" val="4102520402"/>
                    </a:ext>
                  </a:extLst>
                </a:gridCol>
                <a:gridCol w="633113">
                  <a:extLst>
                    <a:ext uri="{9D8B030D-6E8A-4147-A177-3AD203B41FA5}">
                      <a16:colId xmlns:a16="http://schemas.microsoft.com/office/drawing/2014/main" val="2953107712"/>
                    </a:ext>
                  </a:extLst>
                </a:gridCol>
                <a:gridCol w="700947">
                  <a:extLst>
                    <a:ext uri="{9D8B030D-6E8A-4147-A177-3AD203B41FA5}">
                      <a16:colId xmlns:a16="http://schemas.microsoft.com/office/drawing/2014/main" val="3445645717"/>
                    </a:ext>
                  </a:extLst>
                </a:gridCol>
                <a:gridCol w="576586">
                  <a:extLst>
                    <a:ext uri="{9D8B030D-6E8A-4147-A177-3AD203B41FA5}">
                      <a16:colId xmlns:a16="http://schemas.microsoft.com/office/drawing/2014/main" val="2586038318"/>
                    </a:ext>
                  </a:extLst>
                </a:gridCol>
                <a:gridCol w="576586">
                  <a:extLst>
                    <a:ext uri="{9D8B030D-6E8A-4147-A177-3AD203B41FA5}">
                      <a16:colId xmlns:a16="http://schemas.microsoft.com/office/drawing/2014/main" val="3018245359"/>
                    </a:ext>
                  </a:extLst>
                </a:gridCol>
                <a:gridCol w="700947">
                  <a:extLst>
                    <a:ext uri="{9D8B030D-6E8A-4147-A177-3AD203B41FA5}">
                      <a16:colId xmlns:a16="http://schemas.microsoft.com/office/drawing/2014/main" val="3591218632"/>
                    </a:ext>
                  </a:extLst>
                </a:gridCol>
                <a:gridCol w="700947">
                  <a:extLst>
                    <a:ext uri="{9D8B030D-6E8A-4147-A177-3AD203B41FA5}">
                      <a16:colId xmlns:a16="http://schemas.microsoft.com/office/drawing/2014/main" val="1057294465"/>
                    </a:ext>
                  </a:extLst>
                </a:gridCol>
                <a:gridCol w="576586">
                  <a:extLst>
                    <a:ext uri="{9D8B030D-6E8A-4147-A177-3AD203B41FA5}">
                      <a16:colId xmlns:a16="http://schemas.microsoft.com/office/drawing/2014/main" val="1866620029"/>
                    </a:ext>
                  </a:extLst>
                </a:gridCol>
                <a:gridCol w="576586">
                  <a:extLst>
                    <a:ext uri="{9D8B030D-6E8A-4147-A177-3AD203B41FA5}">
                      <a16:colId xmlns:a16="http://schemas.microsoft.com/office/drawing/2014/main" val="758652695"/>
                    </a:ext>
                  </a:extLst>
                </a:gridCol>
                <a:gridCol w="633113">
                  <a:extLst>
                    <a:ext uri="{9D8B030D-6E8A-4147-A177-3AD203B41FA5}">
                      <a16:colId xmlns:a16="http://schemas.microsoft.com/office/drawing/2014/main" val="946001930"/>
                    </a:ext>
                  </a:extLst>
                </a:gridCol>
                <a:gridCol w="633113">
                  <a:extLst>
                    <a:ext uri="{9D8B030D-6E8A-4147-A177-3AD203B41FA5}">
                      <a16:colId xmlns:a16="http://schemas.microsoft.com/office/drawing/2014/main" val="3205582432"/>
                    </a:ext>
                  </a:extLst>
                </a:gridCol>
                <a:gridCol w="633113">
                  <a:extLst>
                    <a:ext uri="{9D8B030D-6E8A-4147-A177-3AD203B41FA5}">
                      <a16:colId xmlns:a16="http://schemas.microsoft.com/office/drawing/2014/main" val="372505273"/>
                    </a:ext>
                  </a:extLst>
                </a:gridCol>
                <a:gridCol w="633113">
                  <a:extLst>
                    <a:ext uri="{9D8B030D-6E8A-4147-A177-3AD203B41FA5}">
                      <a16:colId xmlns:a16="http://schemas.microsoft.com/office/drawing/2014/main" val="2673202212"/>
                    </a:ext>
                  </a:extLst>
                </a:gridCol>
                <a:gridCol w="700947">
                  <a:extLst>
                    <a:ext uri="{9D8B030D-6E8A-4147-A177-3AD203B41FA5}">
                      <a16:colId xmlns:a16="http://schemas.microsoft.com/office/drawing/2014/main" val="3894815737"/>
                    </a:ext>
                  </a:extLst>
                </a:gridCol>
                <a:gridCol w="633113">
                  <a:extLst>
                    <a:ext uri="{9D8B030D-6E8A-4147-A177-3AD203B41FA5}">
                      <a16:colId xmlns:a16="http://schemas.microsoft.com/office/drawing/2014/main" val="1741089080"/>
                    </a:ext>
                  </a:extLst>
                </a:gridCol>
                <a:gridCol w="1786286">
                  <a:extLst>
                    <a:ext uri="{9D8B030D-6E8A-4147-A177-3AD203B41FA5}">
                      <a16:colId xmlns:a16="http://schemas.microsoft.com/office/drawing/2014/main" val="2487458394"/>
                    </a:ext>
                  </a:extLst>
                </a:gridCol>
              </a:tblGrid>
              <a:tr h="7570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Peringkat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Nama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Nama di sistem tiket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Lokasi utama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Jumlah tiket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 dari total daftar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Selesai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Masih terbuka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Rata-rata durasi (jam)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Median durasi (jam)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Tiket 0 menit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 0 menit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Tiket prioritas High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Dalam target SLA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Melewati target SLA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 dalam target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Tiket input tidak lengkap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 input lengkap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Keterangan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738185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IT Operation Center PMT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IT Operation Center PMT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Head Office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17,7%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11,9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0,63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13,3%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66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89,19%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75,3%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846811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Putra Anugrah Purwanto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Putra Anugrah Purwanto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Branch Janirah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6,7%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76,2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86,0%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97,83%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68,4%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228452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Aditya Ari Saputra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Aditya Ari Saputra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Branch Tanjung Emas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6,6%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70,5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38,12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41,18%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604704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Mokhammad Zainal Abidin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M. Zainal Abidin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Branch Janirah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6,3%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72,3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86,8%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97,73%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75,5%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062957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M. Afief Caesaria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Mochammad Afief Caesaria Suhardy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Branch Malahayati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5,9%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10,6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74,0%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96,43%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90,0%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704702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Berry Richard Ornos Sinambela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Berry Richard Ornos Sinambela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 dirty="0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Branch </a:t>
                      </a:r>
                      <a:r>
                        <a:rPr lang="en-ID" sz="1100" b="0" i="0" u="none" strike="noStrike" dirty="0" err="1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Bumiharjo</a:t>
                      </a:r>
                      <a:endParaRPr lang="en-ID" sz="1100" b="0" i="0" u="none" strike="noStrike" dirty="0">
                        <a:solidFill>
                          <a:srgbClr val="0B0B0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5,2%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12,5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0,62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80,00%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77,3%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153108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Reza Maulana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Reza Maulana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Branch Lhokseumawe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4,3%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97,2%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97,14%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199812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Irfan Perdana Efendi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Irfan Perdana Efendi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Branch Tanjung Intan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4,0%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336,7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336,00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364673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M. Baihaqi Adji Kurniawan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Mochammad Baihaqi Adji Kurniawan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Branch Gresik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3,8%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4,0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2,03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18,8%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82,14%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62,5%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994839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Intje Irfan Ibrahim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Intje Irfan Ibrahim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Not Assigned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3,4%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1,2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0,62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95,24%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37397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Zulfadly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Zulfadly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Branch Belawan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3,3%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54,9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5,71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3,6%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78,57%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5604208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Muh. Iqbal 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Muh Iqbal 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Not Assigned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3,3%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13,3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81,48%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2749152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Faujanur Iswanto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Faujanur Iswanto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Branch Bagendang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3,1%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17,9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73,1%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82,61%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96,2%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638485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Rahmat Setiawan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Rahmat Setiawan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Branch Sibolga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640141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Zulfadhli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Zulfadhli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Branch Belawan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2,8%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84,3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8,34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25,0%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62,50%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769520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Fauzi Maghfiroh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Fauzi Maghfiroh Muslim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Branch Benoa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2,8%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3,2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2,43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237124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Lalu Suwandi Yusuf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Lalu Suwandi Yusuf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Branch Lembar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2,5%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1,5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92,31%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840790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Bambang Sudarno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Bambang Sudarno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Head Office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2,2%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13,9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0,93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10,5%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93,33%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94,7%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778111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Tongam Simanjuntak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Tongam Simanjuntak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Branch Tanjung Balai Karimun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2,2%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5,9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5,3%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94,74%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78,9%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419481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Affan Baehaqi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Affan Baehaqi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Branch Garongkong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2,2%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10,6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57,9%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89,47%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94,7%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517679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Hendra Lukito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Hendra Lukito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Branch Tanjung Wangi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2,2%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3,3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3,12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63,2%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656500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Alif Ramadhandi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Alif Ramadhandi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Branch Balikpapan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1,4%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9,2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1,33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41,7%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80,00%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75,0%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898346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Salsa Hany Saputri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Salsa Hany Saputri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Pelindo Tower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1,3%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87,1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54,5%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63,64%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72,7%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192447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Muhammad Aga Rizqulloh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Muhammad Aga Rizqullah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Branch Kalimas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1,2%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5,1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85,71%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139921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Muhammad Ade Razik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Muhammad Ade Razik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Branch Dumai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85,7%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531376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Nico Syahputra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Nico Syahputra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Branch Tanjung Pinang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47,3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27,18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75,00%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85,7%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127191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M. Fauzan Nafiz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Muhammad Fauzan Nafiz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Branch Trisakti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48,2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4,03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66,7%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229756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Sony Anwar Majid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Sony Anwar Majid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Tidak ada tiket di periode ini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739916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Agil Maulana Nanda 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Agil Maulana Nanda 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0" i="0" u="none" strike="noStrike" dirty="0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Tidak </a:t>
                      </a:r>
                      <a:r>
                        <a:rPr lang="en-ID" sz="1100" b="0" i="0" u="none" strike="noStrike" dirty="0" err="1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ada</a:t>
                      </a:r>
                      <a:r>
                        <a:rPr lang="en-ID" sz="1100" b="0" i="0" u="none" strike="noStrike" dirty="0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1100" b="0" i="0" u="none" strike="noStrike" dirty="0" err="1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tiket</a:t>
                      </a:r>
                      <a:r>
                        <a:rPr lang="en-ID" sz="1100" b="0" i="0" u="none" strike="noStrike" dirty="0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 di </a:t>
                      </a:r>
                      <a:r>
                        <a:rPr lang="en-ID" sz="1100" b="0" i="0" u="none" strike="noStrike" dirty="0" err="1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periode</a:t>
                      </a:r>
                      <a:r>
                        <a:rPr lang="en-ID" sz="1100" b="0" i="0" u="none" strike="noStrike" dirty="0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1100" b="0" i="0" u="none" strike="noStrike" dirty="0" err="1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ini</a:t>
                      </a:r>
                      <a:endParaRPr lang="en-ID" sz="1100" b="0" i="0" u="none" strike="noStrike" dirty="0">
                        <a:solidFill>
                          <a:srgbClr val="89878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738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000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E6528373-902A-8831-A9B1-3586CB9B8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3">
            <a:extLst>
              <a:ext uri="{FF2B5EF4-FFF2-40B4-BE49-F238E27FC236}">
                <a16:creationId xmlns:a16="http://schemas.microsoft.com/office/drawing/2014/main" id="{81A9494C-09A7-1881-3D95-65FF46DAE661}"/>
              </a:ext>
            </a:extLst>
          </p:cNvPr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>
              <a:extLst>
                <a:ext uri="{FF2B5EF4-FFF2-40B4-BE49-F238E27FC236}">
                  <a16:creationId xmlns:a16="http://schemas.microsoft.com/office/drawing/2014/main" id="{87BFCBEB-770D-7B01-08FC-951210CDF6C8}"/>
                </a:ext>
              </a:extLst>
            </p:cNvPr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>
              <a:extLst>
                <a:ext uri="{FF2B5EF4-FFF2-40B4-BE49-F238E27FC236}">
                  <a16:creationId xmlns:a16="http://schemas.microsoft.com/office/drawing/2014/main" id="{7DF1E69D-8AF5-CDBB-660B-88EA46FA73F2}"/>
                </a:ext>
              </a:extLst>
            </p:cNvPr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>
            <a:extLst>
              <a:ext uri="{FF2B5EF4-FFF2-40B4-BE49-F238E27FC236}">
                <a16:creationId xmlns:a16="http://schemas.microsoft.com/office/drawing/2014/main" id="{0137B5FE-69A9-EC01-0812-1A1D421A1265}"/>
              </a:ext>
            </a:extLst>
          </p:cNvPr>
          <p:cNvSpPr txBox="1"/>
          <p:nvPr/>
        </p:nvSpPr>
        <p:spPr>
          <a:xfrm>
            <a:off x="17356957" y="9478984"/>
            <a:ext cx="1524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4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>
            <a:extLst>
              <a:ext uri="{FF2B5EF4-FFF2-40B4-BE49-F238E27FC236}">
                <a16:creationId xmlns:a16="http://schemas.microsoft.com/office/drawing/2014/main" id="{1B0B492B-F864-6C40-964D-502C46E1D16C}"/>
              </a:ext>
            </a:extLst>
          </p:cNvPr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Ticketing : Ranking Technician &amp; Group</a:t>
            </a:r>
          </a:p>
        </p:txBody>
      </p:sp>
      <p:sp>
        <p:nvSpPr>
          <p:cNvPr id="199" name="Google Shape;199;p3">
            <a:extLst>
              <a:ext uri="{FF2B5EF4-FFF2-40B4-BE49-F238E27FC236}">
                <a16:creationId xmlns:a16="http://schemas.microsoft.com/office/drawing/2014/main" id="{661B842F-68DF-DB3F-E026-388D2791B968}"/>
              </a:ext>
            </a:extLst>
          </p:cNvPr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>
            <a:extLst>
              <a:ext uri="{FF2B5EF4-FFF2-40B4-BE49-F238E27FC236}">
                <a16:creationId xmlns:a16="http://schemas.microsoft.com/office/drawing/2014/main" id="{FA1E6B30-39D6-EDD7-DB4A-40D416A73DFA}"/>
              </a:ext>
            </a:extLst>
          </p:cNvPr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>
            <a:extLst>
              <a:ext uri="{FF2B5EF4-FFF2-40B4-BE49-F238E27FC236}">
                <a16:creationId xmlns:a16="http://schemas.microsoft.com/office/drawing/2014/main" id="{0DC7B1DE-EA97-F0FE-F2BA-9EC6FA03956B}"/>
              </a:ext>
            </a:extLst>
          </p:cNvPr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EF5B39-27D6-6287-CA9C-D8B3EA518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087583"/>
              </p:ext>
            </p:extLst>
          </p:nvPr>
        </p:nvGraphicFramePr>
        <p:xfrm>
          <a:off x="1043610" y="1907055"/>
          <a:ext cx="16200780" cy="4520602"/>
        </p:xfrm>
        <a:graphic>
          <a:graphicData uri="http://schemas.openxmlformats.org/drawingml/2006/table">
            <a:tbl>
              <a:tblPr/>
              <a:tblGrid>
                <a:gridCol w="1043607">
                  <a:extLst>
                    <a:ext uri="{9D8B030D-6E8A-4147-A177-3AD203B41FA5}">
                      <a16:colId xmlns:a16="http://schemas.microsoft.com/office/drawing/2014/main" val="2708115893"/>
                    </a:ext>
                  </a:extLst>
                </a:gridCol>
                <a:gridCol w="1999111">
                  <a:extLst>
                    <a:ext uri="{9D8B030D-6E8A-4147-A177-3AD203B41FA5}">
                      <a16:colId xmlns:a16="http://schemas.microsoft.com/office/drawing/2014/main" val="419903465"/>
                    </a:ext>
                  </a:extLst>
                </a:gridCol>
                <a:gridCol w="757298">
                  <a:extLst>
                    <a:ext uri="{9D8B030D-6E8A-4147-A177-3AD203B41FA5}">
                      <a16:colId xmlns:a16="http://schemas.microsoft.com/office/drawing/2014/main" val="2001412172"/>
                    </a:ext>
                  </a:extLst>
                </a:gridCol>
                <a:gridCol w="838438">
                  <a:extLst>
                    <a:ext uri="{9D8B030D-6E8A-4147-A177-3AD203B41FA5}">
                      <a16:colId xmlns:a16="http://schemas.microsoft.com/office/drawing/2014/main" val="2464207002"/>
                    </a:ext>
                  </a:extLst>
                </a:gridCol>
                <a:gridCol w="689683">
                  <a:extLst>
                    <a:ext uri="{9D8B030D-6E8A-4147-A177-3AD203B41FA5}">
                      <a16:colId xmlns:a16="http://schemas.microsoft.com/office/drawing/2014/main" val="2352211225"/>
                    </a:ext>
                  </a:extLst>
                </a:gridCol>
                <a:gridCol w="689683">
                  <a:extLst>
                    <a:ext uri="{9D8B030D-6E8A-4147-A177-3AD203B41FA5}">
                      <a16:colId xmlns:a16="http://schemas.microsoft.com/office/drawing/2014/main" val="3538208835"/>
                    </a:ext>
                  </a:extLst>
                </a:gridCol>
                <a:gridCol w="689683">
                  <a:extLst>
                    <a:ext uri="{9D8B030D-6E8A-4147-A177-3AD203B41FA5}">
                      <a16:colId xmlns:a16="http://schemas.microsoft.com/office/drawing/2014/main" val="57181552"/>
                    </a:ext>
                  </a:extLst>
                </a:gridCol>
                <a:gridCol w="838438">
                  <a:extLst>
                    <a:ext uri="{9D8B030D-6E8A-4147-A177-3AD203B41FA5}">
                      <a16:colId xmlns:a16="http://schemas.microsoft.com/office/drawing/2014/main" val="2428714395"/>
                    </a:ext>
                  </a:extLst>
                </a:gridCol>
                <a:gridCol w="838438">
                  <a:extLst>
                    <a:ext uri="{9D8B030D-6E8A-4147-A177-3AD203B41FA5}">
                      <a16:colId xmlns:a16="http://schemas.microsoft.com/office/drawing/2014/main" val="130255049"/>
                    </a:ext>
                  </a:extLst>
                </a:gridCol>
                <a:gridCol w="689683">
                  <a:extLst>
                    <a:ext uri="{9D8B030D-6E8A-4147-A177-3AD203B41FA5}">
                      <a16:colId xmlns:a16="http://schemas.microsoft.com/office/drawing/2014/main" val="454758273"/>
                    </a:ext>
                  </a:extLst>
                </a:gridCol>
                <a:gridCol w="757298">
                  <a:extLst>
                    <a:ext uri="{9D8B030D-6E8A-4147-A177-3AD203B41FA5}">
                      <a16:colId xmlns:a16="http://schemas.microsoft.com/office/drawing/2014/main" val="842997548"/>
                    </a:ext>
                  </a:extLst>
                </a:gridCol>
                <a:gridCol w="757298">
                  <a:extLst>
                    <a:ext uri="{9D8B030D-6E8A-4147-A177-3AD203B41FA5}">
                      <a16:colId xmlns:a16="http://schemas.microsoft.com/office/drawing/2014/main" val="1287599828"/>
                    </a:ext>
                  </a:extLst>
                </a:gridCol>
                <a:gridCol w="757298">
                  <a:extLst>
                    <a:ext uri="{9D8B030D-6E8A-4147-A177-3AD203B41FA5}">
                      <a16:colId xmlns:a16="http://schemas.microsoft.com/office/drawing/2014/main" val="4130886224"/>
                    </a:ext>
                  </a:extLst>
                </a:gridCol>
                <a:gridCol w="757298">
                  <a:extLst>
                    <a:ext uri="{9D8B030D-6E8A-4147-A177-3AD203B41FA5}">
                      <a16:colId xmlns:a16="http://schemas.microsoft.com/office/drawing/2014/main" val="849321460"/>
                    </a:ext>
                  </a:extLst>
                </a:gridCol>
                <a:gridCol w="757298">
                  <a:extLst>
                    <a:ext uri="{9D8B030D-6E8A-4147-A177-3AD203B41FA5}">
                      <a16:colId xmlns:a16="http://schemas.microsoft.com/office/drawing/2014/main" val="970170528"/>
                    </a:ext>
                  </a:extLst>
                </a:gridCol>
                <a:gridCol w="757298">
                  <a:extLst>
                    <a:ext uri="{9D8B030D-6E8A-4147-A177-3AD203B41FA5}">
                      <a16:colId xmlns:a16="http://schemas.microsoft.com/office/drawing/2014/main" val="1104478353"/>
                    </a:ext>
                  </a:extLst>
                </a:gridCol>
                <a:gridCol w="2582930">
                  <a:extLst>
                    <a:ext uri="{9D8B030D-6E8A-4147-A177-3AD203B41FA5}">
                      <a16:colId xmlns:a16="http://schemas.microsoft.com/office/drawing/2014/main" val="1541946703"/>
                    </a:ext>
                  </a:extLst>
                </a:gridCol>
              </a:tblGrid>
              <a:tr h="8659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Peringkat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Group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Jumlah tiket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 dari total daftar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Selesai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Masih terbuka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 selesai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Rata-rata durasi (jam)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Median durasi (jam)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 0 menit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Dalam</a:t>
                      </a:r>
                      <a:r>
                        <a:rPr lang="en-ID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target SLA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Melewati target SLA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 dalam target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Tiket prioritas High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Akun teknisi aktif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Tiket per akun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Keterangan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856176"/>
                  </a:ext>
                </a:extLst>
              </a:tr>
              <a:tr h="7309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400" b="1" i="0" u="none" strike="noStrike" dirty="0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Head Office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68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7,8%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68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13,2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0,61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19,1%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94,6%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7,6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503168"/>
                  </a:ext>
                </a:extLst>
              </a:tr>
              <a:tr h="7309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400" b="1" i="0" u="none" strike="noStrike" dirty="0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ITOC - TEAM 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4,3%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15,8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0,91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2,6%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90,0%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38,0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135051"/>
                  </a:ext>
                </a:extLst>
              </a:tr>
              <a:tr h="7309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400" b="1" i="0" u="none" strike="noStrike" dirty="0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ITOC - TEAM 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3,3%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7,7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27,6%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93,3%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29,0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4678576"/>
                  </a:ext>
                </a:extLst>
              </a:tr>
              <a:tr h="7309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400" b="1" i="0" u="none" strike="noStrike" dirty="0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ITOC - TEAM 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3,1%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3,9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0,48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11,1%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90,9%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13,5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0B0B0B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865450"/>
                  </a:ext>
                </a:extLst>
              </a:tr>
              <a:tr h="7309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400" b="1" i="0" u="none" strike="noStrike" dirty="0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ITOC - TEAM 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400" b="0" i="0" u="none" strike="noStrike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400" b="0" i="0" u="none" strike="noStrike" dirty="0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Tidak </a:t>
                      </a:r>
                      <a:r>
                        <a:rPr lang="en-ID" sz="1400" b="0" i="0" u="none" strike="noStrike" dirty="0" err="1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ada</a:t>
                      </a:r>
                      <a:r>
                        <a:rPr lang="en-ID" sz="1400" b="0" i="0" u="none" strike="noStrike" dirty="0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1400" b="0" i="0" u="none" strike="noStrike" dirty="0" err="1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tiket</a:t>
                      </a:r>
                      <a:r>
                        <a:rPr lang="en-ID" sz="1400" b="0" i="0" u="none" strike="noStrike" dirty="0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 di </a:t>
                      </a:r>
                      <a:r>
                        <a:rPr lang="en-ID" sz="1400" b="0" i="0" u="none" strike="noStrike" dirty="0" err="1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periode</a:t>
                      </a:r>
                      <a:r>
                        <a:rPr lang="en-ID" sz="1400" b="0" i="0" u="none" strike="noStrike" dirty="0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1400" b="0" i="0" u="none" strike="noStrike" dirty="0" err="1">
                          <a:solidFill>
                            <a:srgbClr val="898781"/>
                          </a:solidFill>
                          <a:effectLst/>
                          <a:latin typeface="Arial" panose="020B0604020202020204" pitchFamily="34" charset="0"/>
                        </a:rPr>
                        <a:t>ini</a:t>
                      </a:r>
                      <a:endParaRPr lang="en-ID" sz="1400" b="0" i="0" u="none" strike="noStrike" dirty="0">
                        <a:solidFill>
                          <a:srgbClr val="89878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193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1224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F58B3BCA-6E37-20F6-C0F1-DE4ACE002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3">
            <a:extLst>
              <a:ext uri="{FF2B5EF4-FFF2-40B4-BE49-F238E27FC236}">
                <a16:creationId xmlns:a16="http://schemas.microsoft.com/office/drawing/2014/main" id="{0832ACAE-A1D1-0568-EF3B-4913414FD796}"/>
              </a:ext>
            </a:extLst>
          </p:cNvPr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>
              <a:extLst>
                <a:ext uri="{FF2B5EF4-FFF2-40B4-BE49-F238E27FC236}">
                  <a16:creationId xmlns:a16="http://schemas.microsoft.com/office/drawing/2014/main" id="{CD95F5DF-AA2D-735A-8945-7301A2528DD7}"/>
                </a:ext>
              </a:extLst>
            </p:cNvPr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>
              <a:extLst>
                <a:ext uri="{FF2B5EF4-FFF2-40B4-BE49-F238E27FC236}">
                  <a16:creationId xmlns:a16="http://schemas.microsoft.com/office/drawing/2014/main" id="{DB2FFEB6-4732-EB5F-BA00-06E08C014AD2}"/>
                </a:ext>
              </a:extLst>
            </p:cNvPr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>
            <a:extLst>
              <a:ext uri="{FF2B5EF4-FFF2-40B4-BE49-F238E27FC236}">
                <a16:creationId xmlns:a16="http://schemas.microsoft.com/office/drawing/2014/main" id="{5E91709A-8C42-24E3-27E0-065D194F966A}"/>
              </a:ext>
            </a:extLst>
          </p:cNvPr>
          <p:cNvSpPr txBox="1"/>
          <p:nvPr/>
        </p:nvSpPr>
        <p:spPr>
          <a:xfrm>
            <a:off x="17356957" y="9478984"/>
            <a:ext cx="1524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4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>
            <a:extLst>
              <a:ext uri="{FF2B5EF4-FFF2-40B4-BE49-F238E27FC236}">
                <a16:creationId xmlns:a16="http://schemas.microsoft.com/office/drawing/2014/main" id="{82AC9A9C-6F50-ACEE-E836-F9CF66CC54F4}"/>
              </a:ext>
            </a:extLst>
          </p:cNvPr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Ticketing : Data Quality</a:t>
            </a:r>
          </a:p>
        </p:txBody>
      </p:sp>
      <p:sp>
        <p:nvSpPr>
          <p:cNvPr id="199" name="Google Shape;199;p3">
            <a:extLst>
              <a:ext uri="{FF2B5EF4-FFF2-40B4-BE49-F238E27FC236}">
                <a16:creationId xmlns:a16="http://schemas.microsoft.com/office/drawing/2014/main" id="{E2FEA37B-9322-644B-EFA0-C4EDC306AF5A}"/>
              </a:ext>
            </a:extLst>
          </p:cNvPr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>
            <a:extLst>
              <a:ext uri="{FF2B5EF4-FFF2-40B4-BE49-F238E27FC236}">
                <a16:creationId xmlns:a16="http://schemas.microsoft.com/office/drawing/2014/main" id="{060BA592-77CF-8FFA-C81C-67F366574709}"/>
              </a:ext>
            </a:extLst>
          </p:cNvPr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>
            <a:extLst>
              <a:ext uri="{FF2B5EF4-FFF2-40B4-BE49-F238E27FC236}">
                <a16:creationId xmlns:a16="http://schemas.microsoft.com/office/drawing/2014/main" id="{6279B1BF-100D-5957-C97F-3EF45697E275}"/>
              </a:ext>
            </a:extLst>
          </p:cNvPr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8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4728088"/>
              </p:ext>
            </p:extLst>
          </p:nvPr>
        </p:nvGraphicFramePr>
        <p:xfrm>
          <a:off x="8581594" y="1685759"/>
          <a:ext cx="90000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8240DB2-480D-A53D-3805-0672272565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063201"/>
              </p:ext>
            </p:extLst>
          </p:nvPr>
        </p:nvGraphicFramePr>
        <p:xfrm>
          <a:off x="634169" y="1685759"/>
          <a:ext cx="7200000" cy="4320002"/>
        </p:xfrm>
        <a:graphic>
          <a:graphicData uri="http://schemas.openxmlformats.org/drawingml/2006/table">
            <a:tbl>
              <a:tblPr/>
              <a:tblGrid>
                <a:gridCol w="1200000">
                  <a:extLst>
                    <a:ext uri="{9D8B030D-6E8A-4147-A177-3AD203B41FA5}">
                      <a16:colId xmlns:a16="http://schemas.microsoft.com/office/drawing/2014/main" val="29314247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32227649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42022656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1739235486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1147867883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995789721"/>
                    </a:ext>
                  </a:extLst>
                </a:gridCol>
              </a:tblGrid>
              <a:tr h="331498"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SUMMARY NOT ASSIGNED PER FIELD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36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896446"/>
                  </a:ext>
                </a:extLst>
              </a:tr>
              <a:tr h="3583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Field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Assigned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Total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Klasifikasi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Prioritas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Evaluasi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628242"/>
                  </a:ext>
                </a:extLst>
              </a:tr>
              <a:tr h="31853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Request Mode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1,5%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Ticket Creation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Channel/mode </a:t>
                      </a:r>
                      <a:r>
                        <a:rPr lang="en-ID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wajib</a:t>
                      </a: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dipilih</a:t>
                      </a: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233899"/>
                  </a:ext>
                </a:extLst>
              </a:tr>
              <a:tr h="32718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7,8%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Ticket Creation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Ownership group wajib jelas.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7598072"/>
                  </a:ext>
                </a:extLst>
              </a:tr>
              <a:tr h="32718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4,0%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Ticket Creation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 wajib untuk analisis demand.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8459395"/>
                  </a:ext>
                </a:extLst>
              </a:tr>
              <a:tr h="47599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Subcategory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125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14,3%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Ticket Creation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Subcategory diperlukan untuk drill-down.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43210"/>
                  </a:ext>
                </a:extLst>
              </a:tr>
              <a:tr h="32718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Technician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1,1%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Ticket Creation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Technician wajib untuk accountability.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896790"/>
                  </a:ext>
                </a:extLst>
              </a:tr>
              <a:tr h="32718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Impact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1,4%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SLA Trigger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Impact </a:t>
                      </a:r>
                      <a:r>
                        <a:rPr lang="en-ID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adalah</a:t>
                      </a: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input trigger SLA.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914553"/>
                  </a:ext>
                </a:extLst>
              </a:tr>
              <a:tr h="65436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Priority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1,0%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SLA Trigger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Critical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Priority adalah input trigger dan konsisten menentukan SLA output pada source.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403929"/>
                  </a:ext>
                </a:extLst>
              </a:tr>
              <a:tr h="32718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Urgency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1,1%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SLA Trigger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Urgency adalah input trigger SLA.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3814432"/>
                  </a:ext>
                </a:extLst>
              </a:tr>
              <a:tr h="54530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SLA Name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203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23,2%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SLA Output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Review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 </a:t>
                      </a:r>
                      <a:r>
                        <a:rPr lang="en-ID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klasifikasi</a:t>
                      </a: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 </a:t>
                      </a:r>
                      <a:r>
                        <a:rPr lang="en-ID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evaluasi</a:t>
                      </a: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terhadap</a:t>
                      </a: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trigger.</a:t>
                      </a:r>
                    </a:p>
                  </a:txBody>
                  <a:tcPr marL="3493" marR="3493" marT="34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773718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0000000-0008-0000-09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6279275"/>
              </p:ext>
            </p:extLst>
          </p:nvPr>
        </p:nvGraphicFramePr>
        <p:xfrm>
          <a:off x="8581594" y="5731232"/>
          <a:ext cx="900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FA047A3-A970-AC88-0290-B7C9B556E2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016634"/>
              </p:ext>
            </p:extLst>
          </p:nvPr>
        </p:nvGraphicFramePr>
        <p:xfrm>
          <a:off x="634169" y="6276002"/>
          <a:ext cx="7200000" cy="2880001"/>
        </p:xfrm>
        <a:graphic>
          <a:graphicData uri="http://schemas.openxmlformats.org/drawingml/2006/table">
            <a:tbl>
              <a:tblPr/>
              <a:tblGrid>
                <a:gridCol w="2345807">
                  <a:extLst>
                    <a:ext uri="{9D8B030D-6E8A-4147-A177-3AD203B41FA5}">
                      <a16:colId xmlns:a16="http://schemas.microsoft.com/office/drawing/2014/main" val="117730780"/>
                    </a:ext>
                  </a:extLst>
                </a:gridCol>
                <a:gridCol w="2229678">
                  <a:extLst>
                    <a:ext uri="{9D8B030D-6E8A-4147-A177-3AD203B41FA5}">
                      <a16:colId xmlns:a16="http://schemas.microsoft.com/office/drawing/2014/main" val="3494700944"/>
                    </a:ext>
                  </a:extLst>
                </a:gridCol>
                <a:gridCol w="2624515">
                  <a:extLst>
                    <a:ext uri="{9D8B030D-6E8A-4147-A177-3AD203B41FA5}">
                      <a16:colId xmlns:a16="http://schemas.microsoft.com/office/drawing/2014/main" val="1187648613"/>
                    </a:ext>
                  </a:extLst>
                </a:gridCol>
              </a:tblGrid>
              <a:tr h="317705"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LONG-TAIL (&gt;7 DAYS) BY GROUP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36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505324"/>
                  </a:ext>
                </a:extLst>
              </a:tr>
              <a:tr h="2329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&gt;7d Requests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Share of &gt;7d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368618"/>
                  </a:ext>
                </a:extLst>
              </a:tr>
              <a:tr h="2329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Branch Tanjung Intan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47,8%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4109"/>
                  </a:ext>
                </a:extLst>
              </a:tr>
              <a:tr h="2329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Branch Janirah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21,7%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383774"/>
                  </a:ext>
                </a:extLst>
              </a:tr>
              <a:tr h="2329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Branch Tanjung Emas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367319"/>
                  </a:ext>
                </a:extLst>
              </a:tr>
              <a:tr h="2329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Branch Belawan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92987"/>
                  </a:ext>
                </a:extLst>
              </a:tr>
              <a:tr h="2329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Pelindo Tower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925080"/>
                  </a:ext>
                </a:extLst>
              </a:tr>
              <a:tr h="2329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Branch Malahayati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907090"/>
                  </a:ext>
                </a:extLst>
              </a:tr>
              <a:tr h="2329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Assigned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14668"/>
                  </a:ext>
                </a:extLst>
              </a:tr>
              <a:tr h="2329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Branch Bagendang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440367"/>
                  </a:ext>
                </a:extLst>
              </a:tr>
              <a:tr h="2329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ITOC - TEAM 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220510"/>
                  </a:ext>
                </a:extLst>
              </a:tr>
              <a:tr h="2329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Branch Trisakti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125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1113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59" b="-9259"/>
            </a:stretch>
          </a:blipFill>
          <a:ln>
            <a:noFill/>
          </a:ln>
        </p:spPr>
      </p:sp>
      <p:grpSp>
        <p:nvGrpSpPr>
          <p:cNvPr id="443" name="Google Shape;443;p7"/>
          <p:cNvGrpSpPr/>
          <p:nvPr/>
        </p:nvGrpSpPr>
        <p:grpSpPr>
          <a:xfrm rot="10800000">
            <a:off x="1733817" y="4849217"/>
            <a:ext cx="10925827" cy="4110777"/>
            <a:chOff x="0" y="-66675"/>
            <a:chExt cx="5583383" cy="2100714"/>
          </a:xfrm>
        </p:grpSpPr>
        <p:sp>
          <p:nvSpPr>
            <p:cNvPr id="444" name="Google Shape;444;p7"/>
            <p:cNvSpPr/>
            <p:nvPr/>
          </p:nvSpPr>
          <p:spPr>
            <a:xfrm>
              <a:off x="0" y="0"/>
              <a:ext cx="5583383" cy="2034039"/>
            </a:xfrm>
            <a:custGeom>
              <a:avLst/>
              <a:gdLst/>
              <a:ahLst/>
              <a:cxnLst/>
              <a:rect l="l" t="t" r="r" b="b"/>
              <a:pathLst>
                <a:path w="5583383" h="2034039" extrusionOk="0">
                  <a:moveTo>
                    <a:pt x="18423" y="0"/>
                  </a:moveTo>
                  <a:lnTo>
                    <a:pt x="5564960" y="0"/>
                  </a:lnTo>
                  <a:cubicBezTo>
                    <a:pt x="5569846" y="0"/>
                    <a:pt x="5574532" y="1941"/>
                    <a:pt x="5577987" y="5396"/>
                  </a:cubicBezTo>
                  <a:cubicBezTo>
                    <a:pt x="5581442" y="8851"/>
                    <a:pt x="5583383" y="13537"/>
                    <a:pt x="5583383" y="18423"/>
                  </a:cubicBezTo>
                  <a:lnTo>
                    <a:pt x="5583383" y="2015616"/>
                  </a:lnTo>
                  <a:cubicBezTo>
                    <a:pt x="5583383" y="2020502"/>
                    <a:pt x="5581442" y="2025188"/>
                    <a:pt x="5577987" y="2028643"/>
                  </a:cubicBezTo>
                  <a:cubicBezTo>
                    <a:pt x="5574532" y="2032098"/>
                    <a:pt x="5569846" y="2034039"/>
                    <a:pt x="5564960" y="2034039"/>
                  </a:cubicBezTo>
                  <a:lnTo>
                    <a:pt x="18423" y="2034039"/>
                  </a:lnTo>
                  <a:cubicBezTo>
                    <a:pt x="13537" y="2034039"/>
                    <a:pt x="8851" y="2032098"/>
                    <a:pt x="5396" y="2028643"/>
                  </a:cubicBezTo>
                  <a:cubicBezTo>
                    <a:pt x="1941" y="2025188"/>
                    <a:pt x="0" y="2020502"/>
                    <a:pt x="0" y="2015616"/>
                  </a:cubicBezTo>
                  <a:lnTo>
                    <a:pt x="0" y="18423"/>
                  </a:lnTo>
                  <a:cubicBezTo>
                    <a:pt x="0" y="13537"/>
                    <a:pt x="1941" y="8851"/>
                    <a:pt x="5396" y="5396"/>
                  </a:cubicBezTo>
                  <a:cubicBezTo>
                    <a:pt x="8851" y="1941"/>
                    <a:pt x="13537" y="0"/>
                    <a:pt x="18423" y="0"/>
                  </a:cubicBezTo>
                  <a:close/>
                </a:path>
              </a:pathLst>
            </a:custGeom>
            <a:solidFill>
              <a:srgbClr val="001E51">
                <a:alpha val="3294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7"/>
            <p:cNvSpPr txBox="1"/>
            <p:nvPr/>
          </p:nvSpPr>
          <p:spPr>
            <a:xfrm>
              <a:off x="0" y="-66675"/>
              <a:ext cx="5583383" cy="21007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6" name="Google Shape;446;p7"/>
          <p:cNvSpPr/>
          <p:nvPr/>
        </p:nvSpPr>
        <p:spPr>
          <a:xfrm>
            <a:off x="2248327" y="5438735"/>
            <a:ext cx="475063" cy="554009"/>
          </a:xfrm>
          <a:custGeom>
            <a:avLst/>
            <a:gdLst/>
            <a:ahLst/>
            <a:cxnLst/>
            <a:rect l="l" t="t" r="r" b="b"/>
            <a:pathLst>
              <a:path w="475063" h="554009" extrusionOk="0">
                <a:moveTo>
                  <a:pt x="0" y="0"/>
                </a:moveTo>
                <a:lnTo>
                  <a:pt x="475063" y="0"/>
                </a:lnTo>
                <a:lnTo>
                  <a:pt x="475063" y="554010"/>
                </a:lnTo>
                <a:lnTo>
                  <a:pt x="0" y="554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7" name="Google Shape;447;p7"/>
          <p:cNvSpPr/>
          <p:nvPr/>
        </p:nvSpPr>
        <p:spPr>
          <a:xfrm>
            <a:off x="2219724" y="6246966"/>
            <a:ext cx="532270" cy="341318"/>
          </a:xfrm>
          <a:custGeom>
            <a:avLst/>
            <a:gdLst/>
            <a:ahLst/>
            <a:cxnLst/>
            <a:rect l="l" t="t" r="r" b="b"/>
            <a:pathLst>
              <a:path w="532270" h="341318" extrusionOk="0">
                <a:moveTo>
                  <a:pt x="0" y="0"/>
                </a:moveTo>
                <a:lnTo>
                  <a:pt x="532270" y="0"/>
                </a:lnTo>
                <a:lnTo>
                  <a:pt x="532270" y="341318"/>
                </a:lnTo>
                <a:lnTo>
                  <a:pt x="0" y="341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9" name="Google Shape;449;p7"/>
          <p:cNvSpPr/>
          <p:nvPr/>
        </p:nvSpPr>
        <p:spPr>
          <a:xfrm>
            <a:off x="2292845" y="7038595"/>
            <a:ext cx="386027" cy="588232"/>
          </a:xfrm>
          <a:custGeom>
            <a:avLst/>
            <a:gdLst/>
            <a:ahLst/>
            <a:cxnLst/>
            <a:rect l="l" t="t" r="r" b="b"/>
            <a:pathLst>
              <a:path w="386027" h="588232" extrusionOk="0">
                <a:moveTo>
                  <a:pt x="0" y="0"/>
                </a:moveTo>
                <a:lnTo>
                  <a:pt x="386027" y="0"/>
                </a:lnTo>
                <a:lnTo>
                  <a:pt x="386027" y="588232"/>
                </a:lnTo>
                <a:lnTo>
                  <a:pt x="0" y="5882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1" name="Google Shape;451;p7"/>
          <p:cNvSpPr txBox="1"/>
          <p:nvPr/>
        </p:nvSpPr>
        <p:spPr>
          <a:xfrm>
            <a:off x="2999804" y="5435481"/>
            <a:ext cx="3662471" cy="53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16"/>
              </a:lnSpc>
            </a:pPr>
            <a:r>
              <a:rPr lang="en-US" sz="2499" dirty="0">
                <a:solidFill>
                  <a:srgbClr val="FFFFFF"/>
                </a:solidFill>
              </a:rPr>
              <a:t>+62 81262484858</a:t>
            </a:r>
            <a:endParaRPr dirty="0"/>
          </a:p>
        </p:txBody>
      </p:sp>
      <p:sp>
        <p:nvSpPr>
          <p:cNvPr id="452" name="Google Shape;452;p7"/>
          <p:cNvSpPr txBox="1"/>
          <p:nvPr/>
        </p:nvSpPr>
        <p:spPr>
          <a:xfrm>
            <a:off x="1897809" y="3340710"/>
            <a:ext cx="10321028" cy="1138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1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78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453" name="Google Shape;453;p7"/>
          <p:cNvSpPr txBox="1"/>
          <p:nvPr/>
        </p:nvSpPr>
        <p:spPr>
          <a:xfrm>
            <a:off x="2999804" y="6180073"/>
            <a:ext cx="4245822" cy="53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dirty="0">
                <a:solidFill>
                  <a:srgbClr val="FFFFFF"/>
                </a:solidFill>
              </a:rPr>
              <a:t>i</a:t>
            </a:r>
            <a:r>
              <a:rPr lang="en-US" sz="24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t.care_spmt@pelindo.co.id</a:t>
            </a:r>
            <a:endParaRPr dirty="0"/>
          </a:p>
        </p:txBody>
      </p:sp>
      <p:sp>
        <p:nvSpPr>
          <p:cNvPr id="456" name="Google Shape;456;p7"/>
          <p:cNvSpPr txBox="1"/>
          <p:nvPr/>
        </p:nvSpPr>
        <p:spPr>
          <a:xfrm>
            <a:off x="2999804" y="6933820"/>
            <a:ext cx="9007891" cy="1529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GRHA PELINDO</a:t>
            </a:r>
            <a:endParaRPr dirty="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Jalan </a:t>
            </a:r>
            <a:r>
              <a:rPr lang="en-US" sz="23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Lingkar</a:t>
            </a:r>
            <a:r>
              <a:rPr lang="en-US" sz="23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Pelabuhan No. 1, </a:t>
            </a:r>
            <a:r>
              <a:rPr lang="en-US" sz="23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Belawan</a:t>
            </a:r>
            <a:r>
              <a:rPr lang="en-US" sz="23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II, Medan </a:t>
            </a:r>
            <a:r>
              <a:rPr lang="en-US" sz="23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Belawan</a:t>
            </a:r>
            <a:r>
              <a:rPr lang="en-US" sz="23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Kota Medan, Sumatera Utara 20411</a:t>
            </a:r>
            <a:endParaRPr dirty="0"/>
          </a:p>
        </p:txBody>
      </p:sp>
      <p:sp>
        <p:nvSpPr>
          <p:cNvPr id="457" name="Google Shape;457;p7"/>
          <p:cNvSpPr txBox="1"/>
          <p:nvPr/>
        </p:nvSpPr>
        <p:spPr>
          <a:xfrm>
            <a:off x="17406752" y="9663760"/>
            <a:ext cx="612648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</a:t>
            </a:r>
            <a:endParaRPr/>
          </a:p>
        </p:txBody>
      </p:sp>
      <p:sp>
        <p:nvSpPr>
          <p:cNvPr id="458" name="Google Shape;458;p7"/>
          <p:cNvSpPr/>
          <p:nvPr/>
        </p:nvSpPr>
        <p:spPr>
          <a:xfrm>
            <a:off x="14119030" y="578428"/>
            <a:ext cx="3448721" cy="987645"/>
          </a:xfrm>
          <a:custGeom>
            <a:avLst/>
            <a:gdLst/>
            <a:ahLst/>
            <a:cxnLst/>
            <a:rect l="l" t="t" r="r" b="b"/>
            <a:pathLst>
              <a:path w="3448721" h="987645" extrusionOk="0">
                <a:moveTo>
                  <a:pt x="0" y="0"/>
                </a:moveTo>
                <a:lnTo>
                  <a:pt x="3448721" y="0"/>
                </a:lnTo>
                <a:lnTo>
                  <a:pt x="3448721" y="987644"/>
                </a:lnTo>
                <a:lnTo>
                  <a:pt x="0" y="987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t="-30951" r="-6104" b="-23251"/>
            </a:stretch>
          </a:blipFill>
          <a:ln>
            <a:noFill/>
          </a:ln>
        </p:spPr>
      </p:sp>
      <p:sp>
        <p:nvSpPr>
          <p:cNvPr id="459" name="Google Shape;459;p7"/>
          <p:cNvSpPr/>
          <p:nvPr/>
        </p:nvSpPr>
        <p:spPr>
          <a:xfrm>
            <a:off x="1086389" y="660493"/>
            <a:ext cx="2423402" cy="727021"/>
          </a:xfrm>
          <a:custGeom>
            <a:avLst/>
            <a:gdLst/>
            <a:ahLst/>
            <a:cxnLst/>
            <a:rect l="l" t="t" r="r" b="b"/>
            <a:pathLst>
              <a:path w="2423402" h="727021" extrusionOk="0">
                <a:moveTo>
                  <a:pt x="0" y="0"/>
                </a:moveTo>
                <a:lnTo>
                  <a:pt x="2423402" y="0"/>
                </a:lnTo>
                <a:lnTo>
                  <a:pt x="2423402" y="727021"/>
                </a:lnTo>
                <a:lnTo>
                  <a:pt x="0" y="727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</TotalTime>
  <Words>1913</Words>
  <Application>Microsoft Office PowerPoint</Application>
  <PresentationFormat>Custom</PresentationFormat>
  <Paragraphs>1175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Montserrat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Andika Sandy Sutiawan</dc:creator>
  <cp:lastModifiedBy>Andika Sandy Sutiawan</cp:lastModifiedBy>
  <cp:revision>9</cp:revision>
  <dcterms:created xsi:type="dcterms:W3CDTF">2006-08-16T00:00:00Z</dcterms:created>
  <dcterms:modified xsi:type="dcterms:W3CDTF">2026-10-18T17:22:29Z</dcterms:modified>
</cp:coreProperties>
</file>